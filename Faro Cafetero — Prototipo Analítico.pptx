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6256000" cy="9144000"/>
  <p:notesSz cx="9144000" cy="16256000"/>
  <p:embeddedFontLst>
    <p:embeddedFont>
      <p:font typeface="Quattrocento Sans" charset="-122" pitchFamily="34"/>
      <p:regular r:id="rId13"/>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font" Target="fonts/font1.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 DEL PRESENTADOR (1 min):
"Buenos días. Les presento Faro Cafetero, un artefacto analítico web para monitoreo de riesgo climático y soporte a decisiones de un seguro agrícola indexado para café en Colombia. El problema que abordamos es este: el seguro indexado requiere conectar señales climáticas, producción proxy y una lectura económica interpretable. No se trata solo de entrenar modelos predictivos, sino de construir un artefacto que permita entender territorialmente el sistema cafetero, explicar qué modelos sostienen la herramienta, y simular escenarios. Nuestro usuario es el equipo técnico, el stakeholder académico o el actor del sector asegurador que necesita evaluar riesgo territorial antes de avanzar a una validación actuarial formal. La pregunta central es: ¿cómo pasamos de clima y producción a una lectura técnica y económica interpretable?"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 DEL PRESENTADOR (1 min):
"La solución se organizó en tres capas interconectadas. No empezamos directamente por la simulación porque un simulador sin contexto territorial ni trazabilidad metodológica no genera confianza técnica. La primera capa es el Diagnóstico territorial: producción mensual proxy, índice climático ajustado, alertas climáticas, contexto económico y comparación por departamento y año. La segunda capa es la Trazabilidad metodológica: qué modelos probamos, sus métricas, cuál seleccionamos y por qué, con ventajas y limitaciones documentadas. La tercera capa es la Simulación técnica: el usuario ajusta un escenario climático/económico y obtiene producción base, producción simulada, pérdida proxy, valor expuesto, cobertura indicativa y prima de referencia. Las tres capas se alimentan entre sí: el diagnóstico informa los modelos, los modelos informan el simulador."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 DEL PRESENTADOR (1 min):
"La arquitectura técnica está diseñada para ser reproducible, de bajo costo y completamente abierta. Todo el pipeline parte de los datos crudos, pasa por un proceso de ETL que genera cubos app-ready en tres granularidades: semanal, mensual y anual. Estos alimentan tanto los modelos persistidos en joblib con su metadata, como la aplicación web construida en Dash con visualizaciones en Plotly. La aplicación está contenedorizada en Docker y desplegada en Render. Todo el código, documentación, manual de usuario, anexo técnico y artefactos están en un repositorio de GitHub público. El stack completo es Python, lo que garantiza reproducibilidad y accesibilidad."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 DEL PRESENTADOR (1 min 15s):
"El prototipo tiene tres páginas principales. La primera es Diagnóstico: allí el usuario explora producción mensual proxy, índices climáticos ajustados, alertas climáticas, contexto económico y comparación territorial por departamento y año. Es la capa de contexto. La segunda página es Modelos: aquí se documenta la trazabilidad metodológica completa — qué modelos se probaron, sus métricas comparativas, cuál fue seleccionado y por qué, con ventajas y limitaciones explícitas. Es la capa de confianza técnica. La tercera página es el Artefacto o Simulador: el usuario ajusta un escenario climático y económico, y el sistema calcula producción base, producción simulada, pérdida proxy, valor expuesto, cobertura indicativa y prima de referencia. Es la capa de decisión. Las tres páginas están conectadas por una barra de navegación superior y cada una alimenta la comprensión de la siguiente."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 DEL PRESENTADOR (1 min 30s):
"El simulador es el corazón del artefacto. Parte de una fila base mensual real y permite ajustar variables climáticas y económicas dentro de rangos controlados. M6 aporta la producción base operativa — es nuestro mejor modelo mensual global. M5 aporta la sensibilidad climática — conserva mejor la lógica climática del seguro. La regla clave es que solo se traslada el deterioro adverso de M5, nunca mejoras optimistas. Esto genera una pérdida proxy que se convierte en valor expuesto mediante la fórmula: pérdida productiva por 8 cargas por tonelada por precio interno. De ahí, la cobertura indicativa es el valor expuesto ajustado por el porcentaje de cobertura, y la prima indicativa es la cobertura por la tasa prima. Es crucial aclarar: esto NO es una tarificación actuarial definitiva. Es una prima de referencia técnica, una ruta analítica funcional que permite simular escenarios antes de la validación actuarial formal. La regla de activación indicativa dice: pérdida menor a 3% no activa, entre 3% y 7% es activación preventiva, mayor a 7% es activación probable."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 DEL PRESENTADOR (1 min 15s):
"Para cerrar, presento la validación y propuesta de valor. De nuestro checklist de requerimientos, tenemos 7 cumplidos completamente, 13 cumplidos parcialmente y 4 que aún no se han evidenciado. Los cumplimientos fuertes incluyen: app web operable sin necesidad de código, trazabilidad metodológica completa, despliegue funcional en Render, reproducibilidad básica garantizada, uso de stack abierto y bajo costo, y simulación técnica proxy operativa. Las limitaciones actuales son honestas y explícitas: trabajamos con producción proxy, no con pérdida real observada; la prima es indicativa, no actuarial; no hay validación comercial real todavía; no se cuantificó formalmente la reducción de riesgo base frente a un seguro tradicional; no hay exportación directa PDF o CSV desde la app; y la granularidad a municipio o zona queda para una versión futura. La propuesta de valor frente al status quo es clara: Faro Cafetero integra en una sola experiencia la lectura territorial, el modelo trazable, la simulación inmediata, la explicación del impacto económico proxy, y la documentación con despliegue reproducible. Los próximos pasos son: validar contra datos observados de pérdidas reales, realizar backtesting contra esquemas de seguro tradicionales, incorporar validación actuarial de prima comercial, realizar pruebas con usuarios externos, ampliar granularidad a municipio y zona, y agregar exportación PDF y CSV."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0"/>
          <p:cNvSpPr/>
          <p:nvPr/>
        </p:nvSpPr>
        <p:spPr>
          <a:xfrm>
            <a:off x="0" y="0"/>
            <a:ext cx="16256000" cy="457200"/>
          </a:xfrm>
          <a:prstGeom prst="rect">
            <a:avLst/>
          </a:prstGeom>
          <a:solidFill>
            <a:srgbClr val="1B4332"/>
          </a:solidFill>
          <a:ln/>
        </p:spPr>
      </p:sp>
      <p:sp>
        <p:nvSpPr>
          <p:cNvPr id="4" name="Text 1"/>
          <p:cNvSpPr/>
          <p:nvPr/>
        </p:nvSpPr>
        <p:spPr>
          <a:xfrm>
            <a:off x="762000" y="0"/>
            <a:ext cx="2540000" cy="457200"/>
          </a:xfrm>
          <a:prstGeom prst="rect">
            <a:avLst/>
          </a:prstGeom>
          <a:noFill/>
          <a:ln/>
        </p:spPr>
        <p:txBody>
          <a:bodyPr wrap="none" lIns="0" tIns="0" rIns="0" bIns="0" rtlCol="0" anchor="ctr"/>
          <a:lstStyle/>
          <a:p>
            <a:pPr>
              <a:lnSpc>
                <a:spcPct val="120000"/>
              </a:lnSpc>
            </a:pPr>
            <a:r>
              <a:rPr lang="en-US" sz="1300" b="1" dirty="0">
                <a:solidFill>
                  <a:srgbClr val="C9A227"/>
                </a:solidFill>
                <a:latin typeface="QuattrocentoSans" pitchFamily="34" charset="0"/>
                <a:ea typeface="QuattrocentoSans" pitchFamily="34" charset="-122"/>
                <a:cs typeface="QuattrocentoSans" pitchFamily="34" charset="-120"/>
              </a:rPr>
              <a:t>01</a:t>
            </a:r>
            <a:pPr>
              <a:lnSpc>
                <a:spcPct val="120000"/>
              </a:lnSpc>
            </a:pPr>
            <a:r>
              <a:rPr lang="en-US" sz="1300" dirty="0">
                <a:solidFill>
                  <a:srgbClr val="C9A227"/>
                </a:solidFill>
                <a:latin typeface="QuattrocentoSans" pitchFamily="34" charset="0"/>
                <a:ea typeface="QuattrocentoSans" pitchFamily="34" charset="-122"/>
                <a:cs typeface="QuattrocentoSans" pitchFamily="34" charset="-120"/>
              </a:rPr>
              <a:t> PROBLEMA</a:t>
            </a:r>
            <a:endParaRPr lang="en-US" sz="1300" dirty="0"/>
          </a:p>
        </p:txBody>
      </p:sp>
      <p:sp>
        <p:nvSpPr>
          <p:cNvPr id="5" name="Text 2"/>
          <p:cNvSpPr/>
          <p:nvPr/>
        </p:nvSpPr>
        <p:spPr>
          <a:xfrm>
            <a:off x="3556000" y="0"/>
            <a:ext cx="2540000" cy="457200"/>
          </a:xfrm>
          <a:prstGeom prst="rect">
            <a:avLst/>
          </a:prstGeom>
          <a:noFill/>
          <a:ln/>
        </p:spPr>
        <p:txBody>
          <a:bodyPr wrap="none" lIns="0" tIns="0" rIns="0" bIns="0" rtlCol="0" anchor="ctr"/>
          <a:lstStyle/>
          <a:p>
            <a:pPr>
              <a:lnSpc>
                <a:spcPct val="120000"/>
              </a:lnSpc>
            </a:pPr>
            <a:r>
              <a:rPr lang="en-US" sz="1300" dirty="0">
                <a:solidFill>
                  <a:srgbClr val="FFFFFF">
                    <a:alpha val="50000"/>
                  </a:srgbClr>
                </a:solidFill>
                <a:latin typeface="QuattrocentoSans" pitchFamily="34" charset="0"/>
                <a:ea typeface="QuattrocentoSans" pitchFamily="34" charset="-122"/>
                <a:cs typeface="QuattrocentoSans" pitchFamily="34" charset="-120"/>
              </a:rPr>
              <a:t>02 RUTA</a:t>
            </a:r>
            <a:endParaRPr lang="en-US" sz="1300" dirty="0"/>
          </a:p>
        </p:txBody>
      </p:sp>
      <p:sp>
        <p:nvSpPr>
          <p:cNvPr id="6" name="Text 3"/>
          <p:cNvSpPr/>
          <p:nvPr/>
        </p:nvSpPr>
        <p:spPr>
          <a:xfrm>
            <a:off x="6350000" y="0"/>
            <a:ext cx="3048000" cy="457200"/>
          </a:xfrm>
          <a:prstGeom prst="rect">
            <a:avLst/>
          </a:prstGeom>
          <a:noFill/>
          <a:ln/>
        </p:spPr>
        <p:txBody>
          <a:bodyPr wrap="none" lIns="0" tIns="0" rIns="0" bIns="0" rtlCol="0" anchor="ctr"/>
          <a:lstStyle/>
          <a:p>
            <a:pPr>
              <a:lnSpc>
                <a:spcPct val="120000"/>
              </a:lnSpc>
            </a:pPr>
            <a:r>
              <a:rPr lang="en-US" sz="1300" dirty="0">
                <a:solidFill>
                  <a:srgbClr val="FFFFFF">
                    <a:alpha val="50000"/>
                  </a:srgbClr>
                </a:solidFill>
                <a:latin typeface="QuattrocentoSans" pitchFamily="34" charset="0"/>
                <a:ea typeface="QuattrocentoSans" pitchFamily="34" charset="-122"/>
                <a:cs typeface="QuattrocentoSans" pitchFamily="34" charset="-120"/>
              </a:rPr>
              <a:t>03 ARQUITECTURA</a:t>
            </a:r>
            <a:endParaRPr lang="en-US" sz="1300" dirty="0"/>
          </a:p>
        </p:txBody>
      </p:sp>
      <p:sp>
        <p:nvSpPr>
          <p:cNvPr id="7" name="Text 4"/>
          <p:cNvSpPr/>
          <p:nvPr/>
        </p:nvSpPr>
        <p:spPr>
          <a:xfrm>
            <a:off x="9652000" y="0"/>
            <a:ext cx="2794000" cy="457200"/>
          </a:xfrm>
          <a:prstGeom prst="rect">
            <a:avLst/>
          </a:prstGeom>
          <a:noFill/>
          <a:ln/>
        </p:spPr>
        <p:txBody>
          <a:bodyPr wrap="none" lIns="0" tIns="0" rIns="0" bIns="0" rtlCol="0" anchor="ctr"/>
          <a:lstStyle/>
          <a:p>
            <a:pPr>
              <a:lnSpc>
                <a:spcPct val="120000"/>
              </a:lnSpc>
            </a:pPr>
            <a:r>
              <a:rPr lang="en-US" sz="1300" dirty="0">
                <a:solidFill>
                  <a:srgbClr val="FFFFFF">
                    <a:alpha val="50000"/>
                  </a:srgbClr>
                </a:solidFill>
                <a:latin typeface="QuattrocentoSans" pitchFamily="34" charset="0"/>
                <a:ea typeface="QuattrocentoSans" pitchFamily="34" charset="-122"/>
                <a:cs typeface="QuattrocentoSans" pitchFamily="34" charset="-120"/>
              </a:rPr>
              <a:t>04 PROTOTIPO</a:t>
            </a:r>
            <a:endParaRPr lang="en-US" sz="1300" dirty="0"/>
          </a:p>
        </p:txBody>
      </p:sp>
      <p:sp>
        <p:nvSpPr>
          <p:cNvPr id="8" name="Text 5"/>
          <p:cNvSpPr/>
          <p:nvPr/>
        </p:nvSpPr>
        <p:spPr>
          <a:xfrm>
            <a:off x="12700000" y="0"/>
            <a:ext cx="1651000" cy="457200"/>
          </a:xfrm>
          <a:prstGeom prst="rect">
            <a:avLst/>
          </a:prstGeom>
          <a:noFill/>
          <a:ln/>
        </p:spPr>
        <p:txBody>
          <a:bodyPr wrap="none" lIns="0" tIns="0" rIns="0" bIns="0" rtlCol="0" anchor="ctr"/>
          <a:lstStyle/>
          <a:p>
            <a:pPr>
              <a:lnSpc>
                <a:spcPct val="120000"/>
              </a:lnSpc>
            </a:pPr>
            <a:r>
              <a:rPr lang="en-US" sz="1300" dirty="0">
                <a:solidFill>
                  <a:srgbClr val="FFFFFF">
                    <a:alpha val="50000"/>
                  </a:srgbClr>
                </a:solidFill>
                <a:latin typeface="QuattrocentoSans" pitchFamily="34" charset="0"/>
                <a:ea typeface="QuattrocentoSans" pitchFamily="34" charset="-122"/>
                <a:cs typeface="QuattrocentoSans" pitchFamily="34" charset="-120"/>
              </a:rPr>
              <a:t>05 SIMULADOR</a:t>
            </a:r>
            <a:endParaRPr lang="en-US" sz="1300" dirty="0"/>
          </a:p>
        </p:txBody>
      </p:sp>
      <p:sp>
        <p:nvSpPr>
          <p:cNvPr id="9" name="Text 6"/>
          <p:cNvSpPr/>
          <p:nvPr/>
        </p:nvSpPr>
        <p:spPr>
          <a:xfrm>
            <a:off x="14414500" y="0"/>
            <a:ext cx="1333500" cy="457200"/>
          </a:xfrm>
          <a:prstGeom prst="rect">
            <a:avLst/>
          </a:prstGeom>
          <a:noFill/>
          <a:ln/>
        </p:spPr>
        <p:txBody>
          <a:bodyPr wrap="none" lIns="0" tIns="0" rIns="0" bIns="0" rtlCol="0" anchor="ctr"/>
          <a:lstStyle/>
          <a:p>
            <a:pPr>
              <a:lnSpc>
                <a:spcPct val="120000"/>
              </a:lnSpc>
            </a:pPr>
            <a:r>
              <a:rPr lang="en-US" sz="1300" dirty="0">
                <a:solidFill>
                  <a:srgbClr val="FFFFFF">
                    <a:alpha val="50000"/>
                  </a:srgbClr>
                </a:solidFill>
                <a:latin typeface="QuattrocentoSans" pitchFamily="34" charset="0"/>
                <a:ea typeface="QuattrocentoSans" pitchFamily="34" charset="-122"/>
                <a:cs typeface="QuattrocentoSans" pitchFamily="34" charset="-120"/>
              </a:rPr>
              <a:t>06 CIERRE</a:t>
            </a:r>
            <a:endParaRPr lang="en-US" sz="1300" dirty="0"/>
          </a:p>
        </p:txBody>
      </p:sp>
      <p:sp>
        <p:nvSpPr>
          <p:cNvPr id="10" name="Text 7"/>
          <p:cNvSpPr/>
          <p:nvPr/>
        </p:nvSpPr>
        <p:spPr>
          <a:xfrm>
            <a:off x="762000" y="660400"/>
            <a:ext cx="8890000" cy="533400"/>
          </a:xfrm>
          <a:prstGeom prst="rect">
            <a:avLst/>
          </a:prstGeom>
          <a:noFill/>
          <a:ln/>
        </p:spPr>
        <p:txBody>
          <a:bodyPr wrap="none" lIns="0" tIns="0" rIns="0" bIns="0" rtlCol="0" anchor="ctr"/>
          <a:lstStyle/>
          <a:p>
            <a:pPr>
              <a:lnSpc>
                <a:spcPct val="120000"/>
              </a:lnSpc>
            </a:pPr>
            <a:r>
              <a:rPr lang="en-US" sz="3200" b="1" dirty="0">
                <a:solidFill>
                  <a:srgbClr val="1B4332"/>
                </a:solidFill>
                <a:latin typeface="QuattrocentoSans" pitchFamily="34" charset="0"/>
                <a:ea typeface="QuattrocentoSans" pitchFamily="34" charset="-122"/>
                <a:cs typeface="QuattrocentoSans" pitchFamily="34" charset="-120"/>
              </a:rPr>
              <a:t>Problema y usuario objetivo</a:t>
            </a:r>
            <a:endParaRPr lang="en-US" sz="3200" dirty="0"/>
          </a:p>
        </p:txBody>
      </p:sp>
      <p:sp>
        <p:nvSpPr>
          <p:cNvPr id="11" name="Shape 8"/>
          <p:cNvSpPr/>
          <p:nvPr/>
        </p:nvSpPr>
        <p:spPr>
          <a:xfrm>
            <a:off x="762000" y="1244600"/>
            <a:ext cx="762000" cy="50800"/>
          </a:xfrm>
          <a:prstGeom prst="rect">
            <a:avLst/>
          </a:prstGeom>
          <a:solidFill>
            <a:srgbClr val="C9A227"/>
          </a:solidFill>
          <a:ln/>
        </p:spPr>
      </p:sp>
      <p:sp>
        <p:nvSpPr>
          <p:cNvPr id="12" name="Text 9"/>
          <p:cNvSpPr/>
          <p:nvPr/>
        </p:nvSpPr>
        <p:spPr>
          <a:xfrm>
            <a:off x="762000" y="1524000"/>
            <a:ext cx="2540000" cy="254000"/>
          </a:xfrm>
          <a:prstGeom prst="rect">
            <a:avLst/>
          </a:prstGeom>
          <a:noFill/>
          <a:ln/>
        </p:spPr>
        <p:txBody>
          <a:bodyPr wrap="none" lIns="0" tIns="0" rIns="0" bIns="0" rtlCol="0" anchor="ctr"/>
          <a:lstStyle/>
          <a:p>
            <a:pPr>
              <a:lnSpc>
                <a:spcPct val="120000"/>
              </a:lnSpc>
            </a:pPr>
            <a:r>
              <a:rPr lang="en-US" sz="1300" spc="100" kern="0" dirty="0">
                <a:solidFill>
                  <a:srgbClr val="1B4332"/>
                </a:solidFill>
                <a:latin typeface="QuattrocentoSans" pitchFamily="34" charset="0"/>
                <a:ea typeface="QuattrocentoSans" pitchFamily="34" charset="-122"/>
                <a:cs typeface="QuattrocentoSans" pitchFamily="34" charset="-120"/>
              </a:rPr>
              <a:t>EL DESAFÍO</a:t>
            </a:r>
            <a:endParaRPr lang="en-US" sz="1300" dirty="0"/>
          </a:p>
        </p:txBody>
      </p:sp>
      <p:sp>
        <p:nvSpPr>
          <p:cNvPr id="13" name="Text 10"/>
          <p:cNvSpPr/>
          <p:nvPr/>
        </p:nvSpPr>
        <p:spPr>
          <a:xfrm>
            <a:off x="762000" y="1879600"/>
            <a:ext cx="6858000" cy="1968500"/>
          </a:xfrm>
          <a:prstGeom prst="rect">
            <a:avLst/>
          </a:prstGeom>
          <a:noFill/>
          <a:ln/>
        </p:spPr>
        <p:txBody>
          <a:bodyPr wrap="square" lIns="0" tIns="0" rIns="0" bIns="0" rtlCol="0" anchor="t"/>
          <a:lstStyle/>
          <a:p>
            <a:pPr>
              <a:lnSpc>
                <a:spcPct val="150000"/>
              </a:lnSpc>
            </a:pPr>
            <a:r>
              <a:rPr lang="en-US" sz="1800" dirty="0">
                <a:solidFill>
                  <a:srgbClr val="2D3436"/>
                </a:solidFill>
                <a:latin typeface="QuattrocentoSans" pitchFamily="34" charset="0"/>
                <a:ea typeface="QuattrocentoSans" pitchFamily="34" charset="-122"/>
                <a:cs typeface="QuattrocentoSans" pitchFamily="34" charset="-120"/>
              </a:rPr>
              <a:t>El </a:t>
            </a:r>
            <a:pPr>
              <a:lnSpc>
                <a:spcPct val="150000"/>
              </a:lnSpc>
            </a:pPr>
            <a:r>
              <a:rPr lang="en-US" sz="1800" b="1" dirty="0">
                <a:solidFill>
                  <a:srgbClr val="2D3436"/>
                </a:solidFill>
                <a:latin typeface="QuattrocentoSans" pitchFamily="34" charset="0"/>
                <a:ea typeface="QuattrocentoSans" pitchFamily="34" charset="-122"/>
                <a:cs typeface="QuattrocentoSans" pitchFamily="34" charset="-120"/>
              </a:rPr>
              <a:t>seguro agrícola indexado</a:t>
            </a:r>
            <a:pPr>
              <a:lnSpc>
                <a:spcPct val="150000"/>
              </a:lnSpc>
            </a:pPr>
            <a:r>
              <a:rPr lang="en-US" sz="1800" dirty="0">
                <a:solidFill>
                  <a:srgbClr val="2D3436"/>
                </a:solidFill>
                <a:latin typeface="QuattrocentoSans" pitchFamily="34" charset="0"/>
                <a:ea typeface="QuattrocentoSans" pitchFamily="34" charset="-122"/>
                <a:cs typeface="QuattrocentoSans" pitchFamily="34" charset="-120"/>
              </a:rPr>
              <a:t> requiere conectar señales climáticas, producción proxy y una lectura económica interpretable.</a:t>
            </a:r>
            <a:endParaRPr lang="en-US" sz="1800" dirty="0"/>
          </a:p>
          <a:p>
            <a:pPr>
              <a:lnSpc>
                <a:spcPct val="150000"/>
              </a:lnSpc>
              <a:spcBef>
                <a:spcPts val="1000"/>
              </a:spcBef>
            </a:pPr>
            <a:r>
              <a:rPr lang="en-US" sz="1800" dirty="0">
                <a:solidFill>
                  <a:srgbClr val="2D3436"/>
                </a:solidFill>
                <a:latin typeface="QuattrocentoSans" pitchFamily="34" charset="0"/>
                <a:ea typeface="QuattrocentoSans" pitchFamily="34" charset="-122"/>
                <a:cs typeface="QuattrocentoSans" pitchFamily="34" charset="-120"/>
              </a:rPr>
              <a:t>El problema no era solo entrenar modelos predictivos, sino construir un artefacto que permitiera:</a:t>
            </a:r>
            <a:endParaRPr lang="en-US" sz="1800" dirty="0"/>
          </a:p>
        </p:txBody>
      </p:sp>
      <p:sp>
        <p:nvSpPr>
          <p:cNvPr id="14" name="Text 11"/>
          <p:cNvSpPr/>
          <p:nvPr/>
        </p:nvSpPr>
        <p:spPr>
          <a:xfrm>
            <a:off x="1016000" y="3937000"/>
            <a:ext cx="6604000" cy="1524000"/>
          </a:xfrm>
          <a:prstGeom prst="rect">
            <a:avLst/>
          </a:prstGeom>
          <a:noFill/>
          <a:ln/>
        </p:spPr>
        <p:txBody>
          <a:bodyPr wrap="square" lIns="0" tIns="0" rIns="0" bIns="0" rtlCol="0" anchor="t"/>
          <a:lstStyle/>
          <a:p>
            <a:pPr>
              <a:lnSpc>
                <a:spcPct val="160000"/>
              </a:lnSpc>
            </a:pPr>
            <a:r>
              <a:rPr lang="en-US" sz="1800" b="1" dirty="0">
                <a:solidFill>
                  <a:srgbClr val="C9A227"/>
                </a:solidFill>
                <a:latin typeface="QuattrocentoSans" pitchFamily="34" charset="0"/>
                <a:ea typeface="QuattrocentoSans" pitchFamily="34" charset="-122"/>
                <a:cs typeface="QuattrocentoSans" pitchFamily="34" charset="-120"/>
              </a:rPr>
              <a:t>1.</a:t>
            </a:r>
            <a:pPr>
              <a:lnSpc>
                <a:spcPct val="160000"/>
              </a:lnSpc>
            </a:pPr>
            <a:r>
              <a:rPr lang="en-US" sz="1800" dirty="0">
                <a:solidFill>
                  <a:srgbClr val="2D3436"/>
                </a:solidFill>
                <a:latin typeface="QuattrocentoSans" pitchFamily="34" charset="0"/>
                <a:ea typeface="QuattrocentoSans" pitchFamily="34" charset="-122"/>
                <a:cs typeface="QuattrocentoSans" pitchFamily="34" charset="-120"/>
              </a:rPr>
              <a:t> Entender el sistema cafetero territorialmente</a:t>
            </a:r>
            <a:endParaRPr lang="en-US" sz="1800" dirty="0"/>
          </a:p>
          <a:p>
            <a:pPr>
              <a:lnSpc>
                <a:spcPct val="160000"/>
              </a:lnSpc>
            </a:pPr>
            <a:r>
              <a:rPr lang="en-US" sz="1800" b="1" dirty="0">
                <a:solidFill>
                  <a:srgbClr val="C9A227"/>
                </a:solidFill>
                <a:latin typeface="QuattrocentoSans" pitchFamily="34" charset="0"/>
                <a:ea typeface="QuattrocentoSans" pitchFamily="34" charset="-122"/>
                <a:cs typeface="QuattrocentoSans" pitchFamily="34" charset="-120"/>
              </a:rPr>
              <a:t>2.</a:t>
            </a:r>
            <a:pPr>
              <a:lnSpc>
                <a:spcPct val="160000"/>
              </a:lnSpc>
            </a:pPr>
            <a:r>
              <a:rPr lang="en-US" sz="1800" dirty="0">
                <a:solidFill>
                  <a:srgbClr val="2D3436"/>
                </a:solidFill>
                <a:latin typeface="QuattrocentoSans" pitchFamily="34" charset="0"/>
                <a:ea typeface="QuattrocentoSans" pitchFamily="34" charset="-122"/>
                <a:cs typeface="QuattrocentoSans" pitchFamily="34" charset="-120"/>
              </a:rPr>
              <a:t> Explicar qué modelos sostienen la herramienta</a:t>
            </a:r>
            <a:endParaRPr lang="en-US" sz="1800" dirty="0"/>
          </a:p>
          <a:p>
            <a:pPr>
              <a:lnSpc>
                <a:spcPct val="160000"/>
              </a:lnSpc>
            </a:pPr>
            <a:r>
              <a:rPr lang="en-US" sz="1800" b="1" dirty="0">
                <a:solidFill>
                  <a:srgbClr val="C9A227"/>
                </a:solidFill>
                <a:latin typeface="QuattrocentoSans" pitchFamily="34" charset="0"/>
                <a:ea typeface="QuattrocentoSans" pitchFamily="34" charset="-122"/>
                <a:cs typeface="QuattrocentoSans" pitchFamily="34" charset="-120"/>
              </a:rPr>
              <a:t>3.</a:t>
            </a:r>
            <a:pPr>
              <a:lnSpc>
                <a:spcPct val="160000"/>
              </a:lnSpc>
            </a:pPr>
            <a:r>
              <a:rPr lang="en-US" sz="1800" dirty="0">
                <a:solidFill>
                  <a:srgbClr val="2D3436"/>
                </a:solidFill>
                <a:latin typeface="QuattrocentoSans" pitchFamily="34" charset="0"/>
                <a:ea typeface="QuattrocentoSans" pitchFamily="34" charset="-122"/>
                <a:cs typeface="QuattrocentoSans" pitchFamily="34" charset="-120"/>
              </a:rPr>
              <a:t> Simular escenarios y traducirlos en resultados proxy</a:t>
            </a:r>
            <a:endParaRPr lang="en-US" sz="1800" dirty="0"/>
          </a:p>
        </p:txBody>
      </p:sp>
      <p:sp>
        <p:nvSpPr>
          <p:cNvPr id="15" name="Text 12"/>
          <p:cNvSpPr/>
          <p:nvPr/>
        </p:nvSpPr>
        <p:spPr>
          <a:xfrm>
            <a:off x="762000" y="5588000"/>
            <a:ext cx="3175000" cy="254000"/>
          </a:xfrm>
          <a:prstGeom prst="rect">
            <a:avLst/>
          </a:prstGeom>
          <a:noFill/>
          <a:ln/>
        </p:spPr>
        <p:txBody>
          <a:bodyPr wrap="none" lIns="0" tIns="0" rIns="0" bIns="0" rtlCol="0" anchor="ctr"/>
          <a:lstStyle/>
          <a:p>
            <a:pPr>
              <a:lnSpc>
                <a:spcPct val="120000"/>
              </a:lnSpc>
            </a:pPr>
            <a:r>
              <a:rPr lang="en-US" sz="1300" spc="100" kern="0" dirty="0">
                <a:solidFill>
                  <a:srgbClr val="1B4332"/>
                </a:solidFill>
                <a:latin typeface="QuattrocentoSans" pitchFamily="34" charset="0"/>
                <a:ea typeface="QuattrocentoSans" pitchFamily="34" charset="-122"/>
                <a:cs typeface="QuattrocentoSans" pitchFamily="34" charset="-120"/>
              </a:rPr>
              <a:t>USUARIO OBJETIVO</a:t>
            </a:r>
            <a:endParaRPr lang="en-US" sz="1300" dirty="0"/>
          </a:p>
        </p:txBody>
      </p:sp>
      <p:sp>
        <p:nvSpPr>
          <p:cNvPr id="16" name="Shape 13"/>
          <p:cNvSpPr/>
          <p:nvPr/>
        </p:nvSpPr>
        <p:spPr>
          <a:xfrm>
            <a:off x="762000" y="5943600"/>
            <a:ext cx="6858000" cy="1397000"/>
          </a:xfrm>
          <a:prstGeom prst="rect">
            <a:avLst/>
          </a:prstGeom>
          <a:solidFill>
            <a:srgbClr val="E8E0D4"/>
          </a:solidFill>
          <a:ln/>
        </p:spPr>
      </p:sp>
      <p:sp>
        <p:nvSpPr>
          <p:cNvPr id="17" name="Shape 14"/>
          <p:cNvSpPr/>
          <p:nvPr/>
        </p:nvSpPr>
        <p:spPr>
          <a:xfrm>
            <a:off x="965200" y="6223000"/>
            <a:ext cx="508000" cy="406400"/>
          </a:xfrm>
          <a:custGeom>
            <a:avLst/>
            <a:gdLst/>
            <a:ahLst/>
            <a:cxnLst/>
            <a:rect l="l" t="t" r="r" b="b"/>
            <a:pathLst>
              <a:path w="508000" h="406400">
                <a:moveTo>
                  <a:pt x="254000" y="12700"/>
                </a:moveTo>
                <a:cubicBezTo>
                  <a:pt x="299561" y="12700"/>
                  <a:pt x="336550" y="49689"/>
                  <a:pt x="336550" y="95250"/>
                </a:cubicBezTo>
                <a:cubicBezTo>
                  <a:pt x="336550" y="140811"/>
                  <a:pt x="299561" y="177800"/>
                  <a:pt x="254000" y="177800"/>
                </a:cubicBezTo>
                <a:cubicBezTo>
                  <a:pt x="208439" y="177800"/>
                  <a:pt x="171450" y="140811"/>
                  <a:pt x="171450" y="95250"/>
                </a:cubicBezTo>
                <a:cubicBezTo>
                  <a:pt x="171450" y="49689"/>
                  <a:pt x="208439" y="12700"/>
                  <a:pt x="254000" y="12700"/>
                </a:cubicBezTo>
                <a:close/>
                <a:moveTo>
                  <a:pt x="76200" y="69850"/>
                </a:moveTo>
                <a:cubicBezTo>
                  <a:pt x="107742" y="69850"/>
                  <a:pt x="133350" y="95458"/>
                  <a:pt x="133350" y="127000"/>
                </a:cubicBezTo>
                <a:cubicBezTo>
                  <a:pt x="133350" y="158542"/>
                  <a:pt x="107742" y="184150"/>
                  <a:pt x="76200" y="184150"/>
                </a:cubicBezTo>
                <a:cubicBezTo>
                  <a:pt x="44658" y="184150"/>
                  <a:pt x="19050" y="158542"/>
                  <a:pt x="19050" y="127000"/>
                </a:cubicBezTo>
                <a:cubicBezTo>
                  <a:pt x="19050" y="95458"/>
                  <a:pt x="44658" y="69850"/>
                  <a:pt x="76200" y="69850"/>
                </a:cubicBezTo>
                <a:close/>
                <a:moveTo>
                  <a:pt x="0" y="330200"/>
                </a:moveTo>
                <a:cubicBezTo>
                  <a:pt x="0" y="274082"/>
                  <a:pt x="45482" y="228600"/>
                  <a:pt x="101600" y="228600"/>
                </a:cubicBezTo>
                <a:cubicBezTo>
                  <a:pt x="111760" y="228600"/>
                  <a:pt x="121603" y="230108"/>
                  <a:pt x="130889" y="232886"/>
                </a:cubicBezTo>
                <a:cubicBezTo>
                  <a:pt x="104775" y="262096"/>
                  <a:pt x="88900" y="300672"/>
                  <a:pt x="88900" y="342900"/>
                </a:cubicBezTo>
                <a:lnTo>
                  <a:pt x="88900" y="355600"/>
                </a:lnTo>
                <a:cubicBezTo>
                  <a:pt x="88900" y="364649"/>
                  <a:pt x="90805" y="373221"/>
                  <a:pt x="94218" y="381000"/>
                </a:cubicBezTo>
                <a:lnTo>
                  <a:pt x="25400" y="381000"/>
                </a:lnTo>
                <a:cubicBezTo>
                  <a:pt x="11351" y="381000"/>
                  <a:pt x="0" y="369649"/>
                  <a:pt x="0" y="355600"/>
                </a:cubicBezTo>
                <a:lnTo>
                  <a:pt x="0" y="330200"/>
                </a:lnTo>
                <a:close/>
                <a:moveTo>
                  <a:pt x="413782" y="381000"/>
                </a:moveTo>
                <a:cubicBezTo>
                  <a:pt x="417195" y="373221"/>
                  <a:pt x="419100" y="364649"/>
                  <a:pt x="419100" y="355600"/>
                </a:cubicBezTo>
                <a:lnTo>
                  <a:pt x="419100" y="342900"/>
                </a:lnTo>
                <a:cubicBezTo>
                  <a:pt x="419100" y="300673"/>
                  <a:pt x="403225" y="262096"/>
                  <a:pt x="377111" y="232886"/>
                </a:cubicBezTo>
                <a:cubicBezTo>
                  <a:pt x="386398" y="230108"/>
                  <a:pt x="396240" y="228600"/>
                  <a:pt x="406400" y="228600"/>
                </a:cubicBezTo>
                <a:cubicBezTo>
                  <a:pt x="462518" y="228600"/>
                  <a:pt x="508000" y="274082"/>
                  <a:pt x="508000" y="330200"/>
                </a:cubicBezTo>
                <a:lnTo>
                  <a:pt x="508000" y="355600"/>
                </a:lnTo>
                <a:cubicBezTo>
                  <a:pt x="508000" y="369649"/>
                  <a:pt x="496649" y="381000"/>
                  <a:pt x="482600" y="381000"/>
                </a:cubicBezTo>
                <a:lnTo>
                  <a:pt x="413782" y="381000"/>
                </a:lnTo>
                <a:close/>
                <a:moveTo>
                  <a:pt x="374650" y="127000"/>
                </a:moveTo>
                <a:cubicBezTo>
                  <a:pt x="374650" y="95458"/>
                  <a:pt x="400258" y="69850"/>
                  <a:pt x="431800" y="69850"/>
                </a:cubicBezTo>
                <a:cubicBezTo>
                  <a:pt x="463342" y="69850"/>
                  <a:pt x="488950" y="95458"/>
                  <a:pt x="488950" y="127000"/>
                </a:cubicBezTo>
                <a:cubicBezTo>
                  <a:pt x="488950" y="158542"/>
                  <a:pt x="463342" y="184150"/>
                  <a:pt x="431800" y="184150"/>
                </a:cubicBezTo>
                <a:cubicBezTo>
                  <a:pt x="400258" y="184150"/>
                  <a:pt x="374650" y="158542"/>
                  <a:pt x="374650" y="127000"/>
                </a:cubicBezTo>
                <a:close/>
                <a:moveTo>
                  <a:pt x="127000" y="342900"/>
                </a:moveTo>
                <a:cubicBezTo>
                  <a:pt x="127000" y="272733"/>
                  <a:pt x="183833" y="215900"/>
                  <a:pt x="254000" y="215900"/>
                </a:cubicBezTo>
                <a:cubicBezTo>
                  <a:pt x="324167" y="215900"/>
                  <a:pt x="381000" y="272733"/>
                  <a:pt x="381000" y="342900"/>
                </a:cubicBezTo>
                <a:lnTo>
                  <a:pt x="381000" y="355600"/>
                </a:lnTo>
                <a:cubicBezTo>
                  <a:pt x="381000" y="369649"/>
                  <a:pt x="369649" y="381000"/>
                  <a:pt x="355600" y="381000"/>
                </a:cubicBezTo>
                <a:lnTo>
                  <a:pt x="152400" y="381000"/>
                </a:lnTo>
                <a:cubicBezTo>
                  <a:pt x="138351" y="381000"/>
                  <a:pt x="127000" y="369649"/>
                  <a:pt x="127000" y="355600"/>
                </a:cubicBezTo>
                <a:lnTo>
                  <a:pt x="127000" y="342900"/>
                </a:lnTo>
                <a:close/>
              </a:path>
            </a:pathLst>
          </a:custGeom>
          <a:solidFill>
            <a:srgbClr val="2D6A4F"/>
          </a:solidFill>
          <a:ln/>
        </p:spPr>
      </p:sp>
      <p:sp>
        <p:nvSpPr>
          <p:cNvPr id="18" name="Text 15"/>
          <p:cNvSpPr/>
          <p:nvPr/>
        </p:nvSpPr>
        <p:spPr>
          <a:xfrm>
            <a:off x="1574800" y="6070600"/>
            <a:ext cx="5842000" cy="1143000"/>
          </a:xfrm>
          <a:prstGeom prst="rect">
            <a:avLst/>
          </a:prstGeom>
          <a:noFill/>
          <a:ln/>
        </p:spPr>
        <p:txBody>
          <a:bodyPr wrap="square" lIns="0" tIns="0" rIns="0" bIns="0" rtlCol="0" anchor="ctr"/>
          <a:lstStyle/>
          <a:p>
            <a:pPr>
              <a:lnSpc>
                <a:spcPct val="150000"/>
              </a:lnSpc>
            </a:pPr>
            <a:r>
              <a:rPr lang="en-US" sz="1600" dirty="0">
                <a:solidFill>
                  <a:srgbClr val="2D3436"/>
                </a:solidFill>
                <a:latin typeface="QuattrocentoSans" pitchFamily="34" charset="0"/>
                <a:ea typeface="QuattrocentoSans" pitchFamily="34" charset="-122"/>
                <a:cs typeface="QuattrocentoSans" pitchFamily="34" charset="-120"/>
              </a:rPr>
              <a:t>Equipo técnico, stakeholder académico o actor del sector </a:t>
            </a:r>
            <a:pPr>
              <a:lnSpc>
                <a:spcPct val="150000"/>
              </a:lnSpc>
            </a:pPr>
            <a:r>
              <a:rPr lang="en-US" sz="1600" b="1" dirty="0">
                <a:solidFill>
                  <a:srgbClr val="2D3436"/>
                </a:solidFill>
                <a:latin typeface="QuattrocentoSans" pitchFamily="34" charset="0"/>
                <a:ea typeface="QuattrocentoSans" pitchFamily="34" charset="-122"/>
                <a:cs typeface="QuattrocentoSans" pitchFamily="34" charset="-120"/>
              </a:rPr>
              <a:t>asegurador/agro</a:t>
            </a:r>
            <a:pPr>
              <a:lnSpc>
                <a:spcPct val="150000"/>
              </a:lnSpc>
            </a:pPr>
            <a:r>
              <a:rPr lang="en-US" sz="1600" dirty="0">
                <a:solidFill>
                  <a:srgbClr val="2D3436"/>
                </a:solidFill>
                <a:latin typeface="QuattrocentoSans" pitchFamily="34" charset="0"/>
                <a:ea typeface="QuattrocentoSans" pitchFamily="34" charset="-122"/>
                <a:cs typeface="QuattrocentoSans" pitchFamily="34" charset="-120"/>
              </a:rPr>
              <a:t> que evalúa riesgo territorial y trazabilidad metodológica antes de una </a:t>
            </a:r>
            <a:pPr>
              <a:lnSpc>
                <a:spcPct val="150000"/>
              </a:lnSpc>
            </a:pPr>
            <a:r>
              <a:rPr lang="en-US" sz="1600" b="1" dirty="0">
                <a:solidFill>
                  <a:srgbClr val="2D3436"/>
                </a:solidFill>
                <a:latin typeface="QuattrocentoSans" pitchFamily="34" charset="0"/>
                <a:ea typeface="QuattrocentoSans" pitchFamily="34" charset="-122"/>
                <a:cs typeface="QuattrocentoSans" pitchFamily="34" charset="-120"/>
              </a:rPr>
              <a:t>validación actuarial formal</a:t>
            </a:r>
            <a:pPr>
              <a:lnSpc>
                <a:spcPct val="150000"/>
              </a:lnSpc>
            </a:pPr>
            <a:r>
              <a:rPr lang="en-US" sz="1600" dirty="0">
                <a:solidFill>
                  <a:srgbClr val="2D3436"/>
                </a:solidFill>
                <a:latin typeface="QuattrocentoSans" pitchFamily="34" charset="0"/>
                <a:ea typeface="QuattrocentoSans" pitchFamily="34" charset="-122"/>
                <a:cs typeface="QuattrocentoSans" pitchFamily="34" charset="-120"/>
              </a:rPr>
              <a:t>.</a:t>
            </a:r>
            <a:endParaRPr lang="en-US" sz="1800" dirty="0"/>
          </a:p>
        </p:txBody>
      </p:sp>
      <p:sp>
        <p:nvSpPr>
          <p:cNvPr id="19" name="Text 16"/>
          <p:cNvSpPr/>
          <p:nvPr/>
        </p:nvSpPr>
        <p:spPr>
          <a:xfrm>
            <a:off x="8382000" y="1524000"/>
            <a:ext cx="3810000" cy="254000"/>
          </a:xfrm>
          <a:prstGeom prst="rect">
            <a:avLst/>
          </a:prstGeom>
          <a:noFill/>
          <a:ln/>
        </p:spPr>
        <p:txBody>
          <a:bodyPr wrap="none" lIns="0" tIns="0" rIns="0" bIns="0" rtlCol="0" anchor="ctr"/>
          <a:lstStyle/>
          <a:p>
            <a:pPr>
              <a:lnSpc>
                <a:spcPct val="120000"/>
              </a:lnSpc>
            </a:pPr>
            <a:r>
              <a:rPr lang="en-US" sz="1300" spc="100" kern="0" dirty="0">
                <a:solidFill>
                  <a:srgbClr val="1B4332"/>
                </a:solidFill>
                <a:latin typeface="QuattrocentoSans" pitchFamily="34" charset="0"/>
                <a:ea typeface="QuattrocentoSans" pitchFamily="34" charset="-122"/>
                <a:cs typeface="QuattrocentoSans" pitchFamily="34" charset="-120"/>
              </a:rPr>
              <a:t>DE LO CLIMÁTICO A LO ECONÓMICO</a:t>
            </a:r>
            <a:endParaRPr lang="en-US" sz="1300" dirty="0"/>
          </a:p>
        </p:txBody>
      </p:sp>
      <p:sp>
        <p:nvSpPr>
          <p:cNvPr id="20" name="Shape 17"/>
          <p:cNvSpPr/>
          <p:nvPr/>
        </p:nvSpPr>
        <p:spPr>
          <a:xfrm>
            <a:off x="8382000" y="1968500"/>
            <a:ext cx="3302000" cy="1016000"/>
          </a:xfrm>
          <a:prstGeom prst="rect">
            <a:avLst/>
          </a:prstGeom>
          <a:solidFill>
            <a:srgbClr val="1B4332"/>
          </a:solidFill>
          <a:ln/>
        </p:spPr>
      </p:sp>
      <p:sp>
        <p:nvSpPr>
          <p:cNvPr id="21" name="Shape 18"/>
          <p:cNvSpPr/>
          <p:nvPr/>
        </p:nvSpPr>
        <p:spPr>
          <a:xfrm>
            <a:off x="8588375" y="2222500"/>
            <a:ext cx="400050" cy="355600"/>
          </a:xfrm>
          <a:custGeom>
            <a:avLst/>
            <a:gdLst/>
            <a:ahLst/>
            <a:cxnLst/>
            <a:rect l="l" t="t" r="r" b="b"/>
            <a:pathLst>
              <a:path w="400050" h="355600">
                <a:moveTo>
                  <a:pt x="210582" y="-2222"/>
                </a:moveTo>
                <a:cubicBezTo>
                  <a:pt x="209818" y="-5834"/>
                  <a:pt x="207387" y="-8821"/>
                  <a:pt x="203984" y="-10279"/>
                </a:cubicBezTo>
                <a:cubicBezTo>
                  <a:pt x="200581" y="-11738"/>
                  <a:pt x="196691" y="-11321"/>
                  <a:pt x="193635" y="-9307"/>
                </a:cubicBezTo>
                <a:lnTo>
                  <a:pt x="144463" y="23336"/>
                </a:lnTo>
                <a:lnTo>
                  <a:pt x="95359" y="-9237"/>
                </a:lnTo>
                <a:cubicBezTo>
                  <a:pt x="92303" y="-11251"/>
                  <a:pt x="88414" y="-11668"/>
                  <a:pt x="85011" y="-10210"/>
                </a:cubicBezTo>
                <a:cubicBezTo>
                  <a:pt x="81607" y="-8751"/>
                  <a:pt x="79107" y="-5765"/>
                  <a:pt x="78413" y="-2153"/>
                </a:cubicBezTo>
                <a:lnTo>
                  <a:pt x="66675" y="55563"/>
                </a:lnTo>
                <a:lnTo>
                  <a:pt x="8890" y="67231"/>
                </a:lnTo>
                <a:cubicBezTo>
                  <a:pt x="5278" y="67995"/>
                  <a:pt x="2292" y="70425"/>
                  <a:pt x="833" y="73829"/>
                </a:cubicBezTo>
                <a:cubicBezTo>
                  <a:pt x="-625" y="77232"/>
                  <a:pt x="-208" y="81121"/>
                  <a:pt x="1806" y="84177"/>
                </a:cubicBezTo>
                <a:lnTo>
                  <a:pt x="34449" y="133350"/>
                </a:lnTo>
                <a:lnTo>
                  <a:pt x="1875" y="182453"/>
                </a:lnTo>
                <a:cubicBezTo>
                  <a:pt x="-139" y="185509"/>
                  <a:pt x="-556" y="189399"/>
                  <a:pt x="903" y="192802"/>
                </a:cubicBezTo>
                <a:cubicBezTo>
                  <a:pt x="2361" y="196205"/>
                  <a:pt x="5348" y="198705"/>
                  <a:pt x="8959" y="199400"/>
                </a:cubicBezTo>
                <a:lnTo>
                  <a:pt x="66675" y="211138"/>
                </a:lnTo>
                <a:lnTo>
                  <a:pt x="78343" y="268922"/>
                </a:lnTo>
                <a:cubicBezTo>
                  <a:pt x="79107" y="272534"/>
                  <a:pt x="81538" y="275521"/>
                  <a:pt x="84941" y="276979"/>
                </a:cubicBezTo>
                <a:cubicBezTo>
                  <a:pt x="88344" y="278438"/>
                  <a:pt x="92234" y="278021"/>
                  <a:pt x="95290" y="276007"/>
                </a:cubicBezTo>
                <a:lnTo>
                  <a:pt x="142032" y="245031"/>
                </a:lnTo>
                <a:cubicBezTo>
                  <a:pt x="131058" y="231557"/>
                  <a:pt x="123974" y="214819"/>
                  <a:pt x="122446" y="196483"/>
                </a:cubicBezTo>
                <a:cubicBezTo>
                  <a:pt x="96401" y="187385"/>
                  <a:pt x="77718" y="162659"/>
                  <a:pt x="77718" y="133489"/>
                </a:cubicBezTo>
                <a:cubicBezTo>
                  <a:pt x="77718" y="96679"/>
                  <a:pt x="107583" y="66814"/>
                  <a:pt x="144393" y="66814"/>
                </a:cubicBezTo>
                <a:cubicBezTo>
                  <a:pt x="159464" y="66814"/>
                  <a:pt x="173424" y="71815"/>
                  <a:pt x="184537" y="80288"/>
                </a:cubicBezTo>
                <a:cubicBezTo>
                  <a:pt x="195302" y="68064"/>
                  <a:pt x="210165" y="59452"/>
                  <a:pt x="226973" y="56674"/>
                </a:cubicBezTo>
                <a:lnTo>
                  <a:pt x="222250" y="55563"/>
                </a:lnTo>
                <a:lnTo>
                  <a:pt x="210582" y="-2222"/>
                </a:lnTo>
                <a:close/>
                <a:moveTo>
                  <a:pt x="168771" y="110500"/>
                </a:moveTo>
                <a:cubicBezTo>
                  <a:pt x="162659" y="104041"/>
                  <a:pt x="154047" y="100013"/>
                  <a:pt x="144463" y="100013"/>
                </a:cubicBezTo>
                <a:cubicBezTo>
                  <a:pt x="126057" y="100013"/>
                  <a:pt x="111125" y="114945"/>
                  <a:pt x="111125" y="133350"/>
                </a:cubicBezTo>
                <a:cubicBezTo>
                  <a:pt x="111125" y="145157"/>
                  <a:pt x="117306" y="155575"/>
                  <a:pt x="126544" y="161479"/>
                </a:cubicBezTo>
                <a:cubicBezTo>
                  <a:pt x="133628" y="139670"/>
                  <a:pt x="148838" y="121612"/>
                  <a:pt x="168702" y="110778"/>
                </a:cubicBezTo>
                <a:lnTo>
                  <a:pt x="168771" y="110500"/>
                </a:lnTo>
                <a:close/>
                <a:moveTo>
                  <a:pt x="211138" y="244475"/>
                </a:moveTo>
                <a:lnTo>
                  <a:pt x="344488" y="244475"/>
                </a:lnTo>
                <a:cubicBezTo>
                  <a:pt x="375186" y="244475"/>
                  <a:pt x="400050" y="219611"/>
                  <a:pt x="400050" y="188913"/>
                </a:cubicBezTo>
                <a:cubicBezTo>
                  <a:pt x="400050" y="165368"/>
                  <a:pt x="385395" y="145226"/>
                  <a:pt x="364698" y="137170"/>
                </a:cubicBezTo>
                <a:cubicBezTo>
                  <a:pt x="366018" y="132447"/>
                  <a:pt x="366712" y="127446"/>
                  <a:pt x="366712" y="122238"/>
                </a:cubicBezTo>
                <a:cubicBezTo>
                  <a:pt x="366712" y="91539"/>
                  <a:pt x="341848" y="66675"/>
                  <a:pt x="311150" y="66675"/>
                </a:cubicBezTo>
                <a:cubicBezTo>
                  <a:pt x="289758" y="66675"/>
                  <a:pt x="271214" y="78760"/>
                  <a:pt x="261908" y="96401"/>
                </a:cubicBezTo>
                <a:cubicBezTo>
                  <a:pt x="255449" y="91678"/>
                  <a:pt x="247531" y="88900"/>
                  <a:pt x="238919" y="88900"/>
                </a:cubicBezTo>
                <a:cubicBezTo>
                  <a:pt x="217458" y="88900"/>
                  <a:pt x="200025" y="106333"/>
                  <a:pt x="200025" y="127794"/>
                </a:cubicBezTo>
                <a:cubicBezTo>
                  <a:pt x="200025" y="130016"/>
                  <a:pt x="200233" y="132239"/>
                  <a:pt x="200581" y="134322"/>
                </a:cubicBezTo>
                <a:cubicBezTo>
                  <a:pt x="174952" y="139254"/>
                  <a:pt x="155575" y="161826"/>
                  <a:pt x="155575" y="188913"/>
                </a:cubicBezTo>
                <a:cubicBezTo>
                  <a:pt x="155575" y="219611"/>
                  <a:pt x="180439" y="244475"/>
                  <a:pt x="211138" y="244475"/>
                </a:cubicBezTo>
                <a:close/>
                <a:moveTo>
                  <a:pt x="197941" y="278576"/>
                </a:moveTo>
                <a:cubicBezTo>
                  <a:pt x="189190" y="275659"/>
                  <a:pt x="179745" y="280382"/>
                  <a:pt x="176828" y="289133"/>
                </a:cubicBezTo>
                <a:lnTo>
                  <a:pt x="161965" y="333653"/>
                </a:lnTo>
                <a:cubicBezTo>
                  <a:pt x="159048" y="342404"/>
                  <a:pt x="163770" y="351850"/>
                  <a:pt x="172522" y="354767"/>
                </a:cubicBezTo>
                <a:cubicBezTo>
                  <a:pt x="181273" y="357684"/>
                  <a:pt x="190718" y="352961"/>
                  <a:pt x="193635" y="344210"/>
                </a:cubicBezTo>
                <a:lnTo>
                  <a:pt x="208498" y="299690"/>
                </a:lnTo>
                <a:cubicBezTo>
                  <a:pt x="211415" y="290939"/>
                  <a:pt x="206692" y="281494"/>
                  <a:pt x="197941" y="278576"/>
                </a:cubicBezTo>
                <a:close/>
                <a:moveTo>
                  <a:pt x="281285" y="278576"/>
                </a:moveTo>
                <a:cubicBezTo>
                  <a:pt x="272534" y="275659"/>
                  <a:pt x="263088" y="280382"/>
                  <a:pt x="260171" y="289133"/>
                </a:cubicBezTo>
                <a:lnTo>
                  <a:pt x="245308" y="333653"/>
                </a:lnTo>
                <a:cubicBezTo>
                  <a:pt x="242391" y="342404"/>
                  <a:pt x="247114" y="351850"/>
                  <a:pt x="255865" y="354767"/>
                </a:cubicBezTo>
                <a:cubicBezTo>
                  <a:pt x="264616" y="357684"/>
                  <a:pt x="274062" y="352961"/>
                  <a:pt x="276979" y="344210"/>
                </a:cubicBezTo>
                <a:lnTo>
                  <a:pt x="291842" y="299690"/>
                </a:lnTo>
                <a:cubicBezTo>
                  <a:pt x="294759" y="290939"/>
                  <a:pt x="290036" y="281494"/>
                  <a:pt x="281285" y="278576"/>
                </a:cubicBezTo>
                <a:close/>
                <a:moveTo>
                  <a:pt x="364629" y="278576"/>
                </a:moveTo>
                <a:cubicBezTo>
                  <a:pt x="355878" y="275659"/>
                  <a:pt x="346432" y="280382"/>
                  <a:pt x="343515" y="289133"/>
                </a:cubicBezTo>
                <a:lnTo>
                  <a:pt x="328652" y="333653"/>
                </a:lnTo>
                <a:cubicBezTo>
                  <a:pt x="325735" y="342404"/>
                  <a:pt x="330458" y="351850"/>
                  <a:pt x="339209" y="354767"/>
                </a:cubicBezTo>
                <a:cubicBezTo>
                  <a:pt x="347960" y="357684"/>
                  <a:pt x="357406" y="352961"/>
                  <a:pt x="360323" y="344210"/>
                </a:cubicBezTo>
                <a:lnTo>
                  <a:pt x="375186" y="299690"/>
                </a:lnTo>
                <a:cubicBezTo>
                  <a:pt x="378103" y="290939"/>
                  <a:pt x="373380" y="281494"/>
                  <a:pt x="364629" y="278576"/>
                </a:cubicBezTo>
                <a:close/>
              </a:path>
            </a:pathLst>
          </a:custGeom>
          <a:solidFill>
            <a:srgbClr val="C9A227"/>
          </a:solidFill>
          <a:ln/>
        </p:spPr>
      </p:sp>
      <p:sp>
        <p:nvSpPr>
          <p:cNvPr id="22" name="Text 19"/>
          <p:cNvSpPr/>
          <p:nvPr/>
        </p:nvSpPr>
        <p:spPr>
          <a:xfrm>
            <a:off x="9067800" y="2032000"/>
            <a:ext cx="2413000" cy="889000"/>
          </a:xfrm>
          <a:prstGeom prst="rect">
            <a:avLst/>
          </a:prstGeom>
          <a:noFill/>
          <a:ln/>
        </p:spPr>
        <p:txBody>
          <a:bodyPr wrap="square" lIns="0" tIns="0" rIns="0" bIns="0" rtlCol="0" anchor="ctr"/>
          <a:lstStyle/>
          <a:p>
            <a:pPr>
              <a:lnSpc>
                <a:spcPct val="140000"/>
              </a:lnSpc>
            </a:pPr>
            <a:r>
              <a:rPr lang="en-US" sz="1500" b="1" dirty="0">
                <a:solidFill>
                  <a:srgbClr val="FFFFFF"/>
                </a:solidFill>
                <a:latin typeface="Quattrocento Sans" pitchFamily="34" charset="0"/>
                <a:ea typeface="Quattrocento Sans" pitchFamily="34" charset="-122"/>
                <a:cs typeface="Quattrocento Sans" pitchFamily="34" charset="-120"/>
              </a:rPr>
              <a:t>Señales climáticas</a:t>
            </a:r>
            <a:endParaRPr lang="en-US" sz="1600" dirty="0"/>
          </a:p>
          <a:p>
            <a:pPr>
              <a:lnSpc>
                <a:spcPct val="140000"/>
              </a:lnSpc>
            </a:pPr>
            <a:r>
              <a:rPr lang="en-US" sz="1300" dirty="0">
                <a:solidFill>
                  <a:srgbClr val="FFFFFF"/>
                </a:solidFill>
                <a:latin typeface="Quattrocento Sans" pitchFamily="34" charset="0"/>
                <a:ea typeface="Quattrocento Sans" pitchFamily="34" charset="-122"/>
                <a:cs typeface="Quattrocento Sans" pitchFamily="34" charset="-120"/>
              </a:rPr>
              <a:t>Precipitación, temperatura, índices</a:t>
            </a:r>
            <a:endParaRPr lang="en-US" sz="1600" dirty="0"/>
          </a:p>
        </p:txBody>
      </p:sp>
      <p:sp>
        <p:nvSpPr>
          <p:cNvPr id="23" name="Shape 20"/>
          <p:cNvSpPr/>
          <p:nvPr/>
        </p:nvSpPr>
        <p:spPr>
          <a:xfrm>
            <a:off x="9779000" y="2984500"/>
            <a:ext cx="0" cy="381000"/>
          </a:xfrm>
          <a:prstGeom prst="straightConnector1">
            <a:avLst/>
          </a:prstGeom>
          <a:noFill/>
          <a:ln w="25400">
            <a:solidFill>
              <a:srgbClr val="C9A227"/>
            </a:solidFill>
            <a:prstDash val="solid"/>
            <a:headEnd type="none"/>
            <a:tailEnd type="arrow"/>
          </a:ln>
        </p:spPr>
      </p:sp>
      <p:sp>
        <p:nvSpPr>
          <p:cNvPr id="24" name="Shape 21"/>
          <p:cNvSpPr/>
          <p:nvPr/>
        </p:nvSpPr>
        <p:spPr>
          <a:xfrm>
            <a:off x="8382000" y="3365500"/>
            <a:ext cx="3302000" cy="1016000"/>
          </a:xfrm>
          <a:prstGeom prst="rect">
            <a:avLst/>
          </a:prstGeom>
          <a:solidFill>
            <a:srgbClr val="2D6A4F"/>
          </a:solidFill>
          <a:ln/>
        </p:spPr>
      </p:sp>
      <p:sp>
        <p:nvSpPr>
          <p:cNvPr id="25" name="Shape 22"/>
          <p:cNvSpPr/>
          <p:nvPr/>
        </p:nvSpPr>
        <p:spPr>
          <a:xfrm>
            <a:off x="8610600" y="3619500"/>
            <a:ext cx="355600" cy="355600"/>
          </a:xfrm>
          <a:custGeom>
            <a:avLst/>
            <a:gdLst/>
            <a:ahLst/>
            <a:cxnLst/>
            <a:rect l="l" t="t" r="r" b="b"/>
            <a:pathLst>
              <a:path w="355600" h="355600">
                <a:moveTo>
                  <a:pt x="355600" y="22225"/>
                </a:moveTo>
                <a:cubicBezTo>
                  <a:pt x="355600" y="97304"/>
                  <a:pt x="302399" y="159951"/>
                  <a:pt x="231696" y="174605"/>
                </a:cubicBezTo>
                <a:cubicBezTo>
                  <a:pt x="226209" y="134253"/>
                  <a:pt x="208082" y="97929"/>
                  <a:pt x="181342" y="69800"/>
                </a:cubicBezTo>
                <a:cubicBezTo>
                  <a:pt x="209193" y="27781"/>
                  <a:pt x="256907" y="0"/>
                  <a:pt x="311150" y="0"/>
                </a:cubicBezTo>
                <a:lnTo>
                  <a:pt x="333375" y="0"/>
                </a:lnTo>
                <a:cubicBezTo>
                  <a:pt x="345668" y="0"/>
                  <a:pt x="355600" y="9932"/>
                  <a:pt x="355600" y="22225"/>
                </a:cubicBezTo>
                <a:close/>
                <a:moveTo>
                  <a:pt x="0" y="66675"/>
                </a:moveTo>
                <a:cubicBezTo>
                  <a:pt x="0" y="54382"/>
                  <a:pt x="9932" y="44450"/>
                  <a:pt x="22225" y="44450"/>
                </a:cubicBezTo>
                <a:lnTo>
                  <a:pt x="44450" y="44450"/>
                </a:lnTo>
                <a:cubicBezTo>
                  <a:pt x="130364" y="44450"/>
                  <a:pt x="200025" y="114111"/>
                  <a:pt x="200025" y="200025"/>
                </a:cubicBezTo>
                <a:lnTo>
                  <a:pt x="200025" y="333375"/>
                </a:lnTo>
                <a:cubicBezTo>
                  <a:pt x="200025" y="345668"/>
                  <a:pt x="190093" y="355600"/>
                  <a:pt x="177800" y="355600"/>
                </a:cubicBezTo>
                <a:cubicBezTo>
                  <a:pt x="165507" y="355600"/>
                  <a:pt x="155575" y="345668"/>
                  <a:pt x="155575" y="333375"/>
                </a:cubicBezTo>
                <a:lnTo>
                  <a:pt x="155575" y="222250"/>
                </a:lnTo>
                <a:cubicBezTo>
                  <a:pt x="69661" y="222250"/>
                  <a:pt x="0" y="152589"/>
                  <a:pt x="0" y="66675"/>
                </a:cubicBezTo>
                <a:close/>
              </a:path>
            </a:pathLst>
          </a:custGeom>
          <a:solidFill>
            <a:srgbClr val="C9A227"/>
          </a:solidFill>
          <a:ln/>
        </p:spPr>
      </p:sp>
      <p:sp>
        <p:nvSpPr>
          <p:cNvPr id="26" name="Text 23"/>
          <p:cNvSpPr/>
          <p:nvPr/>
        </p:nvSpPr>
        <p:spPr>
          <a:xfrm>
            <a:off x="9067800" y="3429000"/>
            <a:ext cx="2413000" cy="889000"/>
          </a:xfrm>
          <a:prstGeom prst="rect">
            <a:avLst/>
          </a:prstGeom>
          <a:noFill/>
          <a:ln/>
        </p:spPr>
        <p:txBody>
          <a:bodyPr wrap="square" lIns="0" tIns="0" rIns="0" bIns="0" rtlCol="0" anchor="ctr"/>
          <a:lstStyle/>
          <a:p>
            <a:pPr>
              <a:lnSpc>
                <a:spcPct val="140000"/>
              </a:lnSpc>
            </a:pPr>
            <a:r>
              <a:rPr lang="en-US" sz="1500" b="1" dirty="0">
                <a:solidFill>
                  <a:srgbClr val="FFFFFF"/>
                </a:solidFill>
                <a:latin typeface="Quattrocento Sans" pitchFamily="34" charset="0"/>
                <a:ea typeface="Quattrocento Sans" pitchFamily="34" charset="-122"/>
                <a:cs typeface="Quattrocento Sans" pitchFamily="34" charset="-120"/>
              </a:rPr>
              <a:t>Producción proxy</a:t>
            </a:r>
            <a:endParaRPr lang="en-US" sz="1600" dirty="0"/>
          </a:p>
          <a:p>
            <a:pPr>
              <a:lnSpc>
                <a:spcPct val="140000"/>
              </a:lnSpc>
            </a:pPr>
            <a:r>
              <a:rPr lang="en-US" sz="1300" dirty="0">
                <a:solidFill>
                  <a:srgbClr val="FFFFFF"/>
                </a:solidFill>
                <a:latin typeface="Quattrocento Sans" pitchFamily="34" charset="0"/>
                <a:ea typeface="Quattrocento Sans" pitchFamily="34" charset="-122"/>
                <a:cs typeface="Quattrocento Sans" pitchFamily="34" charset="-120"/>
              </a:rPr>
              <a:t>Modelos ML + variables económicas</a:t>
            </a:r>
            <a:endParaRPr lang="en-US" sz="1600" dirty="0"/>
          </a:p>
        </p:txBody>
      </p:sp>
      <p:sp>
        <p:nvSpPr>
          <p:cNvPr id="27" name="Shape 24"/>
          <p:cNvSpPr/>
          <p:nvPr/>
        </p:nvSpPr>
        <p:spPr>
          <a:xfrm>
            <a:off x="9779000" y="4381500"/>
            <a:ext cx="0" cy="381000"/>
          </a:xfrm>
          <a:prstGeom prst="straightConnector1">
            <a:avLst/>
          </a:prstGeom>
          <a:noFill/>
          <a:ln w="25400">
            <a:solidFill>
              <a:srgbClr val="C9A227"/>
            </a:solidFill>
            <a:prstDash val="solid"/>
            <a:headEnd type="none"/>
            <a:tailEnd type="arrow"/>
          </a:ln>
        </p:spPr>
      </p:sp>
      <p:sp>
        <p:nvSpPr>
          <p:cNvPr id="28" name="Shape 25"/>
          <p:cNvSpPr/>
          <p:nvPr/>
        </p:nvSpPr>
        <p:spPr>
          <a:xfrm>
            <a:off x="8382000" y="4762500"/>
            <a:ext cx="3302000" cy="1016000"/>
          </a:xfrm>
          <a:prstGeom prst="rect">
            <a:avLst/>
          </a:prstGeom>
          <a:solidFill>
            <a:srgbClr val="52796F"/>
          </a:solidFill>
          <a:ln/>
        </p:spPr>
      </p:sp>
      <p:sp>
        <p:nvSpPr>
          <p:cNvPr id="29" name="Shape 26"/>
          <p:cNvSpPr/>
          <p:nvPr/>
        </p:nvSpPr>
        <p:spPr>
          <a:xfrm>
            <a:off x="8655050" y="5016500"/>
            <a:ext cx="266700" cy="355600"/>
          </a:xfrm>
          <a:custGeom>
            <a:avLst/>
            <a:gdLst/>
            <a:ahLst/>
            <a:cxnLst/>
            <a:rect l="l" t="t" r="r" b="b"/>
            <a:pathLst>
              <a:path w="266700" h="355600">
                <a:moveTo>
                  <a:pt x="44450" y="0"/>
                </a:moveTo>
                <a:cubicBezTo>
                  <a:pt x="19933" y="0"/>
                  <a:pt x="0" y="19933"/>
                  <a:pt x="0" y="44450"/>
                </a:cubicBezTo>
                <a:lnTo>
                  <a:pt x="0" y="311150"/>
                </a:lnTo>
                <a:cubicBezTo>
                  <a:pt x="0" y="335667"/>
                  <a:pt x="19933" y="355600"/>
                  <a:pt x="44450" y="355600"/>
                </a:cubicBezTo>
                <a:lnTo>
                  <a:pt x="222250" y="355600"/>
                </a:lnTo>
                <a:cubicBezTo>
                  <a:pt x="246767" y="355600"/>
                  <a:pt x="266700" y="335667"/>
                  <a:pt x="266700" y="311150"/>
                </a:cubicBezTo>
                <a:lnTo>
                  <a:pt x="266700" y="44450"/>
                </a:lnTo>
                <a:cubicBezTo>
                  <a:pt x="266700" y="19933"/>
                  <a:pt x="246767" y="0"/>
                  <a:pt x="222250" y="0"/>
                </a:cubicBezTo>
                <a:lnTo>
                  <a:pt x="44450" y="0"/>
                </a:lnTo>
                <a:close/>
                <a:moveTo>
                  <a:pt x="66675" y="44450"/>
                </a:moveTo>
                <a:lnTo>
                  <a:pt x="200025" y="44450"/>
                </a:lnTo>
                <a:cubicBezTo>
                  <a:pt x="212318" y="44450"/>
                  <a:pt x="222250" y="54382"/>
                  <a:pt x="222250" y="66675"/>
                </a:cubicBezTo>
                <a:lnTo>
                  <a:pt x="222250" y="88900"/>
                </a:lnTo>
                <a:cubicBezTo>
                  <a:pt x="222250" y="101193"/>
                  <a:pt x="212318" y="111125"/>
                  <a:pt x="200025" y="111125"/>
                </a:cubicBezTo>
                <a:lnTo>
                  <a:pt x="66675" y="111125"/>
                </a:lnTo>
                <a:cubicBezTo>
                  <a:pt x="54382" y="111125"/>
                  <a:pt x="44450" y="101193"/>
                  <a:pt x="44450" y="88900"/>
                </a:cubicBezTo>
                <a:lnTo>
                  <a:pt x="44450" y="66675"/>
                </a:lnTo>
                <a:cubicBezTo>
                  <a:pt x="44450" y="54382"/>
                  <a:pt x="54382" y="44450"/>
                  <a:pt x="66675" y="44450"/>
                </a:cubicBezTo>
                <a:close/>
                <a:moveTo>
                  <a:pt x="77788" y="161131"/>
                </a:moveTo>
                <a:cubicBezTo>
                  <a:pt x="77788" y="170331"/>
                  <a:pt x="70318" y="177800"/>
                  <a:pt x="61119" y="177800"/>
                </a:cubicBezTo>
                <a:cubicBezTo>
                  <a:pt x="51919" y="177800"/>
                  <a:pt x="44450" y="170331"/>
                  <a:pt x="44450" y="161131"/>
                </a:cubicBezTo>
                <a:cubicBezTo>
                  <a:pt x="44450" y="151932"/>
                  <a:pt x="51919" y="144463"/>
                  <a:pt x="61119" y="144463"/>
                </a:cubicBezTo>
                <a:cubicBezTo>
                  <a:pt x="70318" y="144463"/>
                  <a:pt x="77788" y="151932"/>
                  <a:pt x="77788" y="161131"/>
                </a:cubicBezTo>
                <a:close/>
                <a:moveTo>
                  <a:pt x="133350" y="177800"/>
                </a:moveTo>
                <a:cubicBezTo>
                  <a:pt x="124150" y="177800"/>
                  <a:pt x="116681" y="170331"/>
                  <a:pt x="116681" y="161131"/>
                </a:cubicBezTo>
                <a:cubicBezTo>
                  <a:pt x="116681" y="151932"/>
                  <a:pt x="124150" y="144463"/>
                  <a:pt x="133350" y="144463"/>
                </a:cubicBezTo>
                <a:cubicBezTo>
                  <a:pt x="142550" y="144463"/>
                  <a:pt x="150019" y="151932"/>
                  <a:pt x="150019" y="161131"/>
                </a:cubicBezTo>
                <a:cubicBezTo>
                  <a:pt x="150019" y="170331"/>
                  <a:pt x="142550" y="177800"/>
                  <a:pt x="133350" y="177800"/>
                </a:cubicBezTo>
                <a:close/>
                <a:moveTo>
                  <a:pt x="222250" y="161131"/>
                </a:moveTo>
                <a:cubicBezTo>
                  <a:pt x="222250" y="170331"/>
                  <a:pt x="214781" y="177800"/>
                  <a:pt x="205581" y="177800"/>
                </a:cubicBezTo>
                <a:cubicBezTo>
                  <a:pt x="196382" y="177800"/>
                  <a:pt x="188913" y="170331"/>
                  <a:pt x="188913" y="161131"/>
                </a:cubicBezTo>
                <a:cubicBezTo>
                  <a:pt x="188913" y="151932"/>
                  <a:pt x="196382" y="144463"/>
                  <a:pt x="205581" y="144463"/>
                </a:cubicBezTo>
                <a:cubicBezTo>
                  <a:pt x="214781" y="144463"/>
                  <a:pt x="222250" y="151932"/>
                  <a:pt x="222250" y="161131"/>
                </a:cubicBezTo>
                <a:close/>
                <a:moveTo>
                  <a:pt x="61119" y="244475"/>
                </a:moveTo>
                <a:cubicBezTo>
                  <a:pt x="51919" y="244475"/>
                  <a:pt x="44450" y="237006"/>
                  <a:pt x="44450" y="227806"/>
                </a:cubicBezTo>
                <a:cubicBezTo>
                  <a:pt x="44450" y="218607"/>
                  <a:pt x="51919" y="211138"/>
                  <a:pt x="61119" y="211138"/>
                </a:cubicBezTo>
                <a:cubicBezTo>
                  <a:pt x="70318" y="211138"/>
                  <a:pt x="77788" y="218607"/>
                  <a:pt x="77788" y="227806"/>
                </a:cubicBezTo>
                <a:cubicBezTo>
                  <a:pt x="77788" y="237006"/>
                  <a:pt x="70318" y="244475"/>
                  <a:pt x="61119" y="244475"/>
                </a:cubicBezTo>
                <a:close/>
                <a:moveTo>
                  <a:pt x="150019" y="227806"/>
                </a:moveTo>
                <a:cubicBezTo>
                  <a:pt x="150019" y="237006"/>
                  <a:pt x="142550" y="244475"/>
                  <a:pt x="133350" y="244475"/>
                </a:cubicBezTo>
                <a:cubicBezTo>
                  <a:pt x="124150" y="244475"/>
                  <a:pt x="116681" y="237006"/>
                  <a:pt x="116681" y="227806"/>
                </a:cubicBezTo>
                <a:cubicBezTo>
                  <a:pt x="116681" y="218607"/>
                  <a:pt x="124150" y="211138"/>
                  <a:pt x="133350" y="211138"/>
                </a:cubicBezTo>
                <a:cubicBezTo>
                  <a:pt x="142550" y="211138"/>
                  <a:pt x="150019" y="218607"/>
                  <a:pt x="150019" y="227806"/>
                </a:cubicBezTo>
                <a:close/>
                <a:moveTo>
                  <a:pt x="205581" y="244475"/>
                </a:moveTo>
                <a:cubicBezTo>
                  <a:pt x="196382" y="244475"/>
                  <a:pt x="188913" y="237006"/>
                  <a:pt x="188913" y="227806"/>
                </a:cubicBezTo>
                <a:cubicBezTo>
                  <a:pt x="188913" y="218607"/>
                  <a:pt x="196382" y="211138"/>
                  <a:pt x="205581" y="211138"/>
                </a:cubicBezTo>
                <a:cubicBezTo>
                  <a:pt x="214781" y="211138"/>
                  <a:pt x="222250" y="218607"/>
                  <a:pt x="222250" y="227806"/>
                </a:cubicBezTo>
                <a:cubicBezTo>
                  <a:pt x="222250" y="237006"/>
                  <a:pt x="214781" y="244475"/>
                  <a:pt x="205581" y="244475"/>
                </a:cubicBezTo>
                <a:close/>
                <a:moveTo>
                  <a:pt x="44450" y="294481"/>
                </a:moveTo>
                <a:cubicBezTo>
                  <a:pt x="44450" y="285244"/>
                  <a:pt x="51881" y="277813"/>
                  <a:pt x="61119" y="277813"/>
                </a:cubicBezTo>
                <a:lnTo>
                  <a:pt x="138906" y="277813"/>
                </a:lnTo>
                <a:cubicBezTo>
                  <a:pt x="148144" y="277813"/>
                  <a:pt x="155575" y="285244"/>
                  <a:pt x="155575" y="294481"/>
                </a:cubicBezTo>
                <a:cubicBezTo>
                  <a:pt x="155575" y="303719"/>
                  <a:pt x="148144" y="311150"/>
                  <a:pt x="138906" y="311150"/>
                </a:cubicBezTo>
                <a:lnTo>
                  <a:pt x="61119" y="311150"/>
                </a:lnTo>
                <a:cubicBezTo>
                  <a:pt x="51881" y="311150"/>
                  <a:pt x="44450" y="303719"/>
                  <a:pt x="44450" y="294481"/>
                </a:cubicBezTo>
                <a:close/>
                <a:moveTo>
                  <a:pt x="205581" y="277813"/>
                </a:moveTo>
                <a:cubicBezTo>
                  <a:pt x="214819" y="277813"/>
                  <a:pt x="222250" y="285244"/>
                  <a:pt x="222250" y="294481"/>
                </a:cubicBezTo>
                <a:cubicBezTo>
                  <a:pt x="222250" y="303719"/>
                  <a:pt x="214819" y="311150"/>
                  <a:pt x="205581" y="311150"/>
                </a:cubicBezTo>
                <a:cubicBezTo>
                  <a:pt x="196344" y="311150"/>
                  <a:pt x="188913" y="303719"/>
                  <a:pt x="188913" y="294481"/>
                </a:cubicBezTo>
                <a:cubicBezTo>
                  <a:pt x="188913" y="285244"/>
                  <a:pt x="196344" y="277813"/>
                  <a:pt x="205581" y="277813"/>
                </a:cubicBezTo>
                <a:close/>
              </a:path>
            </a:pathLst>
          </a:custGeom>
          <a:solidFill>
            <a:srgbClr val="C9A227"/>
          </a:solidFill>
          <a:ln/>
        </p:spPr>
      </p:sp>
      <p:sp>
        <p:nvSpPr>
          <p:cNvPr id="30" name="Text 27"/>
          <p:cNvSpPr/>
          <p:nvPr/>
        </p:nvSpPr>
        <p:spPr>
          <a:xfrm>
            <a:off x="9067800" y="4826000"/>
            <a:ext cx="2413000" cy="889000"/>
          </a:xfrm>
          <a:prstGeom prst="rect">
            <a:avLst/>
          </a:prstGeom>
          <a:noFill/>
          <a:ln/>
        </p:spPr>
        <p:txBody>
          <a:bodyPr wrap="square" lIns="0" tIns="0" rIns="0" bIns="0" rtlCol="0" anchor="ctr"/>
          <a:lstStyle/>
          <a:p>
            <a:pPr>
              <a:lnSpc>
                <a:spcPct val="140000"/>
              </a:lnSpc>
            </a:pPr>
            <a:r>
              <a:rPr lang="en-US" sz="1500" b="1" dirty="0">
                <a:solidFill>
                  <a:srgbClr val="FFFFFF"/>
                </a:solidFill>
                <a:latin typeface="Quattrocento Sans" pitchFamily="34" charset="0"/>
                <a:ea typeface="Quattrocento Sans" pitchFamily="34" charset="-122"/>
                <a:cs typeface="Quattrocento Sans" pitchFamily="34" charset="-120"/>
              </a:rPr>
              <a:t>Lectura técnica</a:t>
            </a:r>
            <a:endParaRPr lang="en-US" sz="1600" dirty="0"/>
          </a:p>
          <a:p>
            <a:pPr>
              <a:lnSpc>
                <a:spcPct val="140000"/>
              </a:lnSpc>
            </a:pPr>
            <a:r>
              <a:rPr lang="en-US" sz="1300" dirty="0">
                <a:solidFill>
                  <a:srgbClr val="FFFFFF"/>
                </a:solidFill>
                <a:latin typeface="Quattrocento Sans" pitchFamily="34" charset="0"/>
                <a:ea typeface="Quattrocento Sans" pitchFamily="34" charset="-122"/>
                <a:cs typeface="Quattrocento Sans" pitchFamily="34" charset="-120"/>
              </a:rPr>
              <a:t>Pérdida, cobertura, prima proxy</a:t>
            </a:r>
            <a:endParaRPr lang="en-US" sz="1600" dirty="0"/>
          </a:p>
        </p:txBody>
      </p:sp>
      <p:sp>
        <p:nvSpPr>
          <p:cNvPr id="31" name="Shape 28"/>
          <p:cNvSpPr/>
          <p:nvPr/>
        </p:nvSpPr>
        <p:spPr>
          <a:xfrm>
            <a:off x="9779000" y="5778500"/>
            <a:ext cx="0" cy="381000"/>
          </a:xfrm>
          <a:prstGeom prst="straightConnector1">
            <a:avLst/>
          </a:prstGeom>
          <a:noFill/>
          <a:ln w="25400">
            <a:solidFill>
              <a:srgbClr val="C9A227"/>
            </a:solidFill>
            <a:prstDash val="solid"/>
            <a:headEnd type="none"/>
            <a:tailEnd type="arrow"/>
          </a:ln>
        </p:spPr>
      </p:sp>
      <p:sp>
        <p:nvSpPr>
          <p:cNvPr id="32" name="Shape 29"/>
          <p:cNvSpPr/>
          <p:nvPr/>
        </p:nvSpPr>
        <p:spPr>
          <a:xfrm>
            <a:off x="8382000" y="6159500"/>
            <a:ext cx="3302000" cy="1016000"/>
          </a:xfrm>
          <a:prstGeom prst="rect">
            <a:avLst/>
          </a:prstGeom>
          <a:solidFill>
            <a:srgbClr val="C9A227"/>
          </a:solidFill>
          <a:ln/>
        </p:spPr>
      </p:sp>
      <p:sp>
        <p:nvSpPr>
          <p:cNvPr id="33" name="Shape 30"/>
          <p:cNvSpPr/>
          <p:nvPr/>
        </p:nvSpPr>
        <p:spPr>
          <a:xfrm>
            <a:off x="8610600" y="6413500"/>
            <a:ext cx="355600" cy="355600"/>
          </a:xfrm>
          <a:custGeom>
            <a:avLst/>
            <a:gdLst/>
            <a:ahLst/>
            <a:cxnLst/>
            <a:rect l="l" t="t" r="r" b="b"/>
            <a:pathLst>
              <a:path w="355600" h="355600">
                <a:moveTo>
                  <a:pt x="177800" y="355600"/>
                </a:moveTo>
                <a:cubicBezTo>
                  <a:pt x="275930" y="355600"/>
                  <a:pt x="355600" y="275930"/>
                  <a:pt x="355600" y="177800"/>
                </a:cubicBezTo>
                <a:cubicBezTo>
                  <a:pt x="355600" y="79670"/>
                  <a:pt x="275930" y="0"/>
                  <a:pt x="177800" y="0"/>
                </a:cubicBezTo>
                <a:cubicBezTo>
                  <a:pt x="79670" y="0"/>
                  <a:pt x="0" y="79670"/>
                  <a:pt x="0" y="177800"/>
                </a:cubicBezTo>
                <a:cubicBezTo>
                  <a:pt x="0" y="275930"/>
                  <a:pt x="79670" y="355600"/>
                  <a:pt x="177800" y="355600"/>
                </a:cubicBezTo>
                <a:close/>
                <a:moveTo>
                  <a:pt x="213013" y="225792"/>
                </a:moveTo>
                <a:lnTo>
                  <a:pt x="112792" y="264339"/>
                </a:lnTo>
                <a:cubicBezTo>
                  <a:pt x="99318" y="269548"/>
                  <a:pt x="86052" y="256282"/>
                  <a:pt x="91261" y="242808"/>
                </a:cubicBezTo>
                <a:lnTo>
                  <a:pt x="129808" y="142587"/>
                </a:lnTo>
                <a:cubicBezTo>
                  <a:pt x="132100" y="136684"/>
                  <a:pt x="136684" y="132100"/>
                  <a:pt x="142587" y="129808"/>
                </a:cubicBezTo>
                <a:lnTo>
                  <a:pt x="242808" y="91261"/>
                </a:lnTo>
                <a:cubicBezTo>
                  <a:pt x="256282" y="86052"/>
                  <a:pt x="269548" y="99318"/>
                  <a:pt x="264339" y="112792"/>
                </a:cubicBezTo>
                <a:lnTo>
                  <a:pt x="225792" y="213013"/>
                </a:lnTo>
                <a:cubicBezTo>
                  <a:pt x="223570" y="218916"/>
                  <a:pt x="218916" y="223500"/>
                  <a:pt x="213013" y="225792"/>
                </a:cubicBezTo>
                <a:close/>
                <a:moveTo>
                  <a:pt x="200025" y="177800"/>
                </a:moveTo>
                <a:cubicBezTo>
                  <a:pt x="200025" y="165534"/>
                  <a:pt x="190066" y="155575"/>
                  <a:pt x="177800" y="155575"/>
                </a:cubicBezTo>
                <a:cubicBezTo>
                  <a:pt x="165534" y="155575"/>
                  <a:pt x="155575" y="165534"/>
                  <a:pt x="155575" y="177800"/>
                </a:cubicBezTo>
                <a:cubicBezTo>
                  <a:pt x="155575" y="190066"/>
                  <a:pt x="165534" y="200025"/>
                  <a:pt x="177800" y="200025"/>
                </a:cubicBezTo>
                <a:cubicBezTo>
                  <a:pt x="190066" y="200025"/>
                  <a:pt x="200025" y="190066"/>
                  <a:pt x="200025" y="177800"/>
                </a:cubicBezTo>
                <a:close/>
              </a:path>
            </a:pathLst>
          </a:custGeom>
          <a:solidFill>
            <a:srgbClr val="1B4332"/>
          </a:solidFill>
          <a:ln/>
        </p:spPr>
      </p:sp>
      <p:sp>
        <p:nvSpPr>
          <p:cNvPr id="34" name="Text 31"/>
          <p:cNvSpPr/>
          <p:nvPr/>
        </p:nvSpPr>
        <p:spPr>
          <a:xfrm>
            <a:off x="9067800" y="6223000"/>
            <a:ext cx="2413000" cy="889000"/>
          </a:xfrm>
          <a:prstGeom prst="rect">
            <a:avLst/>
          </a:prstGeom>
          <a:noFill/>
          <a:ln/>
        </p:spPr>
        <p:txBody>
          <a:bodyPr wrap="square" lIns="0" tIns="0" rIns="0" bIns="0" rtlCol="0" anchor="ctr"/>
          <a:lstStyle/>
          <a:p>
            <a:pPr>
              <a:lnSpc>
                <a:spcPct val="140000"/>
              </a:lnSpc>
            </a:pPr>
            <a:r>
              <a:rPr lang="en-US" sz="1500" b="1" dirty="0">
                <a:solidFill>
                  <a:srgbClr val="1B4332"/>
                </a:solidFill>
                <a:latin typeface="Quattrocento Sans" pitchFamily="34" charset="0"/>
                <a:ea typeface="Quattrocento Sans" pitchFamily="34" charset="-122"/>
                <a:cs typeface="Quattrocento Sans" pitchFamily="34" charset="-120"/>
              </a:rPr>
              <a:t>Soporte a decisión</a:t>
            </a:r>
            <a:endParaRPr lang="en-US" sz="1600" dirty="0"/>
          </a:p>
          <a:p>
            <a:pPr>
              <a:lnSpc>
                <a:spcPct val="140000"/>
              </a:lnSpc>
            </a:pPr>
            <a:r>
              <a:rPr lang="en-US" sz="1300" dirty="0">
                <a:solidFill>
                  <a:srgbClr val="1B4332"/>
                </a:solidFill>
                <a:latin typeface="Quattrocento Sans" pitchFamily="34" charset="0"/>
                <a:ea typeface="Quattrocento Sans" pitchFamily="34" charset="-122"/>
                <a:cs typeface="Quattrocento Sans" pitchFamily="34" charset="-120"/>
              </a:rPr>
              <a:t>Validación actuarial futura</a:t>
            </a:r>
            <a:endParaRPr lang="en-US" sz="1600" dirty="0"/>
          </a:p>
        </p:txBody>
      </p:sp>
      <p:sp>
        <p:nvSpPr>
          <p:cNvPr id="35" name="Shape 32"/>
          <p:cNvSpPr/>
          <p:nvPr/>
        </p:nvSpPr>
        <p:spPr>
          <a:xfrm>
            <a:off x="8382000" y="7493000"/>
            <a:ext cx="6858000" cy="952500"/>
          </a:xfrm>
          <a:prstGeom prst="rect">
            <a:avLst/>
          </a:prstGeom>
          <a:solidFill>
            <a:srgbClr val="E8E0D4"/>
          </a:solidFill>
          <a:ln/>
        </p:spPr>
      </p:sp>
      <p:sp>
        <p:nvSpPr>
          <p:cNvPr id="36" name="Shape 33"/>
          <p:cNvSpPr/>
          <p:nvPr/>
        </p:nvSpPr>
        <p:spPr>
          <a:xfrm>
            <a:off x="8382000" y="7493000"/>
            <a:ext cx="63500" cy="952500"/>
          </a:xfrm>
          <a:prstGeom prst="rect">
            <a:avLst/>
          </a:prstGeom>
          <a:solidFill>
            <a:srgbClr val="C9A227"/>
          </a:solidFill>
          <a:ln/>
        </p:spPr>
      </p:sp>
      <p:sp>
        <p:nvSpPr>
          <p:cNvPr id="37" name="Text 34"/>
          <p:cNvSpPr/>
          <p:nvPr/>
        </p:nvSpPr>
        <p:spPr>
          <a:xfrm>
            <a:off x="8636000" y="7556500"/>
            <a:ext cx="6413500" cy="825500"/>
          </a:xfrm>
          <a:prstGeom prst="rect">
            <a:avLst/>
          </a:prstGeom>
          <a:noFill/>
          <a:ln/>
        </p:spPr>
        <p:txBody>
          <a:bodyPr wrap="square" lIns="0" tIns="0" rIns="0" bIns="0" rtlCol="0" anchor="ctr"/>
          <a:lstStyle/>
          <a:p>
            <a:pPr>
              <a:lnSpc>
                <a:spcPct val="150000"/>
              </a:lnSpc>
            </a:pPr>
            <a:r>
              <a:rPr lang="en-US" sz="1600" i="1" dirty="0">
                <a:solidFill>
                  <a:srgbClr val="2D3436"/>
                </a:solidFill>
                <a:latin typeface="Quattrocento Sans" pitchFamily="34" charset="0"/>
                <a:ea typeface="Quattrocento Sans" pitchFamily="34" charset="-122"/>
                <a:cs typeface="Quattrocento Sans" pitchFamily="34" charset="-120"/>
              </a:rPr>
              <a:t>¿Cómo pasamos de clima y producción a una lectura técnica y económica interpretable?</a:t>
            </a:r>
            <a:endParaRPr lang="en-US" sz="1600" dirty="0"/>
          </a:p>
        </p:txBody>
      </p:sp>
      <p:sp>
        <p:nvSpPr>
          <p:cNvPr id="38" name="Text 35"/>
          <p:cNvSpPr/>
          <p:nvPr/>
        </p:nvSpPr>
        <p:spPr>
          <a:xfrm>
            <a:off x="15240000" y="8763000"/>
            <a:ext cx="508000" cy="254000"/>
          </a:xfrm>
          <a:prstGeom prst="rect">
            <a:avLst/>
          </a:prstGeom>
          <a:noFill/>
          <a:ln/>
        </p:spPr>
        <p:txBody>
          <a:bodyPr wrap="none" lIns="0" tIns="0" rIns="0" bIns="0" rtlCol="0" anchor="ctr"/>
          <a:lstStyle/>
          <a:p>
            <a:pPr algn="r">
              <a:lnSpc>
                <a:spcPct val="140000"/>
              </a:lnSpc>
            </a:pPr>
            <a:r>
              <a:rPr lang="en-US" sz="1400" dirty="0">
                <a:solidFill>
                  <a:srgbClr val="6B7280"/>
                </a:solidFill>
                <a:latin typeface="QuattrocentoSans" pitchFamily="34" charset="0"/>
                <a:ea typeface="QuattrocentoSans" pitchFamily="34" charset="-122"/>
                <a:cs typeface="QuattrocentoSans" pitchFamily="34" charset="-120"/>
              </a:rPr>
              <a:t>01</a:t>
            </a:r>
            <a:endParaRPr lang="en-US" sz="1400" dirty="0"/>
          </a:p>
        </p:txBody>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Shape 0"/>
          <p:cNvSpPr/>
          <p:nvPr/>
        </p:nvSpPr>
        <p:spPr>
          <a:xfrm>
            <a:off x="0" y="0"/>
            <a:ext cx="16256000" cy="457200"/>
          </a:xfrm>
          <a:prstGeom prst="rect">
            <a:avLst/>
          </a:prstGeom>
          <a:solidFill>
            <a:srgbClr val="1B4332"/>
          </a:solidFill>
          <a:ln/>
        </p:spPr>
      </p:sp>
      <p:sp>
        <p:nvSpPr>
          <p:cNvPr id="4" name="Text 1"/>
          <p:cNvSpPr/>
          <p:nvPr/>
        </p:nvSpPr>
        <p:spPr>
          <a:xfrm>
            <a:off x="762000" y="0"/>
            <a:ext cx="2540000" cy="457200"/>
          </a:xfrm>
          <a:prstGeom prst="rect">
            <a:avLst/>
          </a:prstGeom>
          <a:noFill/>
          <a:ln/>
        </p:spPr>
        <p:txBody>
          <a:bodyPr wrap="none" lIns="0" tIns="0" rIns="0" bIns="0" rtlCol="0" anchor="ctr"/>
          <a:lstStyle/>
          <a:p>
            <a:pPr>
              <a:lnSpc>
                <a:spcPct val="120000"/>
              </a:lnSpc>
            </a:pPr>
            <a:r>
              <a:rPr lang="en-US" sz="1300" dirty="0">
                <a:solidFill>
                  <a:srgbClr val="FFFFFF">
                    <a:alpha val="50000"/>
                  </a:srgbClr>
                </a:solidFill>
                <a:latin typeface="QuattrocentoSans" pitchFamily="34" charset="0"/>
                <a:ea typeface="QuattrocentoSans" pitchFamily="34" charset="-122"/>
                <a:cs typeface="QuattrocentoSans" pitchFamily="34" charset="-120"/>
              </a:rPr>
              <a:t>01 PROBLEMA</a:t>
            </a:r>
            <a:endParaRPr lang="en-US" sz="1300" dirty="0"/>
          </a:p>
        </p:txBody>
      </p:sp>
      <p:sp>
        <p:nvSpPr>
          <p:cNvPr id="5" name="Text 2"/>
          <p:cNvSpPr/>
          <p:nvPr/>
        </p:nvSpPr>
        <p:spPr>
          <a:xfrm>
            <a:off x="3556000" y="0"/>
            <a:ext cx="2540000" cy="457200"/>
          </a:xfrm>
          <a:prstGeom prst="rect">
            <a:avLst/>
          </a:prstGeom>
          <a:noFill/>
          <a:ln/>
        </p:spPr>
        <p:txBody>
          <a:bodyPr wrap="none" lIns="0" tIns="0" rIns="0" bIns="0" rtlCol="0" anchor="ctr"/>
          <a:lstStyle/>
          <a:p>
            <a:pPr>
              <a:lnSpc>
                <a:spcPct val="120000"/>
              </a:lnSpc>
            </a:pPr>
            <a:r>
              <a:rPr lang="en-US" sz="1300" b="1" dirty="0">
                <a:solidFill>
                  <a:srgbClr val="C9A227"/>
                </a:solidFill>
                <a:latin typeface="QuattrocentoSans" pitchFamily="34" charset="0"/>
                <a:ea typeface="QuattrocentoSans" pitchFamily="34" charset="-122"/>
                <a:cs typeface="QuattrocentoSans" pitchFamily="34" charset="-120"/>
              </a:rPr>
              <a:t>02</a:t>
            </a:r>
            <a:pPr>
              <a:lnSpc>
                <a:spcPct val="120000"/>
              </a:lnSpc>
            </a:pPr>
            <a:r>
              <a:rPr lang="en-US" sz="1300" dirty="0">
                <a:solidFill>
                  <a:srgbClr val="C9A227"/>
                </a:solidFill>
                <a:latin typeface="QuattrocentoSans" pitchFamily="34" charset="0"/>
                <a:ea typeface="QuattrocentoSans" pitchFamily="34" charset="-122"/>
                <a:cs typeface="QuattrocentoSans" pitchFamily="34" charset="-120"/>
              </a:rPr>
              <a:t> RUTA</a:t>
            </a:r>
            <a:endParaRPr lang="en-US" sz="1300" dirty="0"/>
          </a:p>
        </p:txBody>
      </p:sp>
      <p:sp>
        <p:nvSpPr>
          <p:cNvPr id="6" name="Text 3"/>
          <p:cNvSpPr/>
          <p:nvPr/>
        </p:nvSpPr>
        <p:spPr>
          <a:xfrm>
            <a:off x="6350000" y="0"/>
            <a:ext cx="3048000" cy="457200"/>
          </a:xfrm>
          <a:prstGeom prst="rect">
            <a:avLst/>
          </a:prstGeom>
          <a:noFill/>
          <a:ln/>
        </p:spPr>
        <p:txBody>
          <a:bodyPr wrap="none" lIns="0" tIns="0" rIns="0" bIns="0" rtlCol="0" anchor="ctr"/>
          <a:lstStyle/>
          <a:p>
            <a:pPr>
              <a:lnSpc>
                <a:spcPct val="120000"/>
              </a:lnSpc>
            </a:pPr>
            <a:r>
              <a:rPr lang="en-US" sz="1300" dirty="0">
                <a:solidFill>
                  <a:srgbClr val="FFFFFF">
                    <a:alpha val="50000"/>
                  </a:srgbClr>
                </a:solidFill>
                <a:latin typeface="QuattrocentoSans" pitchFamily="34" charset="0"/>
                <a:ea typeface="QuattrocentoSans" pitchFamily="34" charset="-122"/>
                <a:cs typeface="QuattrocentoSans" pitchFamily="34" charset="-120"/>
              </a:rPr>
              <a:t>03 ARQUITECTURA</a:t>
            </a:r>
            <a:endParaRPr lang="en-US" sz="1300" dirty="0"/>
          </a:p>
        </p:txBody>
      </p:sp>
      <p:sp>
        <p:nvSpPr>
          <p:cNvPr id="7" name="Text 4"/>
          <p:cNvSpPr/>
          <p:nvPr/>
        </p:nvSpPr>
        <p:spPr>
          <a:xfrm>
            <a:off x="9652000" y="0"/>
            <a:ext cx="2794000" cy="457200"/>
          </a:xfrm>
          <a:prstGeom prst="rect">
            <a:avLst/>
          </a:prstGeom>
          <a:noFill/>
          <a:ln/>
        </p:spPr>
        <p:txBody>
          <a:bodyPr wrap="none" lIns="0" tIns="0" rIns="0" bIns="0" rtlCol="0" anchor="ctr"/>
          <a:lstStyle/>
          <a:p>
            <a:pPr>
              <a:lnSpc>
                <a:spcPct val="120000"/>
              </a:lnSpc>
            </a:pPr>
            <a:r>
              <a:rPr lang="en-US" sz="1300" dirty="0">
                <a:solidFill>
                  <a:srgbClr val="FFFFFF">
                    <a:alpha val="50000"/>
                  </a:srgbClr>
                </a:solidFill>
                <a:latin typeface="QuattrocentoSans" pitchFamily="34" charset="0"/>
                <a:ea typeface="QuattrocentoSans" pitchFamily="34" charset="-122"/>
                <a:cs typeface="QuattrocentoSans" pitchFamily="34" charset="-120"/>
              </a:rPr>
              <a:t>04 PROTOTIPO</a:t>
            </a:r>
            <a:endParaRPr lang="en-US" sz="1300" dirty="0"/>
          </a:p>
        </p:txBody>
      </p:sp>
      <p:sp>
        <p:nvSpPr>
          <p:cNvPr id="8" name="Text 5"/>
          <p:cNvSpPr/>
          <p:nvPr/>
        </p:nvSpPr>
        <p:spPr>
          <a:xfrm>
            <a:off x="12700000" y="0"/>
            <a:ext cx="1651000" cy="457200"/>
          </a:xfrm>
          <a:prstGeom prst="rect">
            <a:avLst/>
          </a:prstGeom>
          <a:noFill/>
          <a:ln/>
        </p:spPr>
        <p:txBody>
          <a:bodyPr wrap="none" lIns="0" tIns="0" rIns="0" bIns="0" rtlCol="0" anchor="ctr"/>
          <a:lstStyle/>
          <a:p>
            <a:pPr>
              <a:lnSpc>
                <a:spcPct val="120000"/>
              </a:lnSpc>
            </a:pPr>
            <a:r>
              <a:rPr lang="en-US" sz="1300" dirty="0">
                <a:solidFill>
                  <a:srgbClr val="FFFFFF">
                    <a:alpha val="50000"/>
                  </a:srgbClr>
                </a:solidFill>
                <a:latin typeface="QuattrocentoSans" pitchFamily="34" charset="0"/>
                <a:ea typeface="QuattrocentoSans" pitchFamily="34" charset="-122"/>
                <a:cs typeface="QuattrocentoSans" pitchFamily="34" charset="-120"/>
              </a:rPr>
              <a:t>05 SIMULADOR</a:t>
            </a:r>
            <a:endParaRPr lang="en-US" sz="1300" dirty="0"/>
          </a:p>
        </p:txBody>
      </p:sp>
      <p:sp>
        <p:nvSpPr>
          <p:cNvPr id="9" name="Text 6"/>
          <p:cNvSpPr/>
          <p:nvPr/>
        </p:nvSpPr>
        <p:spPr>
          <a:xfrm>
            <a:off x="14414500" y="0"/>
            <a:ext cx="1333500" cy="457200"/>
          </a:xfrm>
          <a:prstGeom prst="rect">
            <a:avLst/>
          </a:prstGeom>
          <a:noFill/>
          <a:ln/>
        </p:spPr>
        <p:txBody>
          <a:bodyPr wrap="none" lIns="0" tIns="0" rIns="0" bIns="0" rtlCol="0" anchor="ctr"/>
          <a:lstStyle/>
          <a:p>
            <a:pPr>
              <a:lnSpc>
                <a:spcPct val="120000"/>
              </a:lnSpc>
            </a:pPr>
            <a:r>
              <a:rPr lang="en-US" sz="1300" dirty="0">
                <a:solidFill>
                  <a:srgbClr val="FFFFFF">
                    <a:alpha val="50000"/>
                  </a:srgbClr>
                </a:solidFill>
                <a:latin typeface="QuattrocentoSans" pitchFamily="34" charset="0"/>
                <a:ea typeface="QuattrocentoSans" pitchFamily="34" charset="-122"/>
                <a:cs typeface="QuattrocentoSans" pitchFamily="34" charset="-120"/>
              </a:rPr>
              <a:t>06 CIERRE</a:t>
            </a:r>
            <a:endParaRPr lang="en-US" sz="1300" dirty="0"/>
          </a:p>
        </p:txBody>
      </p:sp>
      <p:sp>
        <p:nvSpPr>
          <p:cNvPr id="10" name="Text 7"/>
          <p:cNvSpPr/>
          <p:nvPr/>
        </p:nvSpPr>
        <p:spPr>
          <a:xfrm>
            <a:off x="762000" y="660400"/>
            <a:ext cx="8890000" cy="533400"/>
          </a:xfrm>
          <a:prstGeom prst="rect">
            <a:avLst/>
          </a:prstGeom>
          <a:noFill/>
          <a:ln/>
        </p:spPr>
        <p:txBody>
          <a:bodyPr wrap="none" lIns="0" tIns="0" rIns="0" bIns="0" rtlCol="0" anchor="ctr"/>
          <a:lstStyle/>
          <a:p>
            <a:pPr>
              <a:lnSpc>
                <a:spcPct val="120000"/>
              </a:lnSpc>
            </a:pPr>
            <a:r>
              <a:rPr lang="en-US" sz="3200" b="1" dirty="0">
                <a:solidFill>
                  <a:srgbClr val="1B4332"/>
                </a:solidFill>
                <a:latin typeface="QuattrocentoSans" pitchFamily="34" charset="0"/>
                <a:ea typeface="QuattrocentoSans" pitchFamily="34" charset="-122"/>
                <a:cs typeface="QuattrocentoSans" pitchFamily="34" charset="-120"/>
              </a:rPr>
              <a:t>Ruta analítica implementada</a:t>
            </a:r>
            <a:endParaRPr lang="en-US" sz="3200" dirty="0"/>
          </a:p>
        </p:txBody>
      </p:sp>
      <p:sp>
        <p:nvSpPr>
          <p:cNvPr id="11" name="Shape 8"/>
          <p:cNvSpPr/>
          <p:nvPr/>
        </p:nvSpPr>
        <p:spPr>
          <a:xfrm>
            <a:off x="762000" y="1244600"/>
            <a:ext cx="762000" cy="50800"/>
          </a:xfrm>
          <a:prstGeom prst="rect">
            <a:avLst/>
          </a:prstGeom>
          <a:solidFill>
            <a:srgbClr val="C9A227"/>
          </a:solidFill>
          <a:ln/>
        </p:spPr>
      </p:sp>
      <p:sp>
        <p:nvSpPr>
          <p:cNvPr id="12" name="Text 9"/>
          <p:cNvSpPr/>
          <p:nvPr/>
        </p:nvSpPr>
        <p:spPr>
          <a:xfrm>
            <a:off x="762000" y="1371600"/>
            <a:ext cx="11430000" cy="355600"/>
          </a:xfrm>
          <a:prstGeom prst="rect">
            <a:avLst/>
          </a:prstGeom>
          <a:noFill/>
          <a:ln/>
        </p:spPr>
        <p:txBody>
          <a:bodyPr wrap="none" lIns="0" tIns="0" rIns="0" bIns="0" rtlCol="0" anchor="ctr"/>
          <a:lstStyle/>
          <a:p>
            <a:pPr>
              <a:lnSpc>
                <a:spcPct val="140000"/>
              </a:lnSpc>
            </a:pPr>
            <a:r>
              <a:rPr lang="en-US" sz="1400" dirty="0">
                <a:solidFill>
                  <a:srgbClr val="6B7280"/>
                </a:solidFill>
                <a:latin typeface="QuattrocentoSans" pitchFamily="34" charset="0"/>
                <a:ea typeface="QuattrocentoSans" pitchFamily="34" charset="-122"/>
                <a:cs typeface="QuattrocentoSans" pitchFamily="34" charset="-120"/>
              </a:rPr>
              <a:t>Tres capas interconectadas: diagnóstico → modelos → simulación</a:t>
            </a:r>
            <a:endParaRPr lang="en-US" sz="1400" dirty="0"/>
          </a:p>
        </p:txBody>
      </p:sp>
      <p:sp>
        <p:nvSpPr>
          <p:cNvPr id="13" name="Shape 10"/>
          <p:cNvSpPr/>
          <p:nvPr/>
        </p:nvSpPr>
        <p:spPr>
          <a:xfrm>
            <a:off x="762000" y="1905000"/>
            <a:ext cx="4699000" cy="6350000"/>
          </a:xfrm>
          <a:prstGeom prst="rect">
            <a:avLst/>
          </a:prstGeom>
          <a:solidFill>
            <a:srgbClr val="E8E0D4"/>
          </a:solidFill>
          <a:ln/>
        </p:spPr>
      </p:sp>
      <p:sp>
        <p:nvSpPr>
          <p:cNvPr id="14" name="Shape 11"/>
          <p:cNvSpPr/>
          <p:nvPr/>
        </p:nvSpPr>
        <p:spPr>
          <a:xfrm>
            <a:off x="762000" y="1905000"/>
            <a:ext cx="4699000" cy="762000"/>
          </a:xfrm>
          <a:prstGeom prst="rect">
            <a:avLst/>
          </a:prstGeom>
          <a:solidFill>
            <a:srgbClr val="1B4332"/>
          </a:solidFill>
          <a:ln/>
        </p:spPr>
      </p:sp>
      <p:sp>
        <p:nvSpPr>
          <p:cNvPr id="15" name="Text 12"/>
          <p:cNvSpPr/>
          <p:nvPr/>
        </p:nvSpPr>
        <p:spPr>
          <a:xfrm>
            <a:off x="914400" y="1905000"/>
            <a:ext cx="698500" cy="762000"/>
          </a:xfrm>
          <a:prstGeom prst="rect">
            <a:avLst/>
          </a:prstGeom>
          <a:noFill/>
          <a:ln/>
        </p:spPr>
        <p:txBody>
          <a:bodyPr wrap="none" lIns="0" tIns="0" rIns="0" bIns="0" rtlCol="0" anchor="ctr"/>
          <a:lstStyle/>
          <a:p>
            <a:pPr algn="ctr">
              <a:lnSpc>
                <a:spcPct val="100000"/>
              </a:lnSpc>
            </a:pPr>
            <a:r>
              <a:rPr lang="en-US" sz="3200" b="1" dirty="0">
                <a:solidFill>
                  <a:srgbClr val="C9A227"/>
                </a:solidFill>
                <a:latin typeface="Quattrocento Sans" pitchFamily="34" charset="0"/>
                <a:ea typeface="Quattrocento Sans" pitchFamily="34" charset="-122"/>
                <a:cs typeface="Quattrocento Sans" pitchFamily="34" charset="-120"/>
              </a:rPr>
              <a:t>01</a:t>
            </a:r>
            <a:endParaRPr lang="en-US" sz="1600" dirty="0"/>
          </a:p>
        </p:txBody>
      </p:sp>
      <p:sp>
        <p:nvSpPr>
          <p:cNvPr id="16" name="Text 13"/>
          <p:cNvSpPr/>
          <p:nvPr/>
        </p:nvSpPr>
        <p:spPr>
          <a:xfrm>
            <a:off x="1651000" y="1905000"/>
            <a:ext cx="3619500" cy="762000"/>
          </a:xfrm>
          <a:prstGeom prst="rect">
            <a:avLst/>
          </a:prstGeom>
          <a:noFill/>
          <a:ln/>
        </p:spPr>
        <p:txBody>
          <a:bodyPr wrap="none" lIns="0" tIns="0" rIns="0" bIns="0" rtlCol="0" anchor="ctr"/>
          <a:lstStyle/>
          <a:p>
            <a:pPr>
              <a:lnSpc>
                <a:spcPct val="100000"/>
              </a:lnSpc>
            </a:pPr>
            <a:r>
              <a:rPr lang="en-US" sz="1800" b="1" dirty="0">
                <a:solidFill>
                  <a:srgbClr val="FFFFFF"/>
                </a:solidFill>
                <a:latin typeface="Quattrocento Sans" pitchFamily="34" charset="0"/>
                <a:ea typeface="Quattrocento Sans" pitchFamily="34" charset="-122"/>
                <a:cs typeface="Quattrocento Sans" pitchFamily="34" charset="-120"/>
              </a:rPr>
              <a:t>Diagnóstico territorial</a:t>
            </a:r>
            <a:endParaRPr lang="en-US" sz="1600" dirty="0"/>
          </a:p>
        </p:txBody>
      </p:sp>
      <p:sp>
        <p:nvSpPr>
          <p:cNvPr id="17" name="Shape 14"/>
          <p:cNvSpPr/>
          <p:nvPr/>
        </p:nvSpPr>
        <p:spPr>
          <a:xfrm>
            <a:off x="958850" y="2895600"/>
            <a:ext cx="571500" cy="457200"/>
          </a:xfrm>
          <a:custGeom>
            <a:avLst/>
            <a:gdLst/>
            <a:ahLst/>
            <a:cxnLst/>
            <a:rect l="l" t="t" r="r" b="b"/>
            <a:pathLst>
              <a:path w="571500" h="457200">
                <a:moveTo>
                  <a:pt x="514350" y="42863"/>
                </a:moveTo>
                <a:cubicBezTo>
                  <a:pt x="514350" y="32951"/>
                  <a:pt x="509260" y="23753"/>
                  <a:pt x="500777" y="18574"/>
                </a:cubicBezTo>
                <a:cubicBezTo>
                  <a:pt x="492294" y="13395"/>
                  <a:pt x="481846" y="12859"/>
                  <a:pt x="473006" y="17324"/>
                </a:cubicBezTo>
                <a:lnTo>
                  <a:pt x="369243" y="69205"/>
                </a:lnTo>
                <a:lnTo>
                  <a:pt x="209044" y="15716"/>
                </a:lnTo>
                <a:cubicBezTo>
                  <a:pt x="201811" y="13305"/>
                  <a:pt x="194042" y="13841"/>
                  <a:pt x="187256" y="17234"/>
                </a:cubicBezTo>
                <a:lnTo>
                  <a:pt x="72956" y="74384"/>
                </a:lnTo>
                <a:cubicBezTo>
                  <a:pt x="63222" y="79296"/>
                  <a:pt x="57150" y="89208"/>
                  <a:pt x="57150" y="100013"/>
                </a:cubicBezTo>
                <a:lnTo>
                  <a:pt x="57150" y="414338"/>
                </a:lnTo>
                <a:cubicBezTo>
                  <a:pt x="57150" y="424249"/>
                  <a:pt x="62240" y="433447"/>
                  <a:pt x="70723" y="438626"/>
                </a:cubicBezTo>
                <a:cubicBezTo>
                  <a:pt x="79206" y="443805"/>
                  <a:pt x="89654" y="444341"/>
                  <a:pt x="98494" y="439876"/>
                </a:cubicBezTo>
                <a:lnTo>
                  <a:pt x="202168" y="387995"/>
                </a:lnTo>
                <a:lnTo>
                  <a:pt x="356920" y="439609"/>
                </a:lnTo>
                <a:cubicBezTo>
                  <a:pt x="353080" y="433894"/>
                  <a:pt x="349329" y="427911"/>
                  <a:pt x="345668" y="421838"/>
                </a:cubicBezTo>
                <a:cubicBezTo>
                  <a:pt x="335846" y="405497"/>
                  <a:pt x="326112" y="386745"/>
                  <a:pt x="318879" y="366653"/>
                </a:cubicBezTo>
                <a:lnTo>
                  <a:pt x="228511" y="336560"/>
                </a:lnTo>
                <a:lnTo>
                  <a:pt x="228511" y="82510"/>
                </a:lnTo>
                <a:lnTo>
                  <a:pt x="342811" y="120640"/>
                </a:lnTo>
                <a:lnTo>
                  <a:pt x="342811" y="209312"/>
                </a:lnTo>
                <a:cubicBezTo>
                  <a:pt x="370493" y="177344"/>
                  <a:pt x="411569" y="157162"/>
                  <a:pt x="457111" y="157162"/>
                </a:cubicBezTo>
                <a:cubicBezTo>
                  <a:pt x="477292" y="157162"/>
                  <a:pt x="496580" y="161092"/>
                  <a:pt x="514261" y="168325"/>
                </a:cubicBezTo>
                <a:lnTo>
                  <a:pt x="514350" y="42863"/>
                </a:lnTo>
                <a:close/>
                <a:moveTo>
                  <a:pt x="457200" y="200025"/>
                </a:moveTo>
                <a:cubicBezTo>
                  <a:pt x="397996" y="200025"/>
                  <a:pt x="350044" y="247174"/>
                  <a:pt x="350044" y="305306"/>
                </a:cubicBezTo>
                <a:cubicBezTo>
                  <a:pt x="350044" y="366832"/>
                  <a:pt x="407283" y="439609"/>
                  <a:pt x="438090" y="474345"/>
                </a:cubicBezTo>
                <a:cubicBezTo>
                  <a:pt x="448449" y="485954"/>
                  <a:pt x="466040" y="485954"/>
                  <a:pt x="476399" y="474345"/>
                </a:cubicBezTo>
                <a:cubicBezTo>
                  <a:pt x="507206" y="439609"/>
                  <a:pt x="564446" y="366832"/>
                  <a:pt x="564446" y="305306"/>
                </a:cubicBezTo>
                <a:cubicBezTo>
                  <a:pt x="564446" y="247174"/>
                  <a:pt x="516493" y="200025"/>
                  <a:pt x="457289" y="200025"/>
                </a:cubicBezTo>
                <a:close/>
                <a:moveTo>
                  <a:pt x="421481" y="307181"/>
                </a:moveTo>
                <a:cubicBezTo>
                  <a:pt x="421481" y="287468"/>
                  <a:pt x="437486" y="271463"/>
                  <a:pt x="457200" y="271463"/>
                </a:cubicBezTo>
                <a:cubicBezTo>
                  <a:pt x="476914" y="271463"/>
                  <a:pt x="492919" y="287468"/>
                  <a:pt x="492919" y="307181"/>
                </a:cubicBezTo>
                <a:cubicBezTo>
                  <a:pt x="492919" y="326895"/>
                  <a:pt x="476914" y="342900"/>
                  <a:pt x="457200" y="342900"/>
                </a:cubicBezTo>
                <a:cubicBezTo>
                  <a:pt x="437486" y="342900"/>
                  <a:pt x="421481" y="326895"/>
                  <a:pt x="421481" y="307181"/>
                </a:cubicBezTo>
                <a:close/>
              </a:path>
            </a:pathLst>
          </a:custGeom>
          <a:solidFill>
            <a:srgbClr val="1B4332"/>
          </a:solidFill>
          <a:ln/>
        </p:spPr>
      </p:sp>
      <p:sp>
        <p:nvSpPr>
          <p:cNvPr id="18" name="Text 15"/>
          <p:cNvSpPr/>
          <p:nvPr/>
        </p:nvSpPr>
        <p:spPr>
          <a:xfrm>
            <a:off x="1016000" y="3530600"/>
            <a:ext cx="4191000" cy="4635500"/>
          </a:xfrm>
          <a:prstGeom prst="rect">
            <a:avLst/>
          </a:prstGeom>
          <a:noFill/>
          <a:ln/>
        </p:spPr>
        <p:txBody>
          <a:bodyPr wrap="square" lIns="0" tIns="0" rIns="0" bIns="0" rtlCol="0" anchor="t"/>
          <a:lstStyle/>
          <a:p>
            <a:pPr>
              <a:lnSpc>
                <a:spcPct val="150000"/>
              </a:lnSpc>
            </a:pPr>
            <a:r>
              <a:rPr lang="en-US" sz="1500" b="1" dirty="0">
                <a:solidFill>
                  <a:srgbClr val="2D3436"/>
                </a:solidFill>
                <a:latin typeface="QuattrocentoSans" pitchFamily="34" charset="0"/>
                <a:ea typeface="QuattrocentoSans" pitchFamily="34" charset="-122"/>
                <a:cs typeface="QuattrocentoSans" pitchFamily="34" charset="-120"/>
              </a:rPr>
              <a:t>Producción mensual proxy</a:t>
            </a:r>
            <a:endParaRPr lang="en-US" sz="1800" dirty="0"/>
          </a:p>
          <a:p>
            <a:pPr>
              <a:lnSpc>
                <a:spcPct val="150000"/>
              </a:lnSpc>
              <a:spcBef>
                <a:spcPts val="200"/>
              </a:spcBef>
            </a:pPr>
            <a:r>
              <a:rPr lang="en-US" sz="1500" dirty="0">
                <a:solidFill>
                  <a:srgbClr val="6B7280"/>
                </a:solidFill>
                <a:latin typeface="QuattrocentoSans" pitchFamily="34" charset="0"/>
                <a:ea typeface="QuattrocentoSans" pitchFamily="34" charset="-122"/>
                <a:cs typeface="QuattrocentoSans" pitchFamily="34" charset="-120"/>
              </a:rPr>
              <a:t>Carga productiva por departamento</a:t>
            </a:r>
            <a:endParaRPr lang="en-US" sz="1800" dirty="0"/>
          </a:p>
          <a:p>
            <a:pPr>
              <a:lnSpc>
                <a:spcPct val="150000"/>
              </a:lnSpc>
              <a:spcBef>
                <a:spcPts val="800"/>
              </a:spcBef>
            </a:pPr>
            <a:r>
              <a:rPr lang="en-US" sz="1500" b="1" dirty="0">
                <a:solidFill>
                  <a:srgbClr val="2D3436"/>
                </a:solidFill>
                <a:latin typeface="QuattrocentoSans" pitchFamily="34" charset="0"/>
                <a:ea typeface="QuattrocentoSans" pitchFamily="34" charset="-122"/>
                <a:cs typeface="QuattrocentoSans" pitchFamily="34" charset="-120"/>
              </a:rPr>
              <a:t>Índice climático ajustado</a:t>
            </a:r>
            <a:endParaRPr lang="en-US" sz="1800" dirty="0"/>
          </a:p>
          <a:p>
            <a:pPr>
              <a:lnSpc>
                <a:spcPct val="150000"/>
              </a:lnSpc>
              <a:spcBef>
                <a:spcPts val="200"/>
              </a:spcBef>
            </a:pPr>
            <a:r>
              <a:rPr lang="en-US" sz="1500" dirty="0">
                <a:solidFill>
                  <a:srgbClr val="6B7280"/>
                </a:solidFill>
                <a:latin typeface="QuattrocentoSans" pitchFamily="34" charset="0"/>
                <a:ea typeface="QuattrocentoSans" pitchFamily="34" charset="-122"/>
                <a:cs typeface="QuattrocentoSans" pitchFamily="34" charset="-120"/>
              </a:rPr>
              <a:t>Precipitación y temperatura</a:t>
            </a:r>
            <a:endParaRPr lang="en-US" sz="1800" dirty="0"/>
          </a:p>
          <a:p>
            <a:pPr>
              <a:lnSpc>
                <a:spcPct val="150000"/>
              </a:lnSpc>
              <a:spcBef>
                <a:spcPts val="800"/>
              </a:spcBef>
            </a:pPr>
            <a:r>
              <a:rPr lang="en-US" sz="1500" b="1" dirty="0">
                <a:solidFill>
                  <a:srgbClr val="2D3436"/>
                </a:solidFill>
                <a:latin typeface="QuattrocentoSans" pitchFamily="34" charset="0"/>
                <a:ea typeface="QuattrocentoSans" pitchFamily="34" charset="-122"/>
                <a:cs typeface="QuattrocentoSans" pitchFamily="34" charset="-120"/>
              </a:rPr>
              <a:t>Alertas climáticas</a:t>
            </a:r>
            <a:endParaRPr lang="en-US" sz="1800" dirty="0"/>
          </a:p>
          <a:p>
            <a:pPr>
              <a:lnSpc>
                <a:spcPct val="150000"/>
              </a:lnSpc>
              <a:spcBef>
                <a:spcPts val="200"/>
              </a:spcBef>
            </a:pPr>
            <a:r>
              <a:rPr lang="en-US" sz="1500" dirty="0">
                <a:solidFill>
                  <a:srgbClr val="6B7280"/>
                </a:solidFill>
                <a:latin typeface="QuattrocentoSans" pitchFamily="34" charset="0"/>
                <a:ea typeface="QuattrocentoSans" pitchFamily="34" charset="-122"/>
                <a:cs typeface="QuattrocentoSans" pitchFamily="34" charset="-120"/>
              </a:rPr>
              <a:t>Condiciones adversas</a:t>
            </a:r>
            <a:endParaRPr lang="en-US" sz="1800" dirty="0"/>
          </a:p>
          <a:p>
            <a:pPr>
              <a:lnSpc>
                <a:spcPct val="150000"/>
              </a:lnSpc>
              <a:spcBef>
                <a:spcPts val="800"/>
              </a:spcBef>
            </a:pPr>
            <a:r>
              <a:rPr lang="en-US" sz="1500" b="1" dirty="0">
                <a:solidFill>
                  <a:srgbClr val="2D3436"/>
                </a:solidFill>
                <a:latin typeface="QuattrocentoSans" pitchFamily="34" charset="0"/>
                <a:ea typeface="QuattrocentoSans" pitchFamily="34" charset="-122"/>
                <a:cs typeface="QuattrocentoSans" pitchFamily="34" charset="-120"/>
              </a:rPr>
              <a:t>Contexto económico</a:t>
            </a:r>
            <a:endParaRPr lang="en-US" sz="1800" dirty="0"/>
          </a:p>
          <a:p>
            <a:pPr>
              <a:lnSpc>
                <a:spcPct val="150000"/>
              </a:lnSpc>
              <a:spcBef>
                <a:spcPts val="200"/>
              </a:spcBef>
            </a:pPr>
            <a:r>
              <a:rPr lang="en-US" sz="1500" dirty="0">
                <a:solidFill>
                  <a:srgbClr val="6B7280"/>
                </a:solidFill>
                <a:latin typeface="QuattrocentoSans" pitchFamily="34" charset="0"/>
                <a:ea typeface="QuattrocentoSans" pitchFamily="34" charset="-122"/>
                <a:cs typeface="QuattrocentoSans" pitchFamily="34" charset="-120"/>
              </a:rPr>
              <a:t>Precios internos, variables macro</a:t>
            </a:r>
            <a:endParaRPr lang="en-US" sz="1800" dirty="0"/>
          </a:p>
          <a:p>
            <a:pPr>
              <a:lnSpc>
                <a:spcPct val="150000"/>
              </a:lnSpc>
              <a:spcBef>
                <a:spcPts val="800"/>
              </a:spcBef>
            </a:pPr>
            <a:r>
              <a:rPr lang="en-US" sz="1500" b="1" dirty="0">
                <a:solidFill>
                  <a:srgbClr val="2D3436"/>
                </a:solidFill>
                <a:latin typeface="QuattrocentoSans" pitchFamily="34" charset="0"/>
                <a:ea typeface="QuattrocentoSans" pitchFamily="34" charset="-122"/>
                <a:cs typeface="QuattrocentoSans" pitchFamily="34" charset="-120"/>
              </a:rPr>
              <a:t>Comparación territorial</a:t>
            </a:r>
            <a:endParaRPr lang="en-US" sz="1800" dirty="0"/>
          </a:p>
          <a:p>
            <a:pPr>
              <a:lnSpc>
                <a:spcPct val="150000"/>
              </a:lnSpc>
              <a:spcBef>
                <a:spcPts val="200"/>
              </a:spcBef>
            </a:pPr>
            <a:r>
              <a:rPr lang="en-US" sz="1500" dirty="0">
                <a:solidFill>
                  <a:srgbClr val="6B7280"/>
                </a:solidFill>
                <a:latin typeface="QuattrocentoSans" pitchFamily="34" charset="0"/>
                <a:ea typeface="QuattrocentoSans" pitchFamily="34" charset="-122"/>
                <a:cs typeface="QuattrocentoSans" pitchFamily="34" charset="-120"/>
              </a:rPr>
              <a:t>Por departamento y año</a:t>
            </a:r>
            <a:endParaRPr lang="en-US" sz="1800" dirty="0"/>
          </a:p>
        </p:txBody>
      </p:sp>
      <p:sp>
        <p:nvSpPr>
          <p:cNvPr id="19" name="Shape 16"/>
          <p:cNvSpPr/>
          <p:nvPr/>
        </p:nvSpPr>
        <p:spPr>
          <a:xfrm>
            <a:off x="5778500" y="1905000"/>
            <a:ext cx="4699000" cy="6350000"/>
          </a:xfrm>
          <a:prstGeom prst="rect">
            <a:avLst/>
          </a:prstGeom>
          <a:solidFill>
            <a:srgbClr val="E8E0D4"/>
          </a:solidFill>
          <a:ln/>
        </p:spPr>
      </p:sp>
      <p:sp>
        <p:nvSpPr>
          <p:cNvPr id="20" name="Shape 17"/>
          <p:cNvSpPr/>
          <p:nvPr/>
        </p:nvSpPr>
        <p:spPr>
          <a:xfrm>
            <a:off x="5778500" y="1905000"/>
            <a:ext cx="4699000" cy="762000"/>
          </a:xfrm>
          <a:prstGeom prst="rect">
            <a:avLst/>
          </a:prstGeom>
          <a:solidFill>
            <a:srgbClr val="2D6A4F"/>
          </a:solidFill>
          <a:ln/>
        </p:spPr>
      </p:sp>
      <p:sp>
        <p:nvSpPr>
          <p:cNvPr id="21" name="Text 18"/>
          <p:cNvSpPr/>
          <p:nvPr/>
        </p:nvSpPr>
        <p:spPr>
          <a:xfrm>
            <a:off x="5842000" y="1905000"/>
            <a:ext cx="762000" cy="762000"/>
          </a:xfrm>
          <a:prstGeom prst="rect">
            <a:avLst/>
          </a:prstGeom>
          <a:noFill/>
          <a:ln/>
        </p:spPr>
        <p:txBody>
          <a:bodyPr wrap="none" lIns="0" tIns="0" rIns="0" bIns="0" rtlCol="0" anchor="ctr"/>
          <a:lstStyle/>
          <a:p>
            <a:pPr algn="ctr">
              <a:lnSpc>
                <a:spcPct val="100000"/>
              </a:lnSpc>
            </a:pPr>
            <a:r>
              <a:rPr lang="en-US" sz="3200" b="1" dirty="0">
                <a:solidFill>
                  <a:srgbClr val="C9A227"/>
                </a:solidFill>
                <a:latin typeface="Quattrocento Sans" pitchFamily="34" charset="0"/>
                <a:ea typeface="Quattrocento Sans" pitchFamily="34" charset="-122"/>
                <a:cs typeface="Quattrocento Sans" pitchFamily="34" charset="-120"/>
              </a:rPr>
              <a:t>02</a:t>
            </a:r>
            <a:endParaRPr lang="en-US" sz="1600" dirty="0"/>
          </a:p>
        </p:txBody>
      </p:sp>
      <p:sp>
        <p:nvSpPr>
          <p:cNvPr id="22" name="Text 19"/>
          <p:cNvSpPr/>
          <p:nvPr/>
        </p:nvSpPr>
        <p:spPr>
          <a:xfrm>
            <a:off x="6731000" y="1905000"/>
            <a:ext cx="3556000" cy="762000"/>
          </a:xfrm>
          <a:prstGeom prst="rect">
            <a:avLst/>
          </a:prstGeom>
          <a:noFill/>
          <a:ln/>
        </p:spPr>
        <p:txBody>
          <a:bodyPr wrap="none" lIns="0" tIns="0" rIns="0" bIns="0" rtlCol="0" anchor="ctr"/>
          <a:lstStyle/>
          <a:p>
            <a:pPr>
              <a:lnSpc>
                <a:spcPct val="100000"/>
              </a:lnSpc>
            </a:pPr>
            <a:r>
              <a:rPr lang="en-US" sz="1800" b="1" dirty="0">
                <a:solidFill>
                  <a:srgbClr val="FFFFFF"/>
                </a:solidFill>
                <a:latin typeface="Quattrocento Sans" pitchFamily="34" charset="0"/>
                <a:ea typeface="Quattrocento Sans" pitchFamily="34" charset="-122"/>
                <a:cs typeface="Quattrocento Sans" pitchFamily="34" charset="-120"/>
              </a:rPr>
              <a:t>Trazabilidad metodológica</a:t>
            </a:r>
            <a:endParaRPr lang="en-US" sz="1600" dirty="0"/>
          </a:p>
        </p:txBody>
      </p:sp>
      <p:sp>
        <p:nvSpPr>
          <p:cNvPr id="23" name="Shape 20"/>
          <p:cNvSpPr/>
          <p:nvPr/>
        </p:nvSpPr>
        <p:spPr>
          <a:xfrm>
            <a:off x="6032500" y="2895600"/>
            <a:ext cx="457200" cy="457200"/>
          </a:xfrm>
          <a:custGeom>
            <a:avLst/>
            <a:gdLst/>
            <a:ahLst/>
            <a:cxnLst/>
            <a:rect l="l" t="t" r="r" b="b"/>
            <a:pathLst>
              <a:path w="457200" h="457200">
                <a:moveTo>
                  <a:pt x="157163" y="0"/>
                </a:moveTo>
                <a:cubicBezTo>
                  <a:pt x="133499" y="0"/>
                  <a:pt x="114300" y="19199"/>
                  <a:pt x="114300" y="42863"/>
                </a:cubicBezTo>
                <a:lnTo>
                  <a:pt x="114300" y="228600"/>
                </a:lnTo>
                <a:cubicBezTo>
                  <a:pt x="114300" y="252264"/>
                  <a:pt x="133499" y="271463"/>
                  <a:pt x="157163" y="271463"/>
                </a:cubicBezTo>
                <a:lnTo>
                  <a:pt x="214313" y="271463"/>
                </a:lnTo>
                <a:cubicBezTo>
                  <a:pt x="237976" y="271463"/>
                  <a:pt x="257175" y="252264"/>
                  <a:pt x="257175" y="228600"/>
                </a:cubicBezTo>
                <a:lnTo>
                  <a:pt x="257175" y="171450"/>
                </a:lnTo>
                <a:lnTo>
                  <a:pt x="285750" y="171450"/>
                </a:lnTo>
                <a:cubicBezTo>
                  <a:pt x="348883" y="171450"/>
                  <a:pt x="400050" y="222617"/>
                  <a:pt x="400050" y="285750"/>
                </a:cubicBezTo>
                <a:cubicBezTo>
                  <a:pt x="400050" y="348883"/>
                  <a:pt x="348883" y="400050"/>
                  <a:pt x="285750" y="400050"/>
                </a:cubicBezTo>
                <a:lnTo>
                  <a:pt x="28575" y="400050"/>
                </a:lnTo>
                <a:cubicBezTo>
                  <a:pt x="12769" y="400050"/>
                  <a:pt x="0" y="412819"/>
                  <a:pt x="0" y="428625"/>
                </a:cubicBezTo>
                <a:cubicBezTo>
                  <a:pt x="0" y="444431"/>
                  <a:pt x="12769" y="457200"/>
                  <a:pt x="28575" y="457200"/>
                </a:cubicBezTo>
                <a:lnTo>
                  <a:pt x="428625" y="457200"/>
                </a:lnTo>
                <a:cubicBezTo>
                  <a:pt x="444431" y="457200"/>
                  <a:pt x="457200" y="444431"/>
                  <a:pt x="457200" y="428625"/>
                </a:cubicBezTo>
                <a:cubicBezTo>
                  <a:pt x="457200" y="412819"/>
                  <a:pt x="444431" y="400050"/>
                  <a:pt x="428625" y="400050"/>
                </a:cubicBezTo>
                <a:lnTo>
                  <a:pt x="413534" y="400050"/>
                </a:lnTo>
                <a:cubicBezTo>
                  <a:pt x="440680" y="369689"/>
                  <a:pt x="457200" y="329684"/>
                  <a:pt x="457200" y="285750"/>
                </a:cubicBezTo>
                <a:cubicBezTo>
                  <a:pt x="457200" y="191095"/>
                  <a:pt x="380405" y="114300"/>
                  <a:pt x="285750" y="114300"/>
                </a:cubicBezTo>
                <a:lnTo>
                  <a:pt x="257175" y="114300"/>
                </a:lnTo>
                <a:lnTo>
                  <a:pt x="257175" y="42863"/>
                </a:lnTo>
                <a:cubicBezTo>
                  <a:pt x="257175" y="19199"/>
                  <a:pt x="237976" y="0"/>
                  <a:pt x="214313" y="0"/>
                </a:cubicBezTo>
                <a:lnTo>
                  <a:pt x="157163" y="0"/>
                </a:lnTo>
                <a:close/>
                <a:moveTo>
                  <a:pt x="107156" y="314325"/>
                </a:moveTo>
                <a:cubicBezTo>
                  <a:pt x="95280" y="314325"/>
                  <a:pt x="85725" y="323880"/>
                  <a:pt x="85725" y="335756"/>
                </a:cubicBezTo>
                <a:cubicBezTo>
                  <a:pt x="85725" y="347633"/>
                  <a:pt x="95280" y="357188"/>
                  <a:pt x="107156" y="357188"/>
                </a:cubicBezTo>
                <a:lnTo>
                  <a:pt x="264319" y="357188"/>
                </a:lnTo>
                <a:cubicBezTo>
                  <a:pt x="276195" y="357188"/>
                  <a:pt x="285750" y="347633"/>
                  <a:pt x="285750" y="335756"/>
                </a:cubicBezTo>
                <a:cubicBezTo>
                  <a:pt x="285750" y="323880"/>
                  <a:pt x="276195" y="314325"/>
                  <a:pt x="264319" y="314325"/>
                </a:cubicBezTo>
                <a:lnTo>
                  <a:pt x="107156" y="314325"/>
                </a:lnTo>
                <a:close/>
              </a:path>
            </a:pathLst>
          </a:custGeom>
          <a:solidFill>
            <a:srgbClr val="2D6A4F"/>
          </a:solidFill>
          <a:ln/>
        </p:spPr>
      </p:sp>
      <p:sp>
        <p:nvSpPr>
          <p:cNvPr id="24" name="Text 21"/>
          <p:cNvSpPr/>
          <p:nvPr/>
        </p:nvSpPr>
        <p:spPr>
          <a:xfrm>
            <a:off x="6032500" y="3530600"/>
            <a:ext cx="4191000" cy="4699000"/>
          </a:xfrm>
          <a:prstGeom prst="rect">
            <a:avLst/>
          </a:prstGeom>
          <a:noFill/>
          <a:ln/>
        </p:spPr>
        <p:txBody>
          <a:bodyPr wrap="square" lIns="0" tIns="0" rIns="0" bIns="0" rtlCol="0" anchor="t"/>
          <a:lstStyle/>
          <a:p>
            <a:pPr>
              <a:lnSpc>
                <a:spcPct val="155000"/>
              </a:lnSpc>
            </a:pPr>
            <a:r>
              <a:rPr lang="en-US" sz="1500" b="1" dirty="0">
                <a:solidFill>
                  <a:srgbClr val="2D3436"/>
                </a:solidFill>
                <a:latin typeface="QuattrocentoSans" pitchFamily="34" charset="0"/>
                <a:ea typeface="QuattrocentoSans" pitchFamily="34" charset="-122"/>
                <a:cs typeface="QuattrocentoSans" pitchFamily="34" charset="-120"/>
              </a:rPr>
              <a:t>Modelos probados</a:t>
            </a:r>
            <a:endParaRPr lang="en-US" sz="1800" dirty="0"/>
          </a:p>
          <a:p>
            <a:pPr>
              <a:lnSpc>
                <a:spcPct val="155000"/>
              </a:lnSpc>
              <a:spcBef>
                <a:spcPts val="300"/>
              </a:spcBef>
            </a:pPr>
            <a:r>
              <a:rPr lang="en-US" sz="1500" dirty="0">
                <a:solidFill>
                  <a:srgbClr val="6B7280"/>
                </a:solidFill>
                <a:latin typeface="QuattrocentoSans" pitchFamily="34" charset="0"/>
                <a:ea typeface="QuattrocentoSans" pitchFamily="34" charset="-122"/>
                <a:cs typeface="QuattrocentoSans" pitchFamily="34" charset="-120"/>
              </a:rPr>
              <a:t>Ridge, Random Forest, XGBoost</a:t>
            </a:r>
            <a:endParaRPr lang="en-US" sz="1800" dirty="0"/>
          </a:p>
          <a:p>
            <a:pPr>
              <a:lnSpc>
                <a:spcPct val="155000"/>
              </a:lnSpc>
              <a:spcBef>
                <a:spcPts val="1000"/>
              </a:spcBef>
            </a:pPr>
            <a:r>
              <a:rPr lang="en-US" sz="1500" b="1" dirty="0">
                <a:solidFill>
                  <a:srgbClr val="2D3436"/>
                </a:solidFill>
                <a:latin typeface="QuattrocentoSans" pitchFamily="34" charset="0"/>
                <a:ea typeface="QuattrocentoSans" pitchFamily="34" charset="-122"/>
                <a:cs typeface="QuattrocentoSans" pitchFamily="34" charset="-120"/>
              </a:rPr>
              <a:t>Métricas comparativas</a:t>
            </a:r>
            <a:endParaRPr lang="en-US" sz="1800" dirty="0"/>
          </a:p>
          <a:p>
            <a:pPr>
              <a:lnSpc>
                <a:spcPct val="155000"/>
              </a:lnSpc>
              <a:spcBef>
                <a:spcPts val="300"/>
              </a:spcBef>
            </a:pPr>
            <a:r>
              <a:rPr lang="en-US" sz="1500" dirty="0">
                <a:solidFill>
                  <a:srgbClr val="6B7280"/>
                </a:solidFill>
                <a:latin typeface="QuattrocentoSans" pitchFamily="34" charset="0"/>
                <a:ea typeface="QuattrocentoSans" pitchFamily="34" charset="-122"/>
                <a:cs typeface="QuattrocentoSans" pitchFamily="34" charset="-120"/>
              </a:rPr>
              <a:t>RMSE, MAE, R² por capa temporal</a:t>
            </a:r>
            <a:endParaRPr lang="en-US" sz="1800" dirty="0"/>
          </a:p>
          <a:p>
            <a:pPr>
              <a:lnSpc>
                <a:spcPct val="155000"/>
              </a:lnSpc>
              <a:spcBef>
                <a:spcPts val="1000"/>
              </a:spcBef>
            </a:pPr>
            <a:r>
              <a:rPr lang="en-US" sz="1500" b="1" dirty="0">
                <a:solidFill>
                  <a:srgbClr val="2D3436"/>
                </a:solidFill>
                <a:latin typeface="QuattrocentoSans" pitchFamily="34" charset="0"/>
                <a:ea typeface="QuattrocentoSans" pitchFamily="34" charset="-122"/>
                <a:cs typeface="QuattrocentoSans" pitchFamily="34" charset="-120"/>
              </a:rPr>
              <a:t>Selección final</a:t>
            </a:r>
            <a:endParaRPr lang="en-US" sz="1800" dirty="0"/>
          </a:p>
          <a:p>
            <a:pPr>
              <a:lnSpc>
                <a:spcPct val="155000"/>
              </a:lnSpc>
              <a:spcBef>
                <a:spcPts val="300"/>
              </a:spcBef>
            </a:pPr>
            <a:r>
              <a:rPr lang="en-US" sz="1500" dirty="0">
                <a:solidFill>
                  <a:srgbClr val="6B7280"/>
                </a:solidFill>
                <a:latin typeface="QuattrocentoSans" pitchFamily="34" charset="0"/>
                <a:ea typeface="QuattrocentoSans" pitchFamily="34" charset="-122"/>
                <a:cs typeface="QuattrocentoSans" pitchFamily="34" charset="-120"/>
              </a:rPr>
              <a:t>V7 (semanal), M6 (mensual), M5 (climático), A1 (anual)</a:t>
            </a:r>
            <a:endParaRPr lang="en-US" sz="1800" dirty="0"/>
          </a:p>
          <a:p>
            <a:pPr>
              <a:lnSpc>
                <a:spcPct val="155000"/>
              </a:lnSpc>
              <a:spcBef>
                <a:spcPts val="1000"/>
              </a:spcBef>
            </a:pPr>
            <a:r>
              <a:rPr lang="en-US" sz="1500" b="1" dirty="0">
                <a:solidFill>
                  <a:srgbClr val="2D3436"/>
                </a:solidFill>
                <a:latin typeface="QuattrocentoSans" pitchFamily="34" charset="0"/>
                <a:ea typeface="QuattrocentoSans" pitchFamily="34" charset="-122"/>
                <a:cs typeface="QuattrocentoSans" pitchFamily="34" charset="-120"/>
              </a:rPr>
              <a:t>Ventajas y limitaciones</a:t>
            </a:r>
            <a:endParaRPr lang="en-US" sz="1800" dirty="0"/>
          </a:p>
          <a:p>
            <a:pPr>
              <a:lnSpc>
                <a:spcPct val="155000"/>
              </a:lnSpc>
              <a:spcBef>
                <a:spcPts val="300"/>
              </a:spcBef>
            </a:pPr>
            <a:r>
              <a:rPr lang="en-US" sz="1500" dirty="0">
                <a:solidFill>
                  <a:srgbClr val="6B7280"/>
                </a:solidFill>
                <a:latin typeface="QuattrocentoSans" pitchFamily="34" charset="0"/>
                <a:ea typeface="QuattrocentoSans" pitchFamily="34" charset="-122"/>
                <a:cs typeface="QuattrocentoSans" pitchFamily="34" charset="-120"/>
              </a:rPr>
              <a:t>Documentadas por modelo</a:t>
            </a:r>
            <a:endParaRPr lang="en-US" sz="1800" dirty="0"/>
          </a:p>
        </p:txBody>
      </p:sp>
      <p:sp>
        <p:nvSpPr>
          <p:cNvPr id="25" name="Shape 22"/>
          <p:cNvSpPr/>
          <p:nvPr/>
        </p:nvSpPr>
        <p:spPr>
          <a:xfrm>
            <a:off x="10795000" y="1905000"/>
            <a:ext cx="4699000" cy="6350000"/>
          </a:xfrm>
          <a:prstGeom prst="rect">
            <a:avLst/>
          </a:prstGeom>
          <a:solidFill>
            <a:srgbClr val="E8E0D4"/>
          </a:solidFill>
          <a:ln/>
        </p:spPr>
      </p:sp>
      <p:sp>
        <p:nvSpPr>
          <p:cNvPr id="26" name="Shape 23"/>
          <p:cNvSpPr/>
          <p:nvPr/>
        </p:nvSpPr>
        <p:spPr>
          <a:xfrm>
            <a:off x="10795000" y="1905000"/>
            <a:ext cx="4699000" cy="762000"/>
          </a:xfrm>
          <a:prstGeom prst="rect">
            <a:avLst/>
          </a:prstGeom>
          <a:solidFill>
            <a:srgbClr val="52796F"/>
          </a:solidFill>
          <a:ln/>
        </p:spPr>
      </p:sp>
      <p:sp>
        <p:nvSpPr>
          <p:cNvPr id="27" name="Text 24"/>
          <p:cNvSpPr/>
          <p:nvPr/>
        </p:nvSpPr>
        <p:spPr>
          <a:xfrm>
            <a:off x="10858500" y="1905000"/>
            <a:ext cx="762000" cy="762000"/>
          </a:xfrm>
          <a:prstGeom prst="rect">
            <a:avLst/>
          </a:prstGeom>
          <a:noFill/>
          <a:ln/>
        </p:spPr>
        <p:txBody>
          <a:bodyPr wrap="none" lIns="0" tIns="0" rIns="0" bIns="0" rtlCol="0" anchor="ctr"/>
          <a:lstStyle/>
          <a:p>
            <a:pPr algn="ctr">
              <a:lnSpc>
                <a:spcPct val="100000"/>
              </a:lnSpc>
            </a:pPr>
            <a:r>
              <a:rPr lang="en-US" sz="3200" b="1" dirty="0">
                <a:solidFill>
                  <a:srgbClr val="C9A227"/>
                </a:solidFill>
                <a:latin typeface="Quattrocento Sans" pitchFamily="34" charset="0"/>
                <a:ea typeface="Quattrocento Sans" pitchFamily="34" charset="-122"/>
                <a:cs typeface="Quattrocento Sans" pitchFamily="34" charset="-120"/>
              </a:rPr>
              <a:t>03</a:t>
            </a:r>
            <a:endParaRPr lang="en-US" sz="1600" dirty="0"/>
          </a:p>
        </p:txBody>
      </p:sp>
      <p:sp>
        <p:nvSpPr>
          <p:cNvPr id="28" name="Text 25"/>
          <p:cNvSpPr/>
          <p:nvPr/>
        </p:nvSpPr>
        <p:spPr>
          <a:xfrm>
            <a:off x="11747500" y="1905000"/>
            <a:ext cx="3556000" cy="762000"/>
          </a:xfrm>
          <a:prstGeom prst="rect">
            <a:avLst/>
          </a:prstGeom>
          <a:noFill/>
          <a:ln/>
        </p:spPr>
        <p:txBody>
          <a:bodyPr wrap="none" lIns="0" tIns="0" rIns="0" bIns="0" rtlCol="0" anchor="ctr"/>
          <a:lstStyle/>
          <a:p>
            <a:pPr>
              <a:lnSpc>
                <a:spcPct val="100000"/>
              </a:lnSpc>
            </a:pPr>
            <a:r>
              <a:rPr lang="en-US" sz="1800" b="1" dirty="0">
                <a:solidFill>
                  <a:srgbClr val="FFFFFF"/>
                </a:solidFill>
                <a:latin typeface="Quattrocento Sans" pitchFamily="34" charset="0"/>
                <a:ea typeface="Quattrocento Sans" pitchFamily="34" charset="-122"/>
                <a:cs typeface="Quattrocento Sans" pitchFamily="34" charset="-120"/>
              </a:rPr>
              <a:t>Simulación técnica</a:t>
            </a:r>
            <a:endParaRPr lang="en-US" sz="1600" dirty="0"/>
          </a:p>
        </p:txBody>
      </p:sp>
      <p:sp>
        <p:nvSpPr>
          <p:cNvPr id="29" name="Shape 26"/>
          <p:cNvSpPr/>
          <p:nvPr/>
        </p:nvSpPr>
        <p:spPr>
          <a:xfrm>
            <a:off x="11049000" y="2895600"/>
            <a:ext cx="457200" cy="457200"/>
          </a:xfrm>
          <a:custGeom>
            <a:avLst/>
            <a:gdLst/>
            <a:ahLst/>
            <a:cxnLst/>
            <a:rect l="l" t="t" r="r" b="b"/>
            <a:pathLst>
              <a:path w="457200" h="457200">
                <a:moveTo>
                  <a:pt x="28575" y="57150"/>
                </a:moveTo>
                <a:cubicBezTo>
                  <a:pt x="12769" y="57150"/>
                  <a:pt x="0" y="69919"/>
                  <a:pt x="0" y="85725"/>
                </a:cubicBezTo>
                <a:cubicBezTo>
                  <a:pt x="0" y="101531"/>
                  <a:pt x="12769" y="114300"/>
                  <a:pt x="28575" y="114300"/>
                </a:cubicBezTo>
                <a:lnTo>
                  <a:pt x="105995" y="114300"/>
                </a:lnTo>
                <a:cubicBezTo>
                  <a:pt x="116979" y="139571"/>
                  <a:pt x="142161" y="157163"/>
                  <a:pt x="171450" y="157163"/>
                </a:cubicBezTo>
                <a:cubicBezTo>
                  <a:pt x="200739" y="157163"/>
                  <a:pt x="225921" y="139571"/>
                  <a:pt x="236905" y="114300"/>
                </a:cubicBezTo>
                <a:lnTo>
                  <a:pt x="428625" y="114300"/>
                </a:lnTo>
                <a:cubicBezTo>
                  <a:pt x="444431" y="114300"/>
                  <a:pt x="457200" y="101531"/>
                  <a:pt x="457200" y="85725"/>
                </a:cubicBezTo>
                <a:cubicBezTo>
                  <a:pt x="457200" y="69919"/>
                  <a:pt x="444431" y="57150"/>
                  <a:pt x="428625" y="57150"/>
                </a:cubicBezTo>
                <a:lnTo>
                  <a:pt x="236905" y="57150"/>
                </a:lnTo>
                <a:cubicBezTo>
                  <a:pt x="225921" y="31879"/>
                  <a:pt x="200739" y="14288"/>
                  <a:pt x="171450" y="14288"/>
                </a:cubicBezTo>
                <a:cubicBezTo>
                  <a:pt x="142161" y="14288"/>
                  <a:pt x="116979" y="31879"/>
                  <a:pt x="105995" y="57150"/>
                </a:cubicBezTo>
                <a:lnTo>
                  <a:pt x="28575" y="57150"/>
                </a:lnTo>
                <a:close/>
                <a:moveTo>
                  <a:pt x="28575" y="200025"/>
                </a:moveTo>
                <a:cubicBezTo>
                  <a:pt x="12769" y="200025"/>
                  <a:pt x="0" y="212794"/>
                  <a:pt x="0" y="228600"/>
                </a:cubicBezTo>
                <a:cubicBezTo>
                  <a:pt x="0" y="244406"/>
                  <a:pt x="12769" y="257175"/>
                  <a:pt x="28575" y="257175"/>
                </a:cubicBezTo>
                <a:lnTo>
                  <a:pt x="248870" y="257175"/>
                </a:lnTo>
                <a:cubicBezTo>
                  <a:pt x="259854" y="282446"/>
                  <a:pt x="285036" y="300038"/>
                  <a:pt x="314325" y="300038"/>
                </a:cubicBezTo>
                <a:cubicBezTo>
                  <a:pt x="343614" y="300038"/>
                  <a:pt x="368796" y="282446"/>
                  <a:pt x="379780" y="257175"/>
                </a:cubicBezTo>
                <a:lnTo>
                  <a:pt x="428625" y="257175"/>
                </a:lnTo>
                <a:cubicBezTo>
                  <a:pt x="444431" y="257175"/>
                  <a:pt x="457200" y="244406"/>
                  <a:pt x="457200" y="228600"/>
                </a:cubicBezTo>
                <a:cubicBezTo>
                  <a:pt x="457200" y="212794"/>
                  <a:pt x="444431" y="200025"/>
                  <a:pt x="428625" y="200025"/>
                </a:cubicBezTo>
                <a:lnTo>
                  <a:pt x="379780" y="200025"/>
                </a:lnTo>
                <a:cubicBezTo>
                  <a:pt x="368796" y="174754"/>
                  <a:pt x="343614" y="157163"/>
                  <a:pt x="314325" y="157163"/>
                </a:cubicBezTo>
                <a:cubicBezTo>
                  <a:pt x="285036" y="157163"/>
                  <a:pt x="259854" y="174754"/>
                  <a:pt x="248870" y="200025"/>
                </a:cubicBezTo>
                <a:lnTo>
                  <a:pt x="28575" y="200025"/>
                </a:lnTo>
                <a:close/>
                <a:moveTo>
                  <a:pt x="28575" y="342900"/>
                </a:moveTo>
                <a:cubicBezTo>
                  <a:pt x="12769" y="342900"/>
                  <a:pt x="0" y="355669"/>
                  <a:pt x="0" y="371475"/>
                </a:cubicBezTo>
                <a:cubicBezTo>
                  <a:pt x="0" y="387281"/>
                  <a:pt x="12769" y="400050"/>
                  <a:pt x="28575" y="400050"/>
                </a:cubicBezTo>
                <a:lnTo>
                  <a:pt x="77420" y="400050"/>
                </a:lnTo>
                <a:cubicBezTo>
                  <a:pt x="88404" y="425321"/>
                  <a:pt x="113586" y="442913"/>
                  <a:pt x="142875" y="442913"/>
                </a:cubicBezTo>
                <a:cubicBezTo>
                  <a:pt x="172164" y="442913"/>
                  <a:pt x="197346" y="425321"/>
                  <a:pt x="208330" y="400050"/>
                </a:cubicBezTo>
                <a:lnTo>
                  <a:pt x="428625" y="400050"/>
                </a:lnTo>
                <a:cubicBezTo>
                  <a:pt x="444431" y="400050"/>
                  <a:pt x="457200" y="387281"/>
                  <a:pt x="457200" y="371475"/>
                </a:cubicBezTo>
                <a:cubicBezTo>
                  <a:pt x="457200" y="355669"/>
                  <a:pt x="444431" y="342900"/>
                  <a:pt x="428625" y="342900"/>
                </a:cubicBezTo>
                <a:lnTo>
                  <a:pt x="208330" y="342900"/>
                </a:lnTo>
                <a:cubicBezTo>
                  <a:pt x="197346" y="317629"/>
                  <a:pt x="172164" y="300038"/>
                  <a:pt x="142875" y="300038"/>
                </a:cubicBezTo>
                <a:cubicBezTo>
                  <a:pt x="113586" y="300038"/>
                  <a:pt x="88404" y="317629"/>
                  <a:pt x="77420" y="342900"/>
                </a:cubicBezTo>
                <a:lnTo>
                  <a:pt x="28575" y="342900"/>
                </a:lnTo>
                <a:close/>
              </a:path>
            </a:pathLst>
          </a:custGeom>
          <a:solidFill>
            <a:srgbClr val="52796F"/>
          </a:solidFill>
          <a:ln/>
        </p:spPr>
      </p:sp>
      <p:sp>
        <p:nvSpPr>
          <p:cNvPr id="30" name="Text 27"/>
          <p:cNvSpPr/>
          <p:nvPr/>
        </p:nvSpPr>
        <p:spPr>
          <a:xfrm>
            <a:off x="11049000" y="3530600"/>
            <a:ext cx="4191000" cy="4635500"/>
          </a:xfrm>
          <a:prstGeom prst="rect">
            <a:avLst/>
          </a:prstGeom>
          <a:noFill/>
          <a:ln/>
        </p:spPr>
        <p:txBody>
          <a:bodyPr wrap="square" lIns="0" tIns="0" rIns="0" bIns="0" rtlCol="0" anchor="t"/>
          <a:lstStyle/>
          <a:p>
            <a:pPr>
              <a:lnSpc>
                <a:spcPct val="155000"/>
              </a:lnSpc>
            </a:pPr>
            <a:r>
              <a:rPr lang="en-US" sz="1500" b="1" dirty="0">
                <a:solidFill>
                  <a:srgbClr val="2D3436"/>
                </a:solidFill>
                <a:latin typeface="QuattrocentoSans" pitchFamily="34" charset="0"/>
                <a:ea typeface="QuattrocentoSans" pitchFamily="34" charset="-122"/>
                <a:cs typeface="QuattrocentoSans" pitchFamily="34" charset="-120"/>
              </a:rPr>
              <a:t>Escenario ajustable</a:t>
            </a:r>
            <a:endParaRPr lang="en-US" sz="1800" dirty="0"/>
          </a:p>
          <a:p>
            <a:pPr>
              <a:lnSpc>
                <a:spcPct val="155000"/>
              </a:lnSpc>
              <a:spcBef>
                <a:spcPts val="300"/>
              </a:spcBef>
            </a:pPr>
            <a:r>
              <a:rPr lang="en-US" sz="1500" dirty="0">
                <a:solidFill>
                  <a:srgbClr val="6B7280"/>
                </a:solidFill>
                <a:latin typeface="QuattrocentoSans" pitchFamily="34" charset="0"/>
                <a:ea typeface="QuattrocentoSans" pitchFamily="34" charset="-122"/>
                <a:cs typeface="QuattrocentoSans" pitchFamily="34" charset="-120"/>
              </a:rPr>
              <a:t>Variables climáticas y económicas</a:t>
            </a:r>
            <a:endParaRPr lang="en-US" sz="1800" dirty="0"/>
          </a:p>
          <a:p>
            <a:pPr>
              <a:lnSpc>
                <a:spcPct val="155000"/>
              </a:lnSpc>
              <a:spcBef>
                <a:spcPts val="1000"/>
              </a:spcBef>
            </a:pPr>
            <a:r>
              <a:rPr lang="en-US" sz="1500" b="1" dirty="0">
                <a:solidFill>
                  <a:srgbClr val="2D3436"/>
                </a:solidFill>
                <a:latin typeface="QuattrocentoSans" pitchFamily="34" charset="0"/>
                <a:ea typeface="QuattrocentoSans" pitchFamily="34" charset="-122"/>
                <a:cs typeface="QuattrocentoSans" pitchFamily="34" charset="-120"/>
              </a:rPr>
              <a:t>Producción base vs. simulada</a:t>
            </a:r>
            <a:endParaRPr lang="en-US" sz="1800" dirty="0"/>
          </a:p>
          <a:p>
            <a:pPr>
              <a:lnSpc>
                <a:spcPct val="155000"/>
              </a:lnSpc>
              <a:spcBef>
                <a:spcPts val="300"/>
              </a:spcBef>
            </a:pPr>
            <a:r>
              <a:rPr lang="en-US" sz="1500" dirty="0">
                <a:solidFill>
                  <a:srgbClr val="6B7280"/>
                </a:solidFill>
                <a:latin typeface="QuattrocentoSans" pitchFamily="34" charset="0"/>
                <a:ea typeface="QuattrocentoSans" pitchFamily="34" charset="-122"/>
                <a:cs typeface="QuattrocentoSans" pitchFamily="34" charset="-120"/>
              </a:rPr>
              <a:t>M6 base operativa, M5 sensibilidad</a:t>
            </a:r>
            <a:endParaRPr lang="en-US" sz="1800" dirty="0"/>
          </a:p>
          <a:p>
            <a:pPr>
              <a:lnSpc>
                <a:spcPct val="155000"/>
              </a:lnSpc>
              <a:spcBef>
                <a:spcPts val="1000"/>
              </a:spcBef>
            </a:pPr>
            <a:r>
              <a:rPr lang="en-US" sz="1500" b="1" dirty="0">
                <a:solidFill>
                  <a:srgbClr val="2D3436"/>
                </a:solidFill>
                <a:latin typeface="QuattrocentoSans" pitchFamily="34" charset="0"/>
                <a:ea typeface="QuattrocentoSans" pitchFamily="34" charset="-122"/>
                <a:cs typeface="QuattrocentoSans" pitchFamily="34" charset="-120"/>
              </a:rPr>
              <a:t>Pérdida proxy</a:t>
            </a:r>
            <a:endParaRPr lang="en-US" sz="1800" dirty="0"/>
          </a:p>
          <a:p>
            <a:pPr>
              <a:lnSpc>
                <a:spcPct val="155000"/>
              </a:lnSpc>
              <a:spcBef>
                <a:spcPts val="300"/>
              </a:spcBef>
            </a:pPr>
            <a:r>
              <a:rPr lang="en-US" sz="1500" dirty="0">
                <a:solidFill>
                  <a:srgbClr val="6B7280"/>
                </a:solidFill>
                <a:latin typeface="QuattrocentoSans" pitchFamily="34" charset="0"/>
                <a:ea typeface="QuattrocentoSans" pitchFamily="34" charset="-122"/>
                <a:cs typeface="QuattrocentoSans" pitchFamily="34" charset="-120"/>
              </a:rPr>
              <a:t>Solo deterioro adverso trasladado</a:t>
            </a:r>
            <a:endParaRPr lang="en-US" sz="1800" dirty="0"/>
          </a:p>
          <a:p>
            <a:pPr>
              <a:lnSpc>
                <a:spcPct val="155000"/>
              </a:lnSpc>
              <a:spcBef>
                <a:spcPts val="1000"/>
              </a:spcBef>
            </a:pPr>
            <a:r>
              <a:rPr lang="en-US" sz="1500" b="1" dirty="0">
                <a:solidFill>
                  <a:srgbClr val="2D3436"/>
                </a:solidFill>
                <a:latin typeface="QuattrocentoSans" pitchFamily="34" charset="0"/>
                <a:ea typeface="QuattrocentoSans" pitchFamily="34" charset="-122"/>
                <a:cs typeface="QuattrocentoSans" pitchFamily="34" charset="-120"/>
              </a:rPr>
              <a:t>Cobertura y prima indicativa</a:t>
            </a:r>
            <a:endParaRPr lang="en-US" sz="1800" dirty="0"/>
          </a:p>
          <a:p>
            <a:pPr>
              <a:lnSpc>
                <a:spcPct val="155000"/>
              </a:lnSpc>
              <a:spcBef>
                <a:spcPts val="300"/>
              </a:spcBef>
            </a:pPr>
            <a:r>
              <a:rPr lang="en-US" sz="1500" dirty="0">
                <a:solidFill>
                  <a:srgbClr val="6B7280"/>
                </a:solidFill>
                <a:latin typeface="QuattrocentoSans" pitchFamily="34" charset="0"/>
                <a:ea typeface="QuattrocentoSans" pitchFamily="34" charset="-122"/>
                <a:cs typeface="QuattrocentoSans" pitchFamily="34" charset="-120"/>
              </a:rPr>
              <a:t>Valor expuesto, cobertura, prima ref.</a:t>
            </a:r>
            <a:endParaRPr lang="en-US" sz="1800" dirty="0"/>
          </a:p>
        </p:txBody>
      </p:sp>
      <p:sp>
        <p:nvSpPr>
          <p:cNvPr id="31" name="Shape 28"/>
          <p:cNvSpPr/>
          <p:nvPr/>
        </p:nvSpPr>
        <p:spPr>
          <a:xfrm>
            <a:off x="5461000" y="5016500"/>
            <a:ext cx="317500" cy="0"/>
          </a:xfrm>
          <a:prstGeom prst="straightConnector1">
            <a:avLst/>
          </a:prstGeom>
          <a:noFill/>
          <a:ln w="25400">
            <a:solidFill>
              <a:srgbClr val="C9A227"/>
            </a:solidFill>
            <a:prstDash val="solid"/>
            <a:headEnd type="none"/>
            <a:tailEnd type="arrow"/>
          </a:ln>
        </p:spPr>
      </p:sp>
      <p:sp>
        <p:nvSpPr>
          <p:cNvPr id="32" name="Shape 29"/>
          <p:cNvSpPr/>
          <p:nvPr/>
        </p:nvSpPr>
        <p:spPr>
          <a:xfrm>
            <a:off x="10477500" y="5016500"/>
            <a:ext cx="317500" cy="0"/>
          </a:xfrm>
          <a:prstGeom prst="straightConnector1">
            <a:avLst/>
          </a:prstGeom>
          <a:noFill/>
          <a:ln w="25400">
            <a:solidFill>
              <a:srgbClr val="C9A227"/>
            </a:solidFill>
            <a:prstDash val="solid"/>
            <a:headEnd type="none"/>
            <a:tailEnd type="arrow"/>
          </a:ln>
        </p:spPr>
      </p:sp>
      <p:sp>
        <p:nvSpPr>
          <p:cNvPr id="33" name="Text 30"/>
          <p:cNvSpPr/>
          <p:nvPr/>
        </p:nvSpPr>
        <p:spPr>
          <a:xfrm>
            <a:off x="15240000" y="8763000"/>
            <a:ext cx="508000" cy="254000"/>
          </a:xfrm>
          <a:prstGeom prst="rect">
            <a:avLst/>
          </a:prstGeom>
          <a:noFill/>
          <a:ln/>
        </p:spPr>
        <p:txBody>
          <a:bodyPr wrap="none" lIns="0" tIns="0" rIns="0" bIns="0" rtlCol="0" anchor="ctr"/>
          <a:lstStyle/>
          <a:p>
            <a:pPr algn="r">
              <a:lnSpc>
                <a:spcPct val="140000"/>
              </a:lnSpc>
            </a:pPr>
            <a:r>
              <a:rPr lang="en-US" sz="1400" dirty="0">
                <a:solidFill>
                  <a:srgbClr val="6B7280"/>
                </a:solidFill>
                <a:latin typeface="QuattrocentoSans" pitchFamily="34" charset="0"/>
                <a:ea typeface="QuattrocentoSans" pitchFamily="34" charset="-122"/>
                <a:cs typeface="QuattrocentoSans" pitchFamily="34" charset="-120"/>
              </a:rPr>
              <a:t>02</a:t>
            </a:r>
            <a:endParaRPr lang="en-US" sz="14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Shape 0"/>
          <p:cNvSpPr/>
          <p:nvPr/>
        </p:nvSpPr>
        <p:spPr>
          <a:xfrm>
            <a:off x="0" y="0"/>
            <a:ext cx="16256000" cy="457200"/>
          </a:xfrm>
          <a:prstGeom prst="rect">
            <a:avLst/>
          </a:prstGeom>
          <a:solidFill>
            <a:srgbClr val="1B4332"/>
          </a:solidFill>
          <a:ln/>
        </p:spPr>
      </p:sp>
      <p:sp>
        <p:nvSpPr>
          <p:cNvPr id="4" name="Text 1"/>
          <p:cNvSpPr/>
          <p:nvPr/>
        </p:nvSpPr>
        <p:spPr>
          <a:xfrm>
            <a:off x="762000" y="0"/>
            <a:ext cx="2540000" cy="457200"/>
          </a:xfrm>
          <a:prstGeom prst="rect">
            <a:avLst/>
          </a:prstGeom>
          <a:noFill/>
          <a:ln/>
        </p:spPr>
        <p:txBody>
          <a:bodyPr wrap="none" lIns="0" tIns="0" rIns="0" bIns="0" rtlCol="0" anchor="ctr"/>
          <a:lstStyle/>
          <a:p>
            <a:pPr>
              <a:lnSpc>
                <a:spcPct val="120000"/>
              </a:lnSpc>
            </a:pPr>
            <a:r>
              <a:rPr lang="en-US" sz="1300" dirty="0">
                <a:solidFill>
                  <a:srgbClr val="FFFFFF">
                    <a:alpha val="50000"/>
                  </a:srgbClr>
                </a:solidFill>
                <a:latin typeface="QuattrocentoSans" pitchFamily="34" charset="0"/>
                <a:ea typeface="QuattrocentoSans" pitchFamily="34" charset="-122"/>
                <a:cs typeface="QuattrocentoSans" pitchFamily="34" charset="-120"/>
              </a:rPr>
              <a:t>01 PROBLEMA</a:t>
            </a:r>
            <a:endParaRPr lang="en-US" sz="1300" dirty="0"/>
          </a:p>
        </p:txBody>
      </p:sp>
      <p:sp>
        <p:nvSpPr>
          <p:cNvPr id="5" name="Text 2"/>
          <p:cNvSpPr/>
          <p:nvPr/>
        </p:nvSpPr>
        <p:spPr>
          <a:xfrm>
            <a:off x="3556000" y="0"/>
            <a:ext cx="2540000" cy="457200"/>
          </a:xfrm>
          <a:prstGeom prst="rect">
            <a:avLst/>
          </a:prstGeom>
          <a:noFill/>
          <a:ln/>
        </p:spPr>
        <p:txBody>
          <a:bodyPr wrap="none" lIns="0" tIns="0" rIns="0" bIns="0" rtlCol="0" anchor="ctr"/>
          <a:lstStyle/>
          <a:p>
            <a:pPr>
              <a:lnSpc>
                <a:spcPct val="120000"/>
              </a:lnSpc>
            </a:pPr>
            <a:r>
              <a:rPr lang="en-US" sz="1300" dirty="0">
                <a:solidFill>
                  <a:srgbClr val="FFFFFF">
                    <a:alpha val="50000"/>
                  </a:srgbClr>
                </a:solidFill>
                <a:latin typeface="QuattrocentoSans" pitchFamily="34" charset="0"/>
                <a:ea typeface="QuattrocentoSans" pitchFamily="34" charset="-122"/>
                <a:cs typeface="QuattrocentoSans" pitchFamily="34" charset="-120"/>
              </a:rPr>
              <a:t>02 RUTA</a:t>
            </a:r>
            <a:endParaRPr lang="en-US" sz="1300" dirty="0"/>
          </a:p>
        </p:txBody>
      </p:sp>
      <p:sp>
        <p:nvSpPr>
          <p:cNvPr id="6" name="Text 3"/>
          <p:cNvSpPr/>
          <p:nvPr/>
        </p:nvSpPr>
        <p:spPr>
          <a:xfrm>
            <a:off x="6350000" y="0"/>
            <a:ext cx="3048000" cy="457200"/>
          </a:xfrm>
          <a:prstGeom prst="rect">
            <a:avLst/>
          </a:prstGeom>
          <a:noFill/>
          <a:ln/>
        </p:spPr>
        <p:txBody>
          <a:bodyPr wrap="none" lIns="0" tIns="0" rIns="0" bIns="0" rtlCol="0" anchor="ctr"/>
          <a:lstStyle/>
          <a:p>
            <a:pPr>
              <a:lnSpc>
                <a:spcPct val="120000"/>
              </a:lnSpc>
            </a:pPr>
            <a:r>
              <a:rPr lang="en-US" sz="1300" b="1" dirty="0">
                <a:solidFill>
                  <a:srgbClr val="C9A227"/>
                </a:solidFill>
                <a:latin typeface="QuattrocentoSans" pitchFamily="34" charset="0"/>
                <a:ea typeface="QuattrocentoSans" pitchFamily="34" charset="-122"/>
                <a:cs typeface="QuattrocentoSans" pitchFamily="34" charset="-120"/>
              </a:rPr>
              <a:t>03</a:t>
            </a:r>
            <a:pPr>
              <a:lnSpc>
                <a:spcPct val="120000"/>
              </a:lnSpc>
            </a:pPr>
            <a:r>
              <a:rPr lang="en-US" sz="1300" dirty="0">
                <a:solidFill>
                  <a:srgbClr val="C9A227"/>
                </a:solidFill>
                <a:latin typeface="QuattrocentoSans" pitchFamily="34" charset="0"/>
                <a:ea typeface="QuattrocentoSans" pitchFamily="34" charset="-122"/>
                <a:cs typeface="QuattrocentoSans" pitchFamily="34" charset="-120"/>
              </a:rPr>
              <a:t> ARQUITECTURA</a:t>
            </a:r>
            <a:endParaRPr lang="en-US" sz="1300" dirty="0"/>
          </a:p>
        </p:txBody>
      </p:sp>
      <p:sp>
        <p:nvSpPr>
          <p:cNvPr id="7" name="Text 4"/>
          <p:cNvSpPr/>
          <p:nvPr/>
        </p:nvSpPr>
        <p:spPr>
          <a:xfrm>
            <a:off x="9652000" y="0"/>
            <a:ext cx="2794000" cy="457200"/>
          </a:xfrm>
          <a:prstGeom prst="rect">
            <a:avLst/>
          </a:prstGeom>
          <a:noFill/>
          <a:ln/>
        </p:spPr>
        <p:txBody>
          <a:bodyPr wrap="none" lIns="0" tIns="0" rIns="0" bIns="0" rtlCol="0" anchor="ctr"/>
          <a:lstStyle/>
          <a:p>
            <a:pPr>
              <a:lnSpc>
                <a:spcPct val="120000"/>
              </a:lnSpc>
            </a:pPr>
            <a:r>
              <a:rPr lang="en-US" sz="1300" dirty="0">
                <a:solidFill>
                  <a:srgbClr val="FFFFFF">
                    <a:alpha val="50000"/>
                  </a:srgbClr>
                </a:solidFill>
                <a:latin typeface="QuattrocentoSans" pitchFamily="34" charset="0"/>
                <a:ea typeface="QuattrocentoSans" pitchFamily="34" charset="-122"/>
                <a:cs typeface="QuattrocentoSans" pitchFamily="34" charset="-120"/>
              </a:rPr>
              <a:t>04 PROTOTIPO</a:t>
            </a:r>
            <a:endParaRPr lang="en-US" sz="1300" dirty="0"/>
          </a:p>
        </p:txBody>
      </p:sp>
      <p:sp>
        <p:nvSpPr>
          <p:cNvPr id="8" name="Text 5"/>
          <p:cNvSpPr/>
          <p:nvPr/>
        </p:nvSpPr>
        <p:spPr>
          <a:xfrm>
            <a:off x="12700000" y="0"/>
            <a:ext cx="1651000" cy="457200"/>
          </a:xfrm>
          <a:prstGeom prst="rect">
            <a:avLst/>
          </a:prstGeom>
          <a:noFill/>
          <a:ln/>
        </p:spPr>
        <p:txBody>
          <a:bodyPr wrap="none" lIns="0" tIns="0" rIns="0" bIns="0" rtlCol="0" anchor="ctr"/>
          <a:lstStyle/>
          <a:p>
            <a:pPr>
              <a:lnSpc>
                <a:spcPct val="120000"/>
              </a:lnSpc>
            </a:pPr>
            <a:r>
              <a:rPr lang="en-US" sz="1300" dirty="0">
                <a:solidFill>
                  <a:srgbClr val="FFFFFF">
                    <a:alpha val="50000"/>
                  </a:srgbClr>
                </a:solidFill>
                <a:latin typeface="QuattrocentoSans" pitchFamily="34" charset="0"/>
                <a:ea typeface="QuattrocentoSans" pitchFamily="34" charset="-122"/>
                <a:cs typeface="QuattrocentoSans" pitchFamily="34" charset="-120"/>
              </a:rPr>
              <a:t>05 SIMULADOR</a:t>
            </a:r>
            <a:endParaRPr lang="en-US" sz="1300" dirty="0"/>
          </a:p>
        </p:txBody>
      </p:sp>
      <p:sp>
        <p:nvSpPr>
          <p:cNvPr id="9" name="Text 6"/>
          <p:cNvSpPr/>
          <p:nvPr/>
        </p:nvSpPr>
        <p:spPr>
          <a:xfrm>
            <a:off x="14414500" y="0"/>
            <a:ext cx="1333500" cy="457200"/>
          </a:xfrm>
          <a:prstGeom prst="rect">
            <a:avLst/>
          </a:prstGeom>
          <a:noFill/>
          <a:ln/>
        </p:spPr>
        <p:txBody>
          <a:bodyPr wrap="none" lIns="0" tIns="0" rIns="0" bIns="0" rtlCol="0" anchor="ctr"/>
          <a:lstStyle/>
          <a:p>
            <a:pPr>
              <a:lnSpc>
                <a:spcPct val="120000"/>
              </a:lnSpc>
            </a:pPr>
            <a:r>
              <a:rPr lang="en-US" sz="1300" dirty="0">
                <a:solidFill>
                  <a:srgbClr val="FFFFFF">
                    <a:alpha val="50000"/>
                  </a:srgbClr>
                </a:solidFill>
                <a:latin typeface="QuattrocentoSans" pitchFamily="34" charset="0"/>
                <a:ea typeface="QuattrocentoSans" pitchFamily="34" charset="-122"/>
                <a:cs typeface="QuattrocentoSans" pitchFamily="34" charset="-120"/>
              </a:rPr>
              <a:t>06 CIERRE</a:t>
            </a:r>
            <a:endParaRPr lang="en-US" sz="1300" dirty="0"/>
          </a:p>
        </p:txBody>
      </p:sp>
      <p:sp>
        <p:nvSpPr>
          <p:cNvPr id="10" name="Text 7"/>
          <p:cNvSpPr/>
          <p:nvPr/>
        </p:nvSpPr>
        <p:spPr>
          <a:xfrm>
            <a:off x="762000" y="660400"/>
            <a:ext cx="10160000" cy="533400"/>
          </a:xfrm>
          <a:prstGeom prst="rect">
            <a:avLst/>
          </a:prstGeom>
          <a:noFill/>
          <a:ln/>
        </p:spPr>
        <p:txBody>
          <a:bodyPr wrap="none" lIns="0" tIns="0" rIns="0" bIns="0" rtlCol="0" anchor="ctr"/>
          <a:lstStyle/>
          <a:p>
            <a:pPr>
              <a:lnSpc>
                <a:spcPct val="120000"/>
              </a:lnSpc>
            </a:pPr>
            <a:r>
              <a:rPr lang="en-US" sz="3200" b="1" dirty="0">
                <a:solidFill>
                  <a:srgbClr val="1B4332"/>
                </a:solidFill>
                <a:latin typeface="QuattrocentoSans" pitchFamily="34" charset="0"/>
                <a:ea typeface="QuattrocentoSans" pitchFamily="34" charset="-122"/>
                <a:cs typeface="QuattrocentoSans" pitchFamily="34" charset="-120"/>
              </a:rPr>
              <a:t>Esquema general de solución e infraestructura</a:t>
            </a:r>
            <a:endParaRPr lang="en-US" sz="3200" dirty="0"/>
          </a:p>
        </p:txBody>
      </p:sp>
      <p:sp>
        <p:nvSpPr>
          <p:cNvPr id="11" name="Shape 8"/>
          <p:cNvSpPr/>
          <p:nvPr/>
        </p:nvSpPr>
        <p:spPr>
          <a:xfrm>
            <a:off x="762000" y="1244600"/>
            <a:ext cx="762000" cy="50800"/>
          </a:xfrm>
          <a:prstGeom prst="rect">
            <a:avLst/>
          </a:prstGeom>
          <a:solidFill>
            <a:srgbClr val="C9A227"/>
          </a:solidFill>
          <a:ln/>
        </p:spPr>
      </p:sp>
      <p:sp>
        <p:nvSpPr>
          <p:cNvPr id="12" name="Text 9"/>
          <p:cNvSpPr/>
          <p:nvPr/>
        </p:nvSpPr>
        <p:spPr>
          <a:xfrm>
            <a:off x="762000" y="1498600"/>
            <a:ext cx="2921000" cy="254000"/>
          </a:xfrm>
          <a:prstGeom prst="rect">
            <a:avLst/>
          </a:prstGeom>
          <a:noFill/>
          <a:ln/>
        </p:spPr>
        <p:txBody>
          <a:bodyPr wrap="none" lIns="0" tIns="0" rIns="0" bIns="0" rtlCol="0" anchor="ctr"/>
          <a:lstStyle/>
          <a:p>
            <a:pPr>
              <a:lnSpc>
                <a:spcPct val="120000"/>
              </a:lnSpc>
            </a:pPr>
            <a:r>
              <a:rPr lang="en-US" sz="1300" spc="100" kern="0" dirty="0">
                <a:solidFill>
                  <a:srgbClr val="1B4332"/>
                </a:solidFill>
                <a:latin typeface="QuattrocentoSans" pitchFamily="34" charset="0"/>
                <a:ea typeface="QuattrocentoSans" pitchFamily="34" charset="-122"/>
                <a:cs typeface="QuattrocentoSans" pitchFamily="34" charset="-120"/>
              </a:rPr>
              <a:t>FUENTES Y PROCESAMIENTO</a:t>
            </a:r>
            <a:endParaRPr lang="en-US" sz="1300" dirty="0"/>
          </a:p>
        </p:txBody>
      </p:sp>
      <p:sp>
        <p:nvSpPr>
          <p:cNvPr id="13" name="Shape 10"/>
          <p:cNvSpPr/>
          <p:nvPr/>
        </p:nvSpPr>
        <p:spPr>
          <a:xfrm>
            <a:off x="762000" y="1841500"/>
            <a:ext cx="2032000" cy="889000"/>
          </a:xfrm>
          <a:prstGeom prst="rect">
            <a:avLst/>
          </a:prstGeom>
          <a:solidFill>
            <a:srgbClr val="1B4332"/>
          </a:solidFill>
          <a:ln/>
        </p:spPr>
      </p:sp>
      <p:sp>
        <p:nvSpPr>
          <p:cNvPr id="14" name="Shape 11"/>
          <p:cNvSpPr/>
          <p:nvPr/>
        </p:nvSpPr>
        <p:spPr>
          <a:xfrm>
            <a:off x="1543050" y="1930400"/>
            <a:ext cx="266700" cy="304800"/>
          </a:xfrm>
          <a:custGeom>
            <a:avLst/>
            <a:gdLst/>
            <a:ahLst/>
            <a:cxnLst/>
            <a:rect l="l" t="t" r="r" b="b"/>
            <a:pathLst>
              <a:path w="266700" h="304800">
                <a:moveTo>
                  <a:pt x="266700" y="122515"/>
                </a:moveTo>
                <a:cubicBezTo>
                  <a:pt x="257889" y="128349"/>
                  <a:pt x="247769" y="133052"/>
                  <a:pt x="237232" y="136803"/>
                </a:cubicBezTo>
                <a:cubicBezTo>
                  <a:pt x="209252" y="146804"/>
                  <a:pt x="172522" y="152400"/>
                  <a:pt x="133350" y="152400"/>
                </a:cubicBezTo>
                <a:cubicBezTo>
                  <a:pt x="94178" y="152400"/>
                  <a:pt x="57388" y="146745"/>
                  <a:pt x="29468" y="136803"/>
                </a:cubicBezTo>
                <a:cubicBezTo>
                  <a:pt x="18990" y="133052"/>
                  <a:pt x="8811" y="128349"/>
                  <a:pt x="0" y="122515"/>
                </a:cubicBezTo>
                <a:lnTo>
                  <a:pt x="0" y="171450"/>
                </a:lnTo>
                <a:cubicBezTo>
                  <a:pt x="0" y="197763"/>
                  <a:pt x="59710" y="219075"/>
                  <a:pt x="133350" y="219075"/>
                </a:cubicBezTo>
                <a:cubicBezTo>
                  <a:pt x="206990" y="219075"/>
                  <a:pt x="266700" y="197763"/>
                  <a:pt x="266700" y="171450"/>
                </a:cubicBezTo>
                <a:lnTo>
                  <a:pt x="266700" y="122515"/>
                </a:lnTo>
                <a:close/>
                <a:moveTo>
                  <a:pt x="266700" y="76200"/>
                </a:moveTo>
                <a:lnTo>
                  <a:pt x="266700" y="47625"/>
                </a:lnTo>
                <a:cubicBezTo>
                  <a:pt x="266700" y="21312"/>
                  <a:pt x="206990" y="0"/>
                  <a:pt x="133350" y="0"/>
                </a:cubicBezTo>
                <a:cubicBezTo>
                  <a:pt x="59710" y="0"/>
                  <a:pt x="0" y="21312"/>
                  <a:pt x="0" y="47625"/>
                </a:cubicBezTo>
                <a:lnTo>
                  <a:pt x="0" y="76200"/>
                </a:lnTo>
                <a:cubicBezTo>
                  <a:pt x="0" y="102513"/>
                  <a:pt x="59710" y="123825"/>
                  <a:pt x="133350" y="123825"/>
                </a:cubicBezTo>
                <a:cubicBezTo>
                  <a:pt x="206990" y="123825"/>
                  <a:pt x="266700" y="102513"/>
                  <a:pt x="266700" y="76200"/>
                </a:cubicBezTo>
                <a:close/>
                <a:moveTo>
                  <a:pt x="237232" y="232053"/>
                </a:moveTo>
                <a:cubicBezTo>
                  <a:pt x="209312" y="241995"/>
                  <a:pt x="172581" y="247650"/>
                  <a:pt x="133350" y="247650"/>
                </a:cubicBezTo>
                <a:cubicBezTo>
                  <a:pt x="94119" y="247650"/>
                  <a:pt x="57388" y="241995"/>
                  <a:pt x="29468" y="232053"/>
                </a:cubicBezTo>
                <a:cubicBezTo>
                  <a:pt x="18990" y="228302"/>
                  <a:pt x="8811" y="223599"/>
                  <a:pt x="0" y="217765"/>
                </a:cubicBezTo>
                <a:lnTo>
                  <a:pt x="0" y="257175"/>
                </a:lnTo>
                <a:cubicBezTo>
                  <a:pt x="0" y="283488"/>
                  <a:pt x="59710" y="304800"/>
                  <a:pt x="133350" y="304800"/>
                </a:cubicBezTo>
                <a:cubicBezTo>
                  <a:pt x="206990" y="304800"/>
                  <a:pt x="266700" y="283488"/>
                  <a:pt x="266700" y="257175"/>
                </a:cubicBezTo>
                <a:lnTo>
                  <a:pt x="266700" y="217765"/>
                </a:lnTo>
                <a:cubicBezTo>
                  <a:pt x="257889" y="223599"/>
                  <a:pt x="247769" y="228302"/>
                  <a:pt x="237232" y="232053"/>
                </a:cubicBezTo>
                <a:close/>
              </a:path>
            </a:pathLst>
          </a:custGeom>
          <a:solidFill>
            <a:srgbClr val="C9A227"/>
          </a:solidFill>
          <a:ln/>
        </p:spPr>
      </p:sp>
      <p:sp>
        <p:nvSpPr>
          <p:cNvPr id="15" name="Text 12"/>
          <p:cNvSpPr/>
          <p:nvPr/>
        </p:nvSpPr>
        <p:spPr>
          <a:xfrm>
            <a:off x="863600" y="2260600"/>
            <a:ext cx="1828800" cy="381000"/>
          </a:xfrm>
          <a:prstGeom prst="rect">
            <a:avLst/>
          </a:prstGeom>
          <a:noFill/>
          <a:ln/>
        </p:spPr>
        <p:txBody>
          <a:bodyPr wrap="none" lIns="0" tIns="0" rIns="0" bIns="0" rtlCol="0" anchor="ctr"/>
          <a:lstStyle/>
          <a:p>
            <a:pPr algn="ctr">
              <a:lnSpc>
                <a:spcPct val="100000"/>
              </a:lnSpc>
            </a:pPr>
            <a:r>
              <a:rPr lang="en-US" sz="1300" b="1" dirty="0">
                <a:solidFill>
                  <a:srgbClr val="FFFFFF"/>
                </a:solidFill>
                <a:latin typeface="Quattrocento Sans" pitchFamily="34" charset="0"/>
                <a:ea typeface="Quattrocento Sans" pitchFamily="34" charset="-122"/>
                <a:cs typeface="Quattrocento Sans" pitchFamily="34" charset="-120"/>
              </a:rPr>
              <a:t>Datos crudos</a:t>
            </a:r>
            <a:endParaRPr lang="en-US" sz="1600" dirty="0"/>
          </a:p>
        </p:txBody>
      </p:sp>
      <p:sp>
        <p:nvSpPr>
          <p:cNvPr id="16" name="Shape 13"/>
          <p:cNvSpPr/>
          <p:nvPr/>
        </p:nvSpPr>
        <p:spPr>
          <a:xfrm>
            <a:off x="2794000" y="2286000"/>
            <a:ext cx="508000" cy="0"/>
          </a:xfrm>
          <a:prstGeom prst="straightConnector1">
            <a:avLst/>
          </a:prstGeom>
          <a:noFill/>
          <a:ln w="25400">
            <a:solidFill>
              <a:srgbClr val="C9A227"/>
            </a:solidFill>
            <a:prstDash val="solid"/>
            <a:headEnd type="none"/>
            <a:tailEnd type="arrow"/>
          </a:ln>
        </p:spPr>
      </p:sp>
      <p:sp>
        <p:nvSpPr>
          <p:cNvPr id="17" name="Shape 14"/>
          <p:cNvSpPr/>
          <p:nvPr/>
        </p:nvSpPr>
        <p:spPr>
          <a:xfrm>
            <a:off x="3302000" y="1841500"/>
            <a:ext cx="1778000" cy="889000"/>
          </a:xfrm>
          <a:prstGeom prst="rect">
            <a:avLst/>
          </a:prstGeom>
          <a:solidFill>
            <a:srgbClr val="2D6A4F"/>
          </a:solidFill>
          <a:ln/>
        </p:spPr>
      </p:sp>
      <p:sp>
        <p:nvSpPr>
          <p:cNvPr id="18" name="Shape 15"/>
          <p:cNvSpPr/>
          <p:nvPr/>
        </p:nvSpPr>
        <p:spPr>
          <a:xfrm>
            <a:off x="3924300" y="1930400"/>
            <a:ext cx="381000" cy="304800"/>
          </a:xfrm>
          <a:custGeom>
            <a:avLst/>
            <a:gdLst/>
            <a:ahLst/>
            <a:cxnLst/>
            <a:rect l="l" t="t" r="r" b="b"/>
            <a:pathLst>
              <a:path w="381000" h="304800">
                <a:moveTo>
                  <a:pt x="247590" y="125313"/>
                </a:moveTo>
                <a:cubicBezTo>
                  <a:pt x="254853" y="123349"/>
                  <a:pt x="262473" y="126802"/>
                  <a:pt x="265747" y="133529"/>
                </a:cubicBezTo>
                <a:lnTo>
                  <a:pt x="276820" y="155912"/>
                </a:lnTo>
                <a:cubicBezTo>
                  <a:pt x="282952" y="156746"/>
                  <a:pt x="288965" y="158413"/>
                  <a:pt x="294620" y="160734"/>
                </a:cubicBezTo>
                <a:lnTo>
                  <a:pt x="315456" y="146864"/>
                </a:lnTo>
                <a:cubicBezTo>
                  <a:pt x="321707" y="142696"/>
                  <a:pt x="329982" y="143530"/>
                  <a:pt x="335280" y="148828"/>
                </a:cubicBezTo>
                <a:lnTo>
                  <a:pt x="346710" y="160258"/>
                </a:lnTo>
                <a:cubicBezTo>
                  <a:pt x="352008" y="165556"/>
                  <a:pt x="352842" y="173891"/>
                  <a:pt x="348675" y="180082"/>
                </a:cubicBezTo>
                <a:lnTo>
                  <a:pt x="334804" y="200858"/>
                </a:lnTo>
                <a:cubicBezTo>
                  <a:pt x="335935" y="203656"/>
                  <a:pt x="336947" y="206573"/>
                  <a:pt x="337780" y="209610"/>
                </a:cubicBezTo>
                <a:cubicBezTo>
                  <a:pt x="338614" y="212646"/>
                  <a:pt x="339150" y="215622"/>
                  <a:pt x="339566" y="218658"/>
                </a:cubicBezTo>
                <a:lnTo>
                  <a:pt x="362010" y="229731"/>
                </a:lnTo>
                <a:cubicBezTo>
                  <a:pt x="368737" y="233065"/>
                  <a:pt x="372189" y="240685"/>
                  <a:pt x="370225" y="247888"/>
                </a:cubicBezTo>
                <a:lnTo>
                  <a:pt x="366058" y="263485"/>
                </a:lnTo>
                <a:cubicBezTo>
                  <a:pt x="364093" y="270689"/>
                  <a:pt x="357366" y="275570"/>
                  <a:pt x="349865" y="275094"/>
                </a:cubicBezTo>
                <a:lnTo>
                  <a:pt x="324862" y="273487"/>
                </a:lnTo>
                <a:cubicBezTo>
                  <a:pt x="321112" y="278309"/>
                  <a:pt x="316766" y="282773"/>
                  <a:pt x="311825" y="286583"/>
                </a:cubicBezTo>
                <a:lnTo>
                  <a:pt x="313432" y="311527"/>
                </a:lnTo>
                <a:cubicBezTo>
                  <a:pt x="313908" y="319028"/>
                  <a:pt x="309027" y="325815"/>
                  <a:pt x="301823" y="327720"/>
                </a:cubicBezTo>
                <a:lnTo>
                  <a:pt x="286226" y="331887"/>
                </a:lnTo>
                <a:cubicBezTo>
                  <a:pt x="278963" y="333851"/>
                  <a:pt x="271403" y="330398"/>
                  <a:pt x="268069" y="323671"/>
                </a:cubicBezTo>
                <a:lnTo>
                  <a:pt x="256996" y="301288"/>
                </a:lnTo>
                <a:cubicBezTo>
                  <a:pt x="250865" y="300454"/>
                  <a:pt x="244852" y="298787"/>
                  <a:pt x="239197" y="296466"/>
                </a:cubicBezTo>
                <a:lnTo>
                  <a:pt x="218361" y="310336"/>
                </a:lnTo>
                <a:cubicBezTo>
                  <a:pt x="212110" y="314504"/>
                  <a:pt x="203835" y="313670"/>
                  <a:pt x="198537" y="308372"/>
                </a:cubicBezTo>
                <a:lnTo>
                  <a:pt x="187107" y="296942"/>
                </a:lnTo>
                <a:cubicBezTo>
                  <a:pt x="181808" y="291644"/>
                  <a:pt x="180975" y="283369"/>
                  <a:pt x="185142" y="277118"/>
                </a:cubicBezTo>
                <a:lnTo>
                  <a:pt x="199013" y="256282"/>
                </a:lnTo>
                <a:cubicBezTo>
                  <a:pt x="197882" y="253484"/>
                  <a:pt x="196870" y="250567"/>
                  <a:pt x="196036" y="247531"/>
                </a:cubicBezTo>
                <a:cubicBezTo>
                  <a:pt x="195203" y="244495"/>
                  <a:pt x="194667" y="241459"/>
                  <a:pt x="194250" y="238482"/>
                </a:cubicBezTo>
                <a:lnTo>
                  <a:pt x="171807" y="227409"/>
                </a:lnTo>
                <a:cubicBezTo>
                  <a:pt x="165080" y="224076"/>
                  <a:pt x="161687" y="216456"/>
                  <a:pt x="163592" y="209252"/>
                </a:cubicBezTo>
                <a:lnTo>
                  <a:pt x="167759" y="193655"/>
                </a:lnTo>
                <a:cubicBezTo>
                  <a:pt x="169724" y="186452"/>
                  <a:pt x="176451" y="181570"/>
                  <a:pt x="183952" y="182047"/>
                </a:cubicBezTo>
                <a:lnTo>
                  <a:pt x="208895" y="183654"/>
                </a:lnTo>
                <a:cubicBezTo>
                  <a:pt x="212646" y="178832"/>
                  <a:pt x="216991" y="174367"/>
                  <a:pt x="221932" y="170557"/>
                </a:cubicBezTo>
                <a:lnTo>
                  <a:pt x="220325" y="145673"/>
                </a:lnTo>
                <a:cubicBezTo>
                  <a:pt x="219849" y="138172"/>
                  <a:pt x="224730" y="131385"/>
                  <a:pt x="231934" y="129480"/>
                </a:cubicBezTo>
                <a:lnTo>
                  <a:pt x="247531" y="125313"/>
                </a:lnTo>
                <a:close/>
                <a:moveTo>
                  <a:pt x="266938" y="202406"/>
                </a:moveTo>
                <a:cubicBezTo>
                  <a:pt x="252481" y="202423"/>
                  <a:pt x="240758" y="214173"/>
                  <a:pt x="240774" y="228630"/>
                </a:cubicBezTo>
                <a:cubicBezTo>
                  <a:pt x="240791" y="243086"/>
                  <a:pt x="252541" y="254810"/>
                  <a:pt x="266998" y="254794"/>
                </a:cubicBezTo>
                <a:cubicBezTo>
                  <a:pt x="281454" y="254777"/>
                  <a:pt x="293178" y="243027"/>
                  <a:pt x="293162" y="228570"/>
                </a:cubicBezTo>
                <a:cubicBezTo>
                  <a:pt x="293145" y="214114"/>
                  <a:pt x="281395" y="202390"/>
                  <a:pt x="266938" y="202406"/>
                </a:cubicBezTo>
                <a:close/>
                <a:moveTo>
                  <a:pt x="133886" y="-27087"/>
                </a:moveTo>
                <a:lnTo>
                  <a:pt x="149483" y="-22920"/>
                </a:lnTo>
                <a:cubicBezTo>
                  <a:pt x="156686" y="-20955"/>
                  <a:pt x="161568" y="-14168"/>
                  <a:pt x="161092" y="-6727"/>
                </a:cubicBezTo>
                <a:lnTo>
                  <a:pt x="159484" y="18157"/>
                </a:lnTo>
                <a:cubicBezTo>
                  <a:pt x="164425" y="21967"/>
                  <a:pt x="168771" y="26372"/>
                  <a:pt x="172522" y="31254"/>
                </a:cubicBezTo>
                <a:lnTo>
                  <a:pt x="197525" y="29647"/>
                </a:lnTo>
                <a:cubicBezTo>
                  <a:pt x="204966" y="29170"/>
                  <a:pt x="211753" y="34052"/>
                  <a:pt x="213717" y="41255"/>
                </a:cubicBezTo>
                <a:lnTo>
                  <a:pt x="217884" y="56852"/>
                </a:lnTo>
                <a:cubicBezTo>
                  <a:pt x="219789" y="64056"/>
                  <a:pt x="216396" y="71676"/>
                  <a:pt x="209669" y="75009"/>
                </a:cubicBezTo>
                <a:lnTo>
                  <a:pt x="187226" y="86082"/>
                </a:lnTo>
                <a:cubicBezTo>
                  <a:pt x="186809" y="89118"/>
                  <a:pt x="186214" y="92154"/>
                  <a:pt x="185440" y="95131"/>
                </a:cubicBezTo>
                <a:cubicBezTo>
                  <a:pt x="184666" y="98108"/>
                  <a:pt x="183594" y="101084"/>
                  <a:pt x="182463" y="103882"/>
                </a:cubicBezTo>
                <a:lnTo>
                  <a:pt x="196334" y="124718"/>
                </a:lnTo>
                <a:cubicBezTo>
                  <a:pt x="200501" y="130969"/>
                  <a:pt x="199668" y="139244"/>
                  <a:pt x="194370" y="144542"/>
                </a:cubicBezTo>
                <a:lnTo>
                  <a:pt x="182940" y="155972"/>
                </a:lnTo>
                <a:cubicBezTo>
                  <a:pt x="177641" y="161270"/>
                  <a:pt x="169366" y="162104"/>
                  <a:pt x="163116" y="157936"/>
                </a:cubicBezTo>
                <a:lnTo>
                  <a:pt x="142280" y="144066"/>
                </a:lnTo>
                <a:cubicBezTo>
                  <a:pt x="136624" y="146387"/>
                  <a:pt x="130612" y="148054"/>
                  <a:pt x="124480" y="148888"/>
                </a:cubicBezTo>
                <a:lnTo>
                  <a:pt x="113407" y="171271"/>
                </a:lnTo>
                <a:cubicBezTo>
                  <a:pt x="110073" y="177998"/>
                  <a:pt x="102453" y="181392"/>
                  <a:pt x="95250" y="179487"/>
                </a:cubicBezTo>
                <a:lnTo>
                  <a:pt x="79653" y="175320"/>
                </a:lnTo>
                <a:cubicBezTo>
                  <a:pt x="72390" y="173355"/>
                  <a:pt x="67568" y="166568"/>
                  <a:pt x="68044" y="159127"/>
                </a:cubicBezTo>
                <a:lnTo>
                  <a:pt x="69652" y="134183"/>
                </a:lnTo>
                <a:cubicBezTo>
                  <a:pt x="64710" y="130373"/>
                  <a:pt x="60365" y="125968"/>
                  <a:pt x="56614" y="121087"/>
                </a:cubicBezTo>
                <a:lnTo>
                  <a:pt x="31611" y="122694"/>
                </a:lnTo>
                <a:cubicBezTo>
                  <a:pt x="24170" y="123170"/>
                  <a:pt x="17383" y="118289"/>
                  <a:pt x="15419" y="111085"/>
                </a:cubicBezTo>
                <a:lnTo>
                  <a:pt x="11251" y="95488"/>
                </a:lnTo>
                <a:cubicBezTo>
                  <a:pt x="9346" y="88285"/>
                  <a:pt x="12740" y="80665"/>
                  <a:pt x="19467" y="77331"/>
                </a:cubicBezTo>
                <a:lnTo>
                  <a:pt x="41910" y="66258"/>
                </a:lnTo>
                <a:cubicBezTo>
                  <a:pt x="42327" y="63222"/>
                  <a:pt x="42922" y="60246"/>
                  <a:pt x="43696" y="57210"/>
                </a:cubicBezTo>
                <a:cubicBezTo>
                  <a:pt x="44529" y="54173"/>
                  <a:pt x="45482" y="51256"/>
                  <a:pt x="46673" y="48458"/>
                </a:cubicBezTo>
                <a:lnTo>
                  <a:pt x="32802" y="27682"/>
                </a:lnTo>
                <a:cubicBezTo>
                  <a:pt x="28635" y="21431"/>
                  <a:pt x="29468" y="13156"/>
                  <a:pt x="34766" y="7858"/>
                </a:cubicBezTo>
                <a:lnTo>
                  <a:pt x="46196" y="-3572"/>
                </a:lnTo>
                <a:cubicBezTo>
                  <a:pt x="51495" y="-8870"/>
                  <a:pt x="59769" y="-9704"/>
                  <a:pt x="66020" y="-5536"/>
                </a:cubicBezTo>
                <a:lnTo>
                  <a:pt x="86856" y="8334"/>
                </a:lnTo>
                <a:cubicBezTo>
                  <a:pt x="92512" y="6013"/>
                  <a:pt x="98524" y="4346"/>
                  <a:pt x="104656" y="3512"/>
                </a:cubicBezTo>
                <a:lnTo>
                  <a:pt x="115729" y="-18871"/>
                </a:lnTo>
                <a:cubicBezTo>
                  <a:pt x="119062" y="-25598"/>
                  <a:pt x="126623" y="-28992"/>
                  <a:pt x="133886" y="-27087"/>
                </a:cubicBezTo>
                <a:close/>
                <a:moveTo>
                  <a:pt x="114538" y="50006"/>
                </a:moveTo>
                <a:cubicBezTo>
                  <a:pt x="100081" y="50006"/>
                  <a:pt x="88344" y="61743"/>
                  <a:pt x="88344" y="76200"/>
                </a:cubicBezTo>
                <a:cubicBezTo>
                  <a:pt x="88344" y="90657"/>
                  <a:pt x="100081" y="102394"/>
                  <a:pt x="114538" y="102394"/>
                </a:cubicBezTo>
                <a:cubicBezTo>
                  <a:pt x="128995" y="102394"/>
                  <a:pt x="140732" y="90657"/>
                  <a:pt x="140732" y="76200"/>
                </a:cubicBezTo>
                <a:cubicBezTo>
                  <a:pt x="140732" y="61743"/>
                  <a:pt x="128995" y="50006"/>
                  <a:pt x="114538" y="50006"/>
                </a:cubicBezTo>
                <a:close/>
              </a:path>
            </a:pathLst>
          </a:custGeom>
          <a:solidFill>
            <a:srgbClr val="C9A227"/>
          </a:solidFill>
          <a:ln/>
        </p:spPr>
      </p:sp>
      <p:sp>
        <p:nvSpPr>
          <p:cNvPr id="19" name="Text 16"/>
          <p:cNvSpPr/>
          <p:nvPr/>
        </p:nvSpPr>
        <p:spPr>
          <a:xfrm>
            <a:off x="3403600" y="2260600"/>
            <a:ext cx="1574800" cy="381000"/>
          </a:xfrm>
          <a:prstGeom prst="rect">
            <a:avLst/>
          </a:prstGeom>
          <a:noFill/>
          <a:ln/>
        </p:spPr>
        <p:txBody>
          <a:bodyPr wrap="none" lIns="0" tIns="0" rIns="0" bIns="0" rtlCol="0" anchor="ctr"/>
          <a:lstStyle/>
          <a:p>
            <a:pPr algn="ctr">
              <a:lnSpc>
                <a:spcPct val="100000"/>
              </a:lnSpc>
            </a:pPr>
            <a:r>
              <a:rPr lang="en-US" sz="1300" b="1" dirty="0">
                <a:solidFill>
                  <a:srgbClr val="FFFFFF"/>
                </a:solidFill>
                <a:latin typeface="Quattrocento Sans" pitchFamily="34" charset="0"/>
                <a:ea typeface="Quattrocento Sans" pitchFamily="34" charset="-122"/>
                <a:cs typeface="Quattrocento Sans" pitchFamily="34" charset="-120"/>
              </a:rPr>
              <a:t>ETL Python</a:t>
            </a:r>
            <a:endParaRPr lang="en-US" sz="1600" dirty="0"/>
          </a:p>
        </p:txBody>
      </p:sp>
      <p:sp>
        <p:nvSpPr>
          <p:cNvPr id="20" name="Shape 17"/>
          <p:cNvSpPr/>
          <p:nvPr/>
        </p:nvSpPr>
        <p:spPr>
          <a:xfrm>
            <a:off x="5080000" y="2286000"/>
            <a:ext cx="508000" cy="0"/>
          </a:xfrm>
          <a:prstGeom prst="straightConnector1">
            <a:avLst/>
          </a:prstGeom>
          <a:noFill/>
          <a:ln w="25400">
            <a:solidFill>
              <a:srgbClr val="C9A227"/>
            </a:solidFill>
            <a:prstDash val="solid"/>
            <a:headEnd type="none"/>
            <a:tailEnd type="arrow"/>
          </a:ln>
        </p:spPr>
      </p:sp>
      <p:sp>
        <p:nvSpPr>
          <p:cNvPr id="21" name="Shape 18"/>
          <p:cNvSpPr/>
          <p:nvPr/>
        </p:nvSpPr>
        <p:spPr>
          <a:xfrm>
            <a:off x="5588000" y="1841500"/>
            <a:ext cx="2540000" cy="889000"/>
          </a:xfrm>
          <a:prstGeom prst="rect">
            <a:avLst/>
          </a:prstGeom>
          <a:solidFill>
            <a:srgbClr val="52796F"/>
          </a:solidFill>
          <a:ln/>
        </p:spPr>
      </p:sp>
      <p:sp>
        <p:nvSpPr>
          <p:cNvPr id="22" name="Shape 19"/>
          <p:cNvSpPr/>
          <p:nvPr/>
        </p:nvSpPr>
        <p:spPr>
          <a:xfrm>
            <a:off x="6604000" y="1930400"/>
            <a:ext cx="304800" cy="304800"/>
          </a:xfrm>
          <a:custGeom>
            <a:avLst/>
            <a:gdLst/>
            <a:ahLst/>
            <a:cxnLst/>
            <a:rect l="l" t="t" r="r" b="b"/>
            <a:pathLst>
              <a:path w="304800" h="304800">
                <a:moveTo>
                  <a:pt x="169069" y="-774"/>
                </a:moveTo>
                <a:cubicBezTo>
                  <a:pt x="158770" y="-6727"/>
                  <a:pt x="146030" y="-6727"/>
                  <a:pt x="135731" y="-774"/>
                </a:cubicBezTo>
                <a:lnTo>
                  <a:pt x="85606" y="28158"/>
                </a:lnTo>
                <a:cubicBezTo>
                  <a:pt x="75307" y="34111"/>
                  <a:pt x="68937" y="45125"/>
                  <a:pt x="68937" y="57031"/>
                </a:cubicBezTo>
                <a:lnTo>
                  <a:pt x="68937" y="117693"/>
                </a:lnTo>
                <a:lnTo>
                  <a:pt x="16371" y="148054"/>
                </a:lnTo>
                <a:cubicBezTo>
                  <a:pt x="6072" y="154007"/>
                  <a:pt x="-298" y="165021"/>
                  <a:pt x="-298" y="176927"/>
                </a:cubicBezTo>
                <a:lnTo>
                  <a:pt x="-298" y="234851"/>
                </a:lnTo>
                <a:cubicBezTo>
                  <a:pt x="-298" y="246757"/>
                  <a:pt x="6072" y="257770"/>
                  <a:pt x="16371" y="263723"/>
                </a:cubicBezTo>
                <a:lnTo>
                  <a:pt x="66556" y="292656"/>
                </a:lnTo>
                <a:cubicBezTo>
                  <a:pt x="76855" y="298609"/>
                  <a:pt x="89595" y="298609"/>
                  <a:pt x="99893" y="292656"/>
                </a:cubicBezTo>
                <a:lnTo>
                  <a:pt x="152460" y="262295"/>
                </a:lnTo>
                <a:lnTo>
                  <a:pt x="205026" y="292656"/>
                </a:lnTo>
                <a:cubicBezTo>
                  <a:pt x="215325" y="298609"/>
                  <a:pt x="228064" y="298609"/>
                  <a:pt x="238363" y="292656"/>
                </a:cubicBezTo>
                <a:lnTo>
                  <a:pt x="288429" y="263723"/>
                </a:lnTo>
                <a:cubicBezTo>
                  <a:pt x="298728" y="257770"/>
                  <a:pt x="305098" y="246757"/>
                  <a:pt x="305098" y="234851"/>
                </a:cubicBezTo>
                <a:lnTo>
                  <a:pt x="305098" y="176927"/>
                </a:lnTo>
                <a:cubicBezTo>
                  <a:pt x="305098" y="165021"/>
                  <a:pt x="298728" y="154007"/>
                  <a:pt x="288429" y="148054"/>
                </a:cubicBezTo>
                <a:lnTo>
                  <a:pt x="235863" y="117693"/>
                </a:lnTo>
                <a:lnTo>
                  <a:pt x="235863" y="57031"/>
                </a:lnTo>
                <a:cubicBezTo>
                  <a:pt x="235863" y="45125"/>
                  <a:pt x="229493" y="34111"/>
                  <a:pt x="219194" y="28158"/>
                </a:cubicBezTo>
                <a:lnTo>
                  <a:pt x="169069" y="-774"/>
                </a:lnTo>
                <a:close/>
                <a:moveTo>
                  <a:pt x="138113" y="174188"/>
                </a:moveTo>
                <a:lnTo>
                  <a:pt x="138113" y="237589"/>
                </a:lnTo>
                <a:lnTo>
                  <a:pt x="85546" y="267950"/>
                </a:lnTo>
                <a:cubicBezTo>
                  <a:pt x="84832" y="268367"/>
                  <a:pt x="83999" y="268605"/>
                  <a:pt x="83165" y="268605"/>
                </a:cubicBezTo>
                <a:lnTo>
                  <a:pt x="83165" y="205919"/>
                </a:lnTo>
                <a:lnTo>
                  <a:pt x="138113" y="174188"/>
                </a:lnTo>
                <a:close/>
                <a:moveTo>
                  <a:pt x="275868" y="174546"/>
                </a:moveTo>
                <a:cubicBezTo>
                  <a:pt x="276285" y="175260"/>
                  <a:pt x="276523" y="176093"/>
                  <a:pt x="276523" y="176927"/>
                </a:cubicBezTo>
                <a:lnTo>
                  <a:pt x="276523" y="234851"/>
                </a:lnTo>
                <a:cubicBezTo>
                  <a:pt x="276523" y="236577"/>
                  <a:pt x="275630" y="238125"/>
                  <a:pt x="274141" y="238958"/>
                </a:cubicBezTo>
                <a:lnTo>
                  <a:pt x="223957" y="267891"/>
                </a:lnTo>
                <a:cubicBezTo>
                  <a:pt x="223242" y="268307"/>
                  <a:pt x="222409" y="268545"/>
                  <a:pt x="221575" y="268545"/>
                </a:cubicBezTo>
                <a:lnTo>
                  <a:pt x="221575" y="205859"/>
                </a:lnTo>
                <a:lnTo>
                  <a:pt x="275868" y="174546"/>
                </a:lnTo>
                <a:close/>
                <a:moveTo>
                  <a:pt x="207347" y="57031"/>
                </a:moveTo>
                <a:lnTo>
                  <a:pt x="207347" y="117693"/>
                </a:lnTo>
                <a:lnTo>
                  <a:pt x="152400" y="149423"/>
                </a:lnTo>
                <a:lnTo>
                  <a:pt x="152400" y="86023"/>
                </a:lnTo>
                <a:lnTo>
                  <a:pt x="206692" y="54709"/>
                </a:lnTo>
                <a:cubicBezTo>
                  <a:pt x="207109" y="55424"/>
                  <a:pt x="207347" y="56257"/>
                  <a:pt x="207347" y="57090"/>
                </a:cubicBezTo>
                <a:close/>
              </a:path>
            </a:pathLst>
          </a:custGeom>
          <a:solidFill>
            <a:srgbClr val="C9A227"/>
          </a:solidFill>
          <a:ln/>
        </p:spPr>
      </p:sp>
      <p:sp>
        <p:nvSpPr>
          <p:cNvPr id="23" name="Text 20"/>
          <p:cNvSpPr/>
          <p:nvPr/>
        </p:nvSpPr>
        <p:spPr>
          <a:xfrm>
            <a:off x="5689600" y="2159000"/>
            <a:ext cx="2336800" cy="558800"/>
          </a:xfrm>
          <a:prstGeom prst="rect">
            <a:avLst/>
          </a:prstGeom>
          <a:noFill/>
          <a:ln/>
        </p:spPr>
        <p:txBody>
          <a:bodyPr wrap="square" lIns="0" tIns="0" rIns="0" bIns="0" rtlCol="0" anchor="ctr"/>
          <a:lstStyle/>
          <a:p>
            <a:pPr algn="ctr">
              <a:lnSpc>
                <a:spcPct val="130000"/>
              </a:lnSpc>
            </a:pPr>
            <a:r>
              <a:rPr lang="en-US" sz="1300" b="1" dirty="0">
                <a:solidFill>
                  <a:srgbClr val="FFFFFF"/>
                </a:solidFill>
                <a:latin typeface="Quattrocento Sans" pitchFamily="34" charset="0"/>
                <a:ea typeface="Quattrocento Sans" pitchFamily="34" charset="-122"/>
                <a:cs typeface="Quattrocento Sans" pitchFamily="34" charset="-120"/>
              </a:rPr>
              <a:t>Cubos app-ready</a:t>
            </a:r>
            <a:endParaRPr lang="en-US" sz="1600" dirty="0"/>
          </a:p>
          <a:p>
            <a:pPr algn="ctr">
              <a:lnSpc>
                <a:spcPct val="130000"/>
              </a:lnSpc>
            </a:pPr>
            <a:r>
              <a:rPr lang="en-US" sz="1100" dirty="0">
                <a:solidFill>
                  <a:srgbClr val="FFFFFF"/>
                </a:solidFill>
                <a:latin typeface="Quattrocento Sans" pitchFamily="34" charset="0"/>
                <a:ea typeface="Quattrocento Sans" pitchFamily="34" charset="-122"/>
                <a:cs typeface="Quattrocento Sans" pitchFamily="34" charset="-120"/>
              </a:rPr>
              <a:t>weekly · monthly · annual</a:t>
            </a:r>
            <a:endParaRPr lang="en-US" sz="1600" dirty="0"/>
          </a:p>
        </p:txBody>
      </p:sp>
      <p:sp>
        <p:nvSpPr>
          <p:cNvPr id="24" name="Shape 21"/>
          <p:cNvSpPr/>
          <p:nvPr/>
        </p:nvSpPr>
        <p:spPr>
          <a:xfrm>
            <a:off x="6858000" y="2794000"/>
            <a:ext cx="0" cy="317500"/>
          </a:xfrm>
          <a:prstGeom prst="straightConnector1">
            <a:avLst/>
          </a:prstGeom>
          <a:noFill/>
          <a:ln w="25400">
            <a:solidFill>
              <a:srgbClr val="C9A227"/>
            </a:solidFill>
            <a:prstDash val="solid"/>
            <a:headEnd type="none"/>
            <a:tailEnd type="none"/>
          </a:ln>
        </p:spPr>
      </p:sp>
      <p:sp>
        <p:nvSpPr>
          <p:cNvPr id="25" name="Shape 22"/>
          <p:cNvSpPr/>
          <p:nvPr/>
        </p:nvSpPr>
        <p:spPr>
          <a:xfrm>
            <a:off x="6858000" y="2794000"/>
            <a:ext cx="3302000" cy="0"/>
          </a:xfrm>
          <a:prstGeom prst="straightConnector1">
            <a:avLst/>
          </a:prstGeom>
          <a:noFill/>
          <a:ln w="25400">
            <a:solidFill>
              <a:srgbClr val="C9A227"/>
            </a:solidFill>
            <a:prstDash val="solid"/>
            <a:headEnd type="none"/>
            <a:tailEnd type="none"/>
          </a:ln>
        </p:spPr>
      </p:sp>
      <p:sp>
        <p:nvSpPr>
          <p:cNvPr id="26" name="Shape 23"/>
          <p:cNvSpPr/>
          <p:nvPr/>
        </p:nvSpPr>
        <p:spPr>
          <a:xfrm>
            <a:off x="10160000" y="2794000"/>
            <a:ext cx="0" cy="317500"/>
          </a:xfrm>
          <a:prstGeom prst="straightConnector1">
            <a:avLst/>
          </a:prstGeom>
          <a:noFill/>
          <a:ln w="25400">
            <a:solidFill>
              <a:srgbClr val="C9A227"/>
            </a:solidFill>
            <a:prstDash val="solid"/>
            <a:headEnd type="none"/>
            <a:tailEnd type="arrow"/>
          </a:ln>
        </p:spPr>
      </p:sp>
      <p:sp>
        <p:nvSpPr>
          <p:cNvPr id="27" name="Shape 24"/>
          <p:cNvSpPr/>
          <p:nvPr/>
        </p:nvSpPr>
        <p:spPr>
          <a:xfrm>
            <a:off x="6858000" y="2794000"/>
            <a:ext cx="0" cy="317500"/>
          </a:xfrm>
          <a:prstGeom prst="straightConnector1">
            <a:avLst/>
          </a:prstGeom>
          <a:noFill/>
          <a:ln w="25400">
            <a:solidFill>
              <a:srgbClr val="C9A227"/>
            </a:solidFill>
            <a:prstDash val="solid"/>
            <a:headEnd type="none"/>
            <a:tailEnd type="arrow"/>
          </a:ln>
        </p:spPr>
      </p:sp>
      <p:sp>
        <p:nvSpPr>
          <p:cNvPr id="28" name="Shape 25"/>
          <p:cNvSpPr/>
          <p:nvPr/>
        </p:nvSpPr>
        <p:spPr>
          <a:xfrm>
            <a:off x="5588000" y="3111500"/>
            <a:ext cx="2540000" cy="889000"/>
          </a:xfrm>
          <a:prstGeom prst="rect">
            <a:avLst/>
          </a:prstGeom>
          <a:solidFill>
            <a:srgbClr val="40916C"/>
          </a:solidFill>
          <a:ln/>
        </p:spPr>
      </p:sp>
      <p:sp>
        <p:nvSpPr>
          <p:cNvPr id="29" name="Shape 26"/>
          <p:cNvSpPr/>
          <p:nvPr/>
        </p:nvSpPr>
        <p:spPr>
          <a:xfrm>
            <a:off x="6604000" y="3200400"/>
            <a:ext cx="304800" cy="304800"/>
          </a:xfrm>
          <a:custGeom>
            <a:avLst/>
            <a:gdLst/>
            <a:ahLst/>
            <a:cxnLst/>
            <a:rect l="l" t="t" r="r" b="b"/>
            <a:pathLst>
              <a:path w="304800" h="304800">
                <a:moveTo>
                  <a:pt x="71438" y="33338"/>
                </a:moveTo>
                <a:cubicBezTo>
                  <a:pt x="71438" y="14942"/>
                  <a:pt x="86380" y="0"/>
                  <a:pt x="104775" y="0"/>
                </a:cubicBezTo>
                <a:lnTo>
                  <a:pt x="119062" y="0"/>
                </a:lnTo>
                <a:cubicBezTo>
                  <a:pt x="129600" y="0"/>
                  <a:pt x="138113" y="8513"/>
                  <a:pt x="138113" y="19050"/>
                </a:cubicBezTo>
                <a:lnTo>
                  <a:pt x="138113" y="285750"/>
                </a:lnTo>
                <a:cubicBezTo>
                  <a:pt x="138113" y="296287"/>
                  <a:pt x="129600" y="304800"/>
                  <a:pt x="119062" y="304800"/>
                </a:cubicBezTo>
                <a:lnTo>
                  <a:pt x="100013" y="304800"/>
                </a:lnTo>
                <a:cubicBezTo>
                  <a:pt x="82272" y="304800"/>
                  <a:pt x="67330" y="292656"/>
                  <a:pt x="63103" y="276225"/>
                </a:cubicBezTo>
                <a:cubicBezTo>
                  <a:pt x="62686" y="276225"/>
                  <a:pt x="62329" y="276225"/>
                  <a:pt x="61912" y="276225"/>
                </a:cubicBezTo>
                <a:cubicBezTo>
                  <a:pt x="35600" y="276225"/>
                  <a:pt x="14288" y="254913"/>
                  <a:pt x="14288" y="228600"/>
                </a:cubicBezTo>
                <a:cubicBezTo>
                  <a:pt x="14288" y="217884"/>
                  <a:pt x="17859" y="208002"/>
                  <a:pt x="23813" y="200025"/>
                </a:cubicBezTo>
                <a:cubicBezTo>
                  <a:pt x="12263" y="191333"/>
                  <a:pt x="4763" y="177522"/>
                  <a:pt x="4763" y="161925"/>
                </a:cubicBezTo>
                <a:cubicBezTo>
                  <a:pt x="4763" y="143530"/>
                  <a:pt x="15240" y="127516"/>
                  <a:pt x="30480" y="119598"/>
                </a:cubicBezTo>
                <a:cubicBezTo>
                  <a:pt x="26253" y="112455"/>
                  <a:pt x="23813" y="104120"/>
                  <a:pt x="23813" y="95250"/>
                </a:cubicBezTo>
                <a:cubicBezTo>
                  <a:pt x="23813" y="68937"/>
                  <a:pt x="45125" y="47625"/>
                  <a:pt x="71438" y="47625"/>
                </a:cubicBezTo>
                <a:lnTo>
                  <a:pt x="71438" y="33338"/>
                </a:lnTo>
                <a:close/>
                <a:moveTo>
                  <a:pt x="233363" y="33338"/>
                </a:moveTo>
                <a:lnTo>
                  <a:pt x="233363" y="47625"/>
                </a:lnTo>
                <a:cubicBezTo>
                  <a:pt x="259675" y="47625"/>
                  <a:pt x="280987" y="68937"/>
                  <a:pt x="280987" y="95250"/>
                </a:cubicBezTo>
                <a:cubicBezTo>
                  <a:pt x="280987" y="104180"/>
                  <a:pt x="278547" y="112514"/>
                  <a:pt x="274320" y="119598"/>
                </a:cubicBezTo>
                <a:cubicBezTo>
                  <a:pt x="289620" y="127516"/>
                  <a:pt x="300038" y="143470"/>
                  <a:pt x="300038" y="161925"/>
                </a:cubicBezTo>
                <a:cubicBezTo>
                  <a:pt x="300038" y="177522"/>
                  <a:pt x="292537" y="191333"/>
                  <a:pt x="280987" y="200025"/>
                </a:cubicBezTo>
                <a:cubicBezTo>
                  <a:pt x="286941" y="208002"/>
                  <a:pt x="290513" y="217884"/>
                  <a:pt x="290513" y="228600"/>
                </a:cubicBezTo>
                <a:cubicBezTo>
                  <a:pt x="290513" y="254913"/>
                  <a:pt x="269200" y="276225"/>
                  <a:pt x="242888" y="276225"/>
                </a:cubicBezTo>
                <a:cubicBezTo>
                  <a:pt x="242471" y="276225"/>
                  <a:pt x="242114" y="276225"/>
                  <a:pt x="241697" y="276225"/>
                </a:cubicBezTo>
                <a:cubicBezTo>
                  <a:pt x="237470" y="292656"/>
                  <a:pt x="222528" y="304800"/>
                  <a:pt x="204787" y="304800"/>
                </a:cubicBezTo>
                <a:lnTo>
                  <a:pt x="185738" y="304800"/>
                </a:lnTo>
                <a:cubicBezTo>
                  <a:pt x="175200" y="304800"/>
                  <a:pt x="166688" y="296287"/>
                  <a:pt x="166688" y="285750"/>
                </a:cubicBezTo>
                <a:lnTo>
                  <a:pt x="166688" y="19050"/>
                </a:lnTo>
                <a:cubicBezTo>
                  <a:pt x="166688" y="8513"/>
                  <a:pt x="175200" y="0"/>
                  <a:pt x="185738" y="0"/>
                </a:cubicBezTo>
                <a:lnTo>
                  <a:pt x="200025" y="0"/>
                </a:lnTo>
                <a:cubicBezTo>
                  <a:pt x="218420" y="0"/>
                  <a:pt x="233363" y="14942"/>
                  <a:pt x="233363" y="33338"/>
                </a:cubicBezTo>
                <a:close/>
              </a:path>
            </a:pathLst>
          </a:custGeom>
          <a:solidFill>
            <a:srgbClr val="FFFFFF"/>
          </a:solidFill>
          <a:ln/>
        </p:spPr>
      </p:sp>
      <p:sp>
        <p:nvSpPr>
          <p:cNvPr id="30" name="Text 27"/>
          <p:cNvSpPr/>
          <p:nvPr/>
        </p:nvSpPr>
        <p:spPr>
          <a:xfrm>
            <a:off x="5689600" y="3530600"/>
            <a:ext cx="2336800" cy="381000"/>
          </a:xfrm>
          <a:prstGeom prst="rect">
            <a:avLst/>
          </a:prstGeom>
          <a:noFill/>
          <a:ln/>
        </p:spPr>
        <p:txBody>
          <a:bodyPr wrap="none" lIns="0" tIns="0" rIns="0" bIns="0" rtlCol="0" anchor="ctr"/>
          <a:lstStyle/>
          <a:p>
            <a:pPr algn="ctr">
              <a:lnSpc>
                <a:spcPct val="100000"/>
              </a:lnSpc>
            </a:pPr>
            <a:r>
              <a:rPr lang="en-US" sz="1300" b="1" dirty="0">
                <a:solidFill>
                  <a:srgbClr val="FFFFFF"/>
                </a:solidFill>
                <a:latin typeface="Quattrocento Sans" pitchFamily="34" charset="0"/>
                <a:ea typeface="Quattrocento Sans" pitchFamily="34" charset="-122"/>
                <a:cs typeface="Quattrocento Sans" pitchFamily="34" charset="-120"/>
              </a:rPr>
              <a:t>Modelos + metadata</a:t>
            </a:r>
            <a:endParaRPr lang="en-US" sz="1600" dirty="0"/>
          </a:p>
        </p:txBody>
      </p:sp>
      <p:sp>
        <p:nvSpPr>
          <p:cNvPr id="31" name="Text 28"/>
          <p:cNvSpPr/>
          <p:nvPr/>
        </p:nvSpPr>
        <p:spPr>
          <a:xfrm>
            <a:off x="5588000" y="4038600"/>
            <a:ext cx="2540000" cy="228600"/>
          </a:xfrm>
          <a:prstGeom prst="rect">
            <a:avLst/>
          </a:prstGeom>
          <a:noFill/>
          <a:ln/>
        </p:spPr>
        <p:txBody>
          <a:bodyPr wrap="none" lIns="0" tIns="0" rIns="0" bIns="0" rtlCol="0" anchor="ctr"/>
          <a:lstStyle/>
          <a:p>
            <a:pPr algn="ctr">
              <a:lnSpc>
                <a:spcPct val="100000"/>
              </a:lnSpc>
            </a:pPr>
            <a:r>
              <a:rPr lang="en-US" sz="1100" dirty="0">
                <a:solidFill>
                  <a:srgbClr val="6B7280"/>
                </a:solidFill>
                <a:latin typeface="Quattrocento Sans" pitchFamily="34" charset="0"/>
                <a:ea typeface="Quattrocento Sans" pitchFamily="34" charset="-122"/>
                <a:cs typeface="Quattrocento Sans" pitchFamily="34" charset="-120"/>
              </a:rPr>
              <a:t>joblib · métricas · selección</a:t>
            </a:r>
            <a:endParaRPr lang="en-US" sz="1600" dirty="0"/>
          </a:p>
        </p:txBody>
      </p:sp>
      <p:sp>
        <p:nvSpPr>
          <p:cNvPr id="32" name="Shape 29"/>
          <p:cNvSpPr/>
          <p:nvPr/>
        </p:nvSpPr>
        <p:spPr>
          <a:xfrm>
            <a:off x="8890000" y="3111500"/>
            <a:ext cx="2540000" cy="889000"/>
          </a:xfrm>
          <a:prstGeom prst="rect">
            <a:avLst/>
          </a:prstGeom>
          <a:solidFill>
            <a:srgbClr val="40916C"/>
          </a:solidFill>
          <a:ln/>
        </p:spPr>
      </p:sp>
      <p:sp>
        <p:nvSpPr>
          <p:cNvPr id="33" name="Shape 30"/>
          <p:cNvSpPr/>
          <p:nvPr/>
        </p:nvSpPr>
        <p:spPr>
          <a:xfrm>
            <a:off x="9906000" y="3200400"/>
            <a:ext cx="304800" cy="304800"/>
          </a:xfrm>
          <a:custGeom>
            <a:avLst/>
            <a:gdLst/>
            <a:ahLst/>
            <a:cxnLst/>
            <a:rect l="l" t="t" r="r" b="b"/>
            <a:pathLst>
              <a:path w="304800" h="304800">
                <a:moveTo>
                  <a:pt x="38100" y="38100"/>
                </a:moveTo>
                <a:cubicBezTo>
                  <a:pt x="38100" y="27563"/>
                  <a:pt x="29587" y="19050"/>
                  <a:pt x="19050" y="19050"/>
                </a:cubicBezTo>
                <a:cubicBezTo>
                  <a:pt x="8513" y="19050"/>
                  <a:pt x="0" y="27563"/>
                  <a:pt x="0" y="38100"/>
                </a:cubicBezTo>
                <a:lnTo>
                  <a:pt x="0" y="238125"/>
                </a:lnTo>
                <a:cubicBezTo>
                  <a:pt x="0" y="264438"/>
                  <a:pt x="21312" y="285750"/>
                  <a:pt x="47625" y="285750"/>
                </a:cubicBezTo>
                <a:lnTo>
                  <a:pt x="285750" y="285750"/>
                </a:lnTo>
                <a:cubicBezTo>
                  <a:pt x="296287" y="285750"/>
                  <a:pt x="304800" y="277237"/>
                  <a:pt x="304800" y="266700"/>
                </a:cubicBezTo>
                <a:cubicBezTo>
                  <a:pt x="304800" y="256163"/>
                  <a:pt x="296287" y="247650"/>
                  <a:pt x="285750" y="247650"/>
                </a:cubicBezTo>
                <a:lnTo>
                  <a:pt x="47625" y="247650"/>
                </a:lnTo>
                <a:cubicBezTo>
                  <a:pt x="42386" y="247650"/>
                  <a:pt x="38100" y="243364"/>
                  <a:pt x="38100" y="238125"/>
                </a:cubicBezTo>
                <a:lnTo>
                  <a:pt x="38100" y="38100"/>
                </a:lnTo>
                <a:close/>
                <a:moveTo>
                  <a:pt x="280154" y="89654"/>
                </a:moveTo>
                <a:cubicBezTo>
                  <a:pt x="287595" y="82213"/>
                  <a:pt x="287595" y="70128"/>
                  <a:pt x="280154" y="62686"/>
                </a:cubicBezTo>
                <a:cubicBezTo>
                  <a:pt x="272713" y="55245"/>
                  <a:pt x="260628" y="55245"/>
                  <a:pt x="253186" y="62686"/>
                </a:cubicBezTo>
                <a:lnTo>
                  <a:pt x="190500" y="125432"/>
                </a:lnTo>
                <a:lnTo>
                  <a:pt x="156329" y="91321"/>
                </a:lnTo>
                <a:cubicBezTo>
                  <a:pt x="148888" y="83880"/>
                  <a:pt x="136803" y="83880"/>
                  <a:pt x="129361" y="91321"/>
                </a:cubicBezTo>
                <a:lnTo>
                  <a:pt x="72211" y="148471"/>
                </a:lnTo>
                <a:cubicBezTo>
                  <a:pt x="64770" y="155912"/>
                  <a:pt x="64770" y="167997"/>
                  <a:pt x="72211" y="175439"/>
                </a:cubicBezTo>
                <a:cubicBezTo>
                  <a:pt x="79653" y="182880"/>
                  <a:pt x="91738" y="182880"/>
                  <a:pt x="99179" y="175439"/>
                </a:cubicBezTo>
                <a:lnTo>
                  <a:pt x="142875" y="131743"/>
                </a:lnTo>
                <a:lnTo>
                  <a:pt x="177046" y="165914"/>
                </a:lnTo>
                <a:cubicBezTo>
                  <a:pt x="184487" y="173355"/>
                  <a:pt x="196572" y="173355"/>
                  <a:pt x="204014" y="165914"/>
                </a:cubicBezTo>
                <a:lnTo>
                  <a:pt x="280214" y="89714"/>
                </a:lnTo>
                <a:close/>
              </a:path>
            </a:pathLst>
          </a:custGeom>
          <a:solidFill>
            <a:srgbClr val="FFFFFF"/>
          </a:solidFill>
          <a:ln/>
        </p:spPr>
      </p:sp>
      <p:sp>
        <p:nvSpPr>
          <p:cNvPr id="34" name="Text 31"/>
          <p:cNvSpPr/>
          <p:nvPr/>
        </p:nvSpPr>
        <p:spPr>
          <a:xfrm>
            <a:off x="8991600" y="3530600"/>
            <a:ext cx="2336800" cy="381000"/>
          </a:xfrm>
          <a:prstGeom prst="rect">
            <a:avLst/>
          </a:prstGeom>
          <a:noFill/>
          <a:ln/>
        </p:spPr>
        <p:txBody>
          <a:bodyPr wrap="none" lIns="0" tIns="0" rIns="0" bIns="0" rtlCol="0" anchor="ctr"/>
          <a:lstStyle/>
          <a:p>
            <a:pPr algn="ctr">
              <a:lnSpc>
                <a:spcPct val="100000"/>
              </a:lnSpc>
            </a:pPr>
            <a:r>
              <a:rPr lang="en-US" sz="1300" b="1" dirty="0">
                <a:solidFill>
                  <a:srgbClr val="FFFFFF"/>
                </a:solidFill>
                <a:latin typeface="Quattrocento Sans" pitchFamily="34" charset="0"/>
                <a:ea typeface="Quattrocento Sans" pitchFamily="34" charset="-122"/>
                <a:cs typeface="Quattrocento Sans" pitchFamily="34" charset="-120"/>
              </a:rPr>
              <a:t>Dash + Plotly</a:t>
            </a:r>
            <a:endParaRPr lang="en-US" sz="1600" dirty="0"/>
          </a:p>
        </p:txBody>
      </p:sp>
      <p:sp>
        <p:nvSpPr>
          <p:cNvPr id="35" name="Text 32"/>
          <p:cNvSpPr/>
          <p:nvPr/>
        </p:nvSpPr>
        <p:spPr>
          <a:xfrm>
            <a:off x="8890000" y="4038600"/>
            <a:ext cx="2540000" cy="228600"/>
          </a:xfrm>
          <a:prstGeom prst="rect">
            <a:avLst/>
          </a:prstGeom>
          <a:noFill/>
          <a:ln/>
        </p:spPr>
        <p:txBody>
          <a:bodyPr wrap="none" lIns="0" tIns="0" rIns="0" bIns="0" rtlCol="0" anchor="ctr"/>
          <a:lstStyle/>
          <a:p>
            <a:pPr algn="ctr">
              <a:lnSpc>
                <a:spcPct val="100000"/>
              </a:lnSpc>
            </a:pPr>
            <a:r>
              <a:rPr lang="en-US" sz="1100" dirty="0">
                <a:solidFill>
                  <a:srgbClr val="6B7280"/>
                </a:solidFill>
                <a:latin typeface="Quattrocento Sans" pitchFamily="34" charset="0"/>
                <a:ea typeface="Quattrocento Sans" pitchFamily="34" charset="-122"/>
                <a:cs typeface="Quattrocento Sans" pitchFamily="34" charset="-120"/>
              </a:rPr>
              <a:t>app web interactiva</a:t>
            </a:r>
            <a:endParaRPr lang="en-US" sz="1600" dirty="0"/>
          </a:p>
        </p:txBody>
      </p:sp>
      <p:sp>
        <p:nvSpPr>
          <p:cNvPr id="36" name="Shape 33"/>
          <p:cNvSpPr/>
          <p:nvPr/>
        </p:nvSpPr>
        <p:spPr>
          <a:xfrm>
            <a:off x="6858000" y="4318000"/>
            <a:ext cx="0" cy="317500"/>
          </a:xfrm>
          <a:prstGeom prst="straightConnector1">
            <a:avLst/>
          </a:prstGeom>
          <a:noFill/>
          <a:ln w="25400">
            <a:solidFill>
              <a:srgbClr val="C9A227"/>
            </a:solidFill>
            <a:prstDash val="solid"/>
            <a:headEnd type="none"/>
            <a:tailEnd type="none"/>
          </a:ln>
        </p:spPr>
      </p:sp>
      <p:sp>
        <p:nvSpPr>
          <p:cNvPr id="37" name="Shape 34"/>
          <p:cNvSpPr/>
          <p:nvPr/>
        </p:nvSpPr>
        <p:spPr>
          <a:xfrm>
            <a:off x="6858000" y="4318000"/>
            <a:ext cx="3302000" cy="0"/>
          </a:xfrm>
          <a:prstGeom prst="straightConnector1">
            <a:avLst/>
          </a:prstGeom>
          <a:noFill/>
          <a:ln w="25400">
            <a:solidFill>
              <a:srgbClr val="C9A227"/>
            </a:solidFill>
            <a:prstDash val="solid"/>
            <a:headEnd type="none"/>
            <a:tailEnd type="none"/>
          </a:ln>
        </p:spPr>
      </p:sp>
      <p:sp>
        <p:nvSpPr>
          <p:cNvPr id="38" name="Shape 35"/>
          <p:cNvSpPr/>
          <p:nvPr/>
        </p:nvSpPr>
        <p:spPr>
          <a:xfrm>
            <a:off x="10160000" y="4318000"/>
            <a:ext cx="0" cy="317500"/>
          </a:xfrm>
          <a:prstGeom prst="straightConnector1">
            <a:avLst/>
          </a:prstGeom>
          <a:noFill/>
          <a:ln w="25400">
            <a:solidFill>
              <a:srgbClr val="C9A227"/>
            </a:solidFill>
            <a:prstDash val="solid"/>
            <a:headEnd type="none"/>
            <a:tailEnd type="none"/>
          </a:ln>
        </p:spPr>
      </p:sp>
      <p:sp>
        <p:nvSpPr>
          <p:cNvPr id="39" name="Shape 36"/>
          <p:cNvSpPr/>
          <p:nvPr/>
        </p:nvSpPr>
        <p:spPr>
          <a:xfrm>
            <a:off x="8509000" y="4635500"/>
            <a:ext cx="0" cy="317500"/>
          </a:xfrm>
          <a:prstGeom prst="straightConnector1">
            <a:avLst/>
          </a:prstGeom>
          <a:noFill/>
          <a:ln w="25400">
            <a:solidFill>
              <a:srgbClr val="C9A227"/>
            </a:solidFill>
            <a:prstDash val="solid"/>
            <a:headEnd type="none"/>
            <a:tailEnd type="arrow"/>
          </a:ln>
        </p:spPr>
      </p:sp>
      <p:sp>
        <p:nvSpPr>
          <p:cNvPr id="40" name="Shape 37"/>
          <p:cNvSpPr/>
          <p:nvPr/>
        </p:nvSpPr>
        <p:spPr>
          <a:xfrm>
            <a:off x="7366000" y="5016500"/>
            <a:ext cx="2286000" cy="889000"/>
          </a:xfrm>
          <a:prstGeom prst="rect">
            <a:avLst/>
          </a:prstGeom>
          <a:solidFill>
            <a:srgbClr val="D4A574"/>
          </a:solidFill>
          <a:ln/>
        </p:spPr>
      </p:sp>
      <p:sp>
        <p:nvSpPr>
          <p:cNvPr id="41" name="Shape 38"/>
          <p:cNvSpPr/>
          <p:nvPr/>
        </p:nvSpPr>
        <p:spPr>
          <a:xfrm>
            <a:off x="8216900" y="5105400"/>
            <a:ext cx="381000" cy="304800"/>
          </a:xfrm>
          <a:custGeom>
            <a:avLst/>
            <a:gdLst/>
            <a:ahLst/>
            <a:cxnLst/>
            <a:rect l="l" t="t" r="r" b="b"/>
            <a:pathLst>
              <a:path w="381000" h="304800">
                <a:moveTo>
                  <a:pt x="208300" y="140672"/>
                </a:moveTo>
                <a:lnTo>
                  <a:pt x="168950" y="140672"/>
                </a:lnTo>
                <a:lnTo>
                  <a:pt x="168950" y="105311"/>
                </a:lnTo>
                <a:lnTo>
                  <a:pt x="208300" y="105311"/>
                </a:lnTo>
                <a:lnTo>
                  <a:pt x="208300" y="140672"/>
                </a:lnTo>
                <a:close/>
                <a:moveTo>
                  <a:pt x="208300" y="19050"/>
                </a:moveTo>
                <a:lnTo>
                  <a:pt x="168950" y="19050"/>
                </a:lnTo>
                <a:lnTo>
                  <a:pt x="168950" y="55185"/>
                </a:lnTo>
                <a:lnTo>
                  <a:pt x="208300" y="55185"/>
                </a:lnTo>
                <a:lnTo>
                  <a:pt x="208300" y="19050"/>
                </a:lnTo>
                <a:close/>
                <a:moveTo>
                  <a:pt x="254853" y="105251"/>
                </a:moveTo>
                <a:lnTo>
                  <a:pt x="215503" y="105251"/>
                </a:lnTo>
                <a:lnTo>
                  <a:pt x="215503" y="140613"/>
                </a:lnTo>
                <a:lnTo>
                  <a:pt x="254853" y="140613"/>
                </a:lnTo>
                <a:lnTo>
                  <a:pt x="254853" y="105251"/>
                </a:lnTo>
                <a:close/>
                <a:moveTo>
                  <a:pt x="161806" y="62329"/>
                </a:moveTo>
                <a:lnTo>
                  <a:pt x="122456" y="62329"/>
                </a:lnTo>
                <a:lnTo>
                  <a:pt x="122456" y="98108"/>
                </a:lnTo>
                <a:lnTo>
                  <a:pt x="161806" y="98108"/>
                </a:lnTo>
                <a:lnTo>
                  <a:pt x="161806" y="62329"/>
                </a:lnTo>
                <a:close/>
                <a:moveTo>
                  <a:pt x="208300" y="62329"/>
                </a:moveTo>
                <a:lnTo>
                  <a:pt x="168950" y="62329"/>
                </a:lnTo>
                <a:lnTo>
                  <a:pt x="168950" y="98108"/>
                </a:lnTo>
                <a:lnTo>
                  <a:pt x="208300" y="98108"/>
                </a:lnTo>
                <a:lnTo>
                  <a:pt x="208300" y="62329"/>
                </a:lnTo>
                <a:close/>
                <a:moveTo>
                  <a:pt x="373082" y="121860"/>
                </a:moveTo>
                <a:cubicBezTo>
                  <a:pt x="364510" y="116086"/>
                  <a:pt x="344745" y="114002"/>
                  <a:pt x="329565" y="116860"/>
                </a:cubicBezTo>
                <a:cubicBezTo>
                  <a:pt x="327600" y="102572"/>
                  <a:pt x="319623" y="90130"/>
                  <a:pt x="305098" y="78938"/>
                </a:cubicBezTo>
                <a:lnTo>
                  <a:pt x="296763" y="73402"/>
                </a:lnTo>
                <a:lnTo>
                  <a:pt x="291227" y="81736"/>
                </a:lnTo>
                <a:cubicBezTo>
                  <a:pt x="280273" y="98286"/>
                  <a:pt x="277297" y="125551"/>
                  <a:pt x="289024" y="143530"/>
                </a:cubicBezTo>
                <a:cubicBezTo>
                  <a:pt x="283845" y="146328"/>
                  <a:pt x="273665" y="150138"/>
                  <a:pt x="260211" y="149900"/>
                </a:cubicBezTo>
                <a:lnTo>
                  <a:pt x="1429" y="149900"/>
                </a:lnTo>
                <a:cubicBezTo>
                  <a:pt x="-3750" y="180142"/>
                  <a:pt x="4882" y="219432"/>
                  <a:pt x="27623" y="246400"/>
                </a:cubicBezTo>
                <a:cubicBezTo>
                  <a:pt x="49709" y="272534"/>
                  <a:pt x="82808" y="285810"/>
                  <a:pt x="126087" y="285810"/>
                </a:cubicBezTo>
                <a:cubicBezTo>
                  <a:pt x="219789" y="285810"/>
                  <a:pt x="289143" y="242649"/>
                  <a:pt x="321588" y="164247"/>
                </a:cubicBezTo>
                <a:cubicBezTo>
                  <a:pt x="334328" y="164485"/>
                  <a:pt x="361831" y="164306"/>
                  <a:pt x="375940" y="137339"/>
                </a:cubicBezTo>
                <a:cubicBezTo>
                  <a:pt x="376833" y="135850"/>
                  <a:pt x="379869" y="129480"/>
                  <a:pt x="381000" y="127159"/>
                </a:cubicBezTo>
                <a:lnTo>
                  <a:pt x="373082" y="121860"/>
                </a:lnTo>
                <a:close/>
                <a:moveTo>
                  <a:pt x="68818" y="105251"/>
                </a:moveTo>
                <a:lnTo>
                  <a:pt x="29527" y="105251"/>
                </a:lnTo>
                <a:lnTo>
                  <a:pt x="29527" y="140613"/>
                </a:lnTo>
                <a:lnTo>
                  <a:pt x="68878" y="140613"/>
                </a:lnTo>
                <a:lnTo>
                  <a:pt x="68878" y="105251"/>
                </a:lnTo>
                <a:lnTo>
                  <a:pt x="68818" y="105251"/>
                </a:lnTo>
                <a:close/>
                <a:moveTo>
                  <a:pt x="115312" y="105251"/>
                </a:moveTo>
                <a:lnTo>
                  <a:pt x="75962" y="105251"/>
                </a:lnTo>
                <a:lnTo>
                  <a:pt x="75962" y="140613"/>
                </a:lnTo>
                <a:lnTo>
                  <a:pt x="115312" y="140613"/>
                </a:lnTo>
                <a:lnTo>
                  <a:pt x="115312" y="105251"/>
                </a:lnTo>
                <a:close/>
                <a:moveTo>
                  <a:pt x="161806" y="105251"/>
                </a:moveTo>
                <a:lnTo>
                  <a:pt x="122456" y="105251"/>
                </a:lnTo>
                <a:lnTo>
                  <a:pt x="122456" y="140613"/>
                </a:lnTo>
                <a:lnTo>
                  <a:pt x="161806" y="140613"/>
                </a:lnTo>
                <a:lnTo>
                  <a:pt x="161806" y="105251"/>
                </a:lnTo>
                <a:close/>
                <a:moveTo>
                  <a:pt x="115312" y="62329"/>
                </a:moveTo>
                <a:lnTo>
                  <a:pt x="75962" y="62329"/>
                </a:lnTo>
                <a:lnTo>
                  <a:pt x="75962" y="98108"/>
                </a:lnTo>
                <a:lnTo>
                  <a:pt x="115312" y="98108"/>
                </a:lnTo>
                <a:lnTo>
                  <a:pt x="115312" y="62329"/>
                </a:lnTo>
                <a:close/>
              </a:path>
            </a:pathLst>
          </a:custGeom>
          <a:solidFill>
            <a:srgbClr val="1B4332"/>
          </a:solidFill>
          <a:ln/>
        </p:spPr>
      </p:sp>
      <p:sp>
        <p:nvSpPr>
          <p:cNvPr id="42" name="Text 39"/>
          <p:cNvSpPr/>
          <p:nvPr/>
        </p:nvSpPr>
        <p:spPr>
          <a:xfrm>
            <a:off x="7467600" y="5435600"/>
            <a:ext cx="2082800" cy="381000"/>
          </a:xfrm>
          <a:prstGeom prst="rect">
            <a:avLst/>
          </a:prstGeom>
          <a:noFill/>
          <a:ln/>
        </p:spPr>
        <p:txBody>
          <a:bodyPr wrap="none" lIns="0" tIns="0" rIns="0" bIns="0" rtlCol="0" anchor="ctr"/>
          <a:lstStyle/>
          <a:p>
            <a:pPr algn="ctr">
              <a:lnSpc>
                <a:spcPct val="100000"/>
              </a:lnSpc>
            </a:pPr>
            <a:r>
              <a:rPr lang="en-US" sz="1300" b="1" dirty="0">
                <a:solidFill>
                  <a:srgbClr val="1B4332"/>
                </a:solidFill>
                <a:latin typeface="Quattrocento Sans" pitchFamily="34" charset="0"/>
                <a:ea typeface="Quattrocento Sans" pitchFamily="34" charset="-122"/>
                <a:cs typeface="Quattrocento Sans" pitchFamily="34" charset="-120"/>
              </a:rPr>
              <a:t>Docker</a:t>
            </a:r>
            <a:endParaRPr lang="en-US" sz="1600" dirty="0"/>
          </a:p>
        </p:txBody>
      </p:sp>
      <p:sp>
        <p:nvSpPr>
          <p:cNvPr id="43" name="Shape 40"/>
          <p:cNvSpPr/>
          <p:nvPr/>
        </p:nvSpPr>
        <p:spPr>
          <a:xfrm>
            <a:off x="8509000" y="5905500"/>
            <a:ext cx="0" cy="317500"/>
          </a:xfrm>
          <a:prstGeom prst="straightConnector1">
            <a:avLst/>
          </a:prstGeom>
          <a:noFill/>
          <a:ln w="25400">
            <a:solidFill>
              <a:srgbClr val="C9A227"/>
            </a:solidFill>
            <a:prstDash val="solid"/>
            <a:headEnd type="none"/>
            <a:tailEnd type="arrow"/>
          </a:ln>
        </p:spPr>
      </p:sp>
      <p:sp>
        <p:nvSpPr>
          <p:cNvPr id="44" name="Shape 41"/>
          <p:cNvSpPr/>
          <p:nvPr/>
        </p:nvSpPr>
        <p:spPr>
          <a:xfrm>
            <a:off x="7366000" y="6286500"/>
            <a:ext cx="2286000" cy="889000"/>
          </a:xfrm>
          <a:prstGeom prst="rect">
            <a:avLst/>
          </a:prstGeom>
          <a:solidFill>
            <a:srgbClr val="C9A227"/>
          </a:solidFill>
          <a:ln/>
        </p:spPr>
      </p:sp>
      <p:sp>
        <p:nvSpPr>
          <p:cNvPr id="45" name="Shape 42"/>
          <p:cNvSpPr/>
          <p:nvPr/>
        </p:nvSpPr>
        <p:spPr>
          <a:xfrm>
            <a:off x="8255000" y="6375400"/>
            <a:ext cx="304800" cy="304800"/>
          </a:xfrm>
          <a:custGeom>
            <a:avLst/>
            <a:gdLst/>
            <a:ahLst/>
            <a:cxnLst/>
            <a:rect l="l" t="t" r="r" b="b"/>
            <a:pathLst>
              <a:path w="304800" h="304800">
                <a:moveTo>
                  <a:pt x="76200" y="190500"/>
                </a:moveTo>
                <a:lnTo>
                  <a:pt x="14585" y="190500"/>
                </a:lnTo>
                <a:cubicBezTo>
                  <a:pt x="-238" y="190500"/>
                  <a:pt x="-9346" y="174367"/>
                  <a:pt x="-1726" y="161627"/>
                </a:cubicBezTo>
                <a:lnTo>
                  <a:pt x="29766" y="109121"/>
                </a:lnTo>
                <a:cubicBezTo>
                  <a:pt x="34945" y="100489"/>
                  <a:pt x="44232" y="95250"/>
                  <a:pt x="54293" y="95250"/>
                </a:cubicBezTo>
                <a:lnTo>
                  <a:pt x="110847" y="95250"/>
                </a:lnTo>
                <a:cubicBezTo>
                  <a:pt x="156150" y="18514"/>
                  <a:pt x="223718" y="14645"/>
                  <a:pt x="268903" y="21253"/>
                </a:cubicBezTo>
                <a:cubicBezTo>
                  <a:pt x="276523" y="22384"/>
                  <a:pt x="282476" y="28337"/>
                  <a:pt x="283547" y="35897"/>
                </a:cubicBezTo>
                <a:cubicBezTo>
                  <a:pt x="290155" y="81082"/>
                  <a:pt x="286286" y="148650"/>
                  <a:pt x="209550" y="193953"/>
                </a:cubicBezTo>
                <a:lnTo>
                  <a:pt x="209550" y="250508"/>
                </a:lnTo>
                <a:cubicBezTo>
                  <a:pt x="209550" y="260568"/>
                  <a:pt x="204311" y="269855"/>
                  <a:pt x="195679" y="275034"/>
                </a:cubicBezTo>
                <a:lnTo>
                  <a:pt x="143173" y="306526"/>
                </a:lnTo>
                <a:cubicBezTo>
                  <a:pt x="130493" y="314146"/>
                  <a:pt x="114300" y="304979"/>
                  <a:pt x="114300" y="290215"/>
                </a:cubicBezTo>
                <a:lnTo>
                  <a:pt x="114300" y="228600"/>
                </a:lnTo>
                <a:cubicBezTo>
                  <a:pt x="114300" y="207585"/>
                  <a:pt x="97215" y="190500"/>
                  <a:pt x="76200" y="190500"/>
                </a:cubicBezTo>
                <a:lnTo>
                  <a:pt x="76140" y="190500"/>
                </a:lnTo>
                <a:close/>
                <a:moveTo>
                  <a:pt x="238125" y="95250"/>
                </a:moveTo>
                <a:cubicBezTo>
                  <a:pt x="238125" y="79479"/>
                  <a:pt x="225321" y="66675"/>
                  <a:pt x="209550" y="66675"/>
                </a:cubicBezTo>
                <a:cubicBezTo>
                  <a:pt x="193779" y="66675"/>
                  <a:pt x="180975" y="79479"/>
                  <a:pt x="180975" y="95250"/>
                </a:cubicBezTo>
                <a:cubicBezTo>
                  <a:pt x="180975" y="111021"/>
                  <a:pt x="193779" y="123825"/>
                  <a:pt x="209550" y="123825"/>
                </a:cubicBezTo>
                <a:cubicBezTo>
                  <a:pt x="225321" y="123825"/>
                  <a:pt x="238125" y="111021"/>
                  <a:pt x="238125" y="95250"/>
                </a:cubicBezTo>
                <a:close/>
              </a:path>
            </a:pathLst>
          </a:custGeom>
          <a:solidFill>
            <a:srgbClr val="1B4332"/>
          </a:solidFill>
          <a:ln/>
        </p:spPr>
      </p:sp>
      <p:sp>
        <p:nvSpPr>
          <p:cNvPr id="46" name="Text 43"/>
          <p:cNvSpPr/>
          <p:nvPr/>
        </p:nvSpPr>
        <p:spPr>
          <a:xfrm>
            <a:off x="7467600" y="6705600"/>
            <a:ext cx="2082800" cy="381000"/>
          </a:xfrm>
          <a:prstGeom prst="rect">
            <a:avLst/>
          </a:prstGeom>
          <a:noFill/>
          <a:ln/>
        </p:spPr>
        <p:txBody>
          <a:bodyPr wrap="none" lIns="0" tIns="0" rIns="0" bIns="0" rtlCol="0" anchor="ctr"/>
          <a:lstStyle/>
          <a:p>
            <a:pPr algn="ctr">
              <a:lnSpc>
                <a:spcPct val="100000"/>
              </a:lnSpc>
            </a:pPr>
            <a:r>
              <a:rPr lang="en-US" sz="1300" b="1" dirty="0">
                <a:solidFill>
                  <a:srgbClr val="1B4332"/>
                </a:solidFill>
                <a:latin typeface="Quattrocento Sans" pitchFamily="34" charset="0"/>
                <a:ea typeface="Quattrocento Sans" pitchFamily="34" charset="-122"/>
                <a:cs typeface="Quattrocento Sans" pitchFamily="34" charset="-120"/>
              </a:rPr>
              <a:t>Render</a:t>
            </a:r>
            <a:endParaRPr lang="en-US" sz="1600" dirty="0"/>
          </a:p>
        </p:txBody>
      </p:sp>
      <p:sp>
        <p:nvSpPr>
          <p:cNvPr id="47" name="Text 44"/>
          <p:cNvSpPr/>
          <p:nvPr/>
        </p:nvSpPr>
        <p:spPr>
          <a:xfrm>
            <a:off x="7366000" y="7213600"/>
            <a:ext cx="2286000" cy="228600"/>
          </a:xfrm>
          <a:prstGeom prst="rect">
            <a:avLst/>
          </a:prstGeom>
          <a:noFill/>
          <a:ln/>
        </p:spPr>
        <p:txBody>
          <a:bodyPr wrap="none" lIns="0" tIns="0" rIns="0" bIns="0" rtlCol="0" anchor="ctr"/>
          <a:lstStyle/>
          <a:p>
            <a:pPr algn="ctr">
              <a:lnSpc>
                <a:spcPct val="100000"/>
              </a:lnSpc>
            </a:pPr>
            <a:r>
              <a:rPr lang="en-US" sz="1100" dirty="0">
                <a:solidFill>
                  <a:srgbClr val="6B7280"/>
                </a:solidFill>
                <a:latin typeface="Quattrocento Sans" pitchFamily="34" charset="0"/>
                <a:ea typeface="Quattrocento Sans" pitchFamily="34" charset="-122"/>
                <a:cs typeface="Quattrocento Sans" pitchFamily="34" charset="-120"/>
              </a:rPr>
              <a:t>despliegue en producción</a:t>
            </a:r>
            <a:endParaRPr lang="en-US" sz="1600" dirty="0"/>
          </a:p>
        </p:txBody>
      </p:sp>
      <p:sp>
        <p:nvSpPr>
          <p:cNvPr id="48" name="Text 45"/>
          <p:cNvSpPr/>
          <p:nvPr/>
        </p:nvSpPr>
        <p:spPr>
          <a:xfrm>
            <a:off x="12192000" y="1498600"/>
            <a:ext cx="2540000" cy="254000"/>
          </a:xfrm>
          <a:prstGeom prst="rect">
            <a:avLst/>
          </a:prstGeom>
          <a:noFill/>
          <a:ln/>
        </p:spPr>
        <p:txBody>
          <a:bodyPr wrap="none" lIns="0" tIns="0" rIns="0" bIns="0" rtlCol="0" anchor="ctr"/>
          <a:lstStyle/>
          <a:p>
            <a:pPr>
              <a:lnSpc>
                <a:spcPct val="120000"/>
              </a:lnSpc>
            </a:pPr>
            <a:r>
              <a:rPr lang="en-US" sz="1300" spc="100" kern="0" dirty="0">
                <a:solidFill>
                  <a:srgbClr val="1B4332"/>
                </a:solidFill>
                <a:latin typeface="QuattrocentoSans" pitchFamily="34" charset="0"/>
                <a:ea typeface="QuattrocentoSans" pitchFamily="34" charset="-122"/>
                <a:cs typeface="QuattrocentoSans" pitchFamily="34" charset="-120"/>
              </a:rPr>
              <a:t>STACK TECNOLÓGICO</a:t>
            </a:r>
            <a:endParaRPr lang="en-US" sz="1300" dirty="0"/>
          </a:p>
        </p:txBody>
      </p:sp>
      <p:sp>
        <p:nvSpPr>
          <p:cNvPr id="49" name="Shape 46"/>
          <p:cNvSpPr/>
          <p:nvPr/>
        </p:nvSpPr>
        <p:spPr>
          <a:xfrm>
            <a:off x="12192000" y="1841500"/>
            <a:ext cx="3302000" cy="6604000"/>
          </a:xfrm>
          <a:prstGeom prst="rect">
            <a:avLst/>
          </a:prstGeom>
          <a:solidFill>
            <a:srgbClr val="E8E0D4"/>
          </a:solidFill>
          <a:ln/>
        </p:spPr>
      </p:sp>
      <p:sp>
        <p:nvSpPr>
          <p:cNvPr id="50" name="Text 47"/>
          <p:cNvSpPr/>
          <p:nvPr/>
        </p:nvSpPr>
        <p:spPr>
          <a:xfrm>
            <a:off x="12446000" y="2032000"/>
            <a:ext cx="2794000" cy="6223000"/>
          </a:xfrm>
          <a:prstGeom prst="rect">
            <a:avLst/>
          </a:prstGeom>
          <a:noFill/>
          <a:ln/>
        </p:spPr>
        <p:txBody>
          <a:bodyPr wrap="square" lIns="0" tIns="0" rIns="0" bIns="0" rtlCol="0" anchor="t"/>
          <a:lstStyle/>
          <a:p>
            <a:pPr>
              <a:lnSpc>
                <a:spcPct val="145000"/>
              </a:lnSpc>
            </a:pPr>
            <a:r>
              <a:rPr lang="en-US" sz="1400" b="1" dirty="0">
                <a:solidFill>
                  <a:srgbClr val="C9A227"/>
                </a:solidFill>
                <a:latin typeface="QuattrocentoSans" pitchFamily="34" charset="0"/>
                <a:ea typeface="QuattrocentoSans" pitchFamily="34" charset="-122"/>
                <a:cs typeface="QuattrocentoSans" pitchFamily="34" charset="-120"/>
              </a:rPr>
              <a:t>Lenguaje</a:t>
            </a:r>
            <a:endParaRPr lang="en-US" sz="1800" dirty="0"/>
          </a:p>
          <a:p>
            <a:pPr>
              <a:lnSpc>
                <a:spcPct val="145000"/>
              </a:lnSpc>
            </a:pPr>
            <a:r>
              <a:rPr lang="en-US" sz="1400" dirty="0">
                <a:solidFill>
                  <a:srgbClr val="2D3436"/>
                </a:solidFill>
                <a:latin typeface="QuattrocentoSans" pitchFamily="34" charset="0"/>
                <a:ea typeface="QuattrocentoSans" pitchFamily="34" charset="-122"/>
                <a:cs typeface="QuattrocentoSans" pitchFamily="34" charset="-120"/>
              </a:rPr>
              <a:t>Python 3.x</a:t>
            </a:r>
            <a:endParaRPr lang="en-US" sz="1800" dirty="0"/>
          </a:p>
          <a:p>
            <a:pPr>
              <a:lnSpc>
                <a:spcPct val="145000"/>
              </a:lnSpc>
              <a:spcBef>
                <a:spcPts val="1200"/>
              </a:spcBef>
            </a:pPr>
            <a:r>
              <a:rPr lang="en-US" sz="1400" b="1" dirty="0">
                <a:solidFill>
                  <a:srgbClr val="C9A227"/>
                </a:solidFill>
                <a:latin typeface="QuattrocentoSans" pitchFamily="34" charset="0"/>
                <a:ea typeface="QuattrocentoSans" pitchFamily="34" charset="-122"/>
                <a:cs typeface="QuattrocentoSans" pitchFamily="34" charset="-120"/>
              </a:rPr>
              <a:t>Framework</a:t>
            </a:r>
            <a:endParaRPr lang="en-US" sz="1800" dirty="0"/>
          </a:p>
          <a:p>
            <a:pPr>
              <a:lnSpc>
                <a:spcPct val="145000"/>
              </a:lnSpc>
            </a:pPr>
            <a:r>
              <a:rPr lang="en-US" sz="1400" dirty="0">
                <a:solidFill>
                  <a:srgbClr val="2D3436"/>
                </a:solidFill>
                <a:latin typeface="QuattrocentoSans" pitchFamily="34" charset="0"/>
                <a:ea typeface="QuattrocentoSans" pitchFamily="34" charset="-122"/>
                <a:cs typeface="QuattrocentoSans" pitchFamily="34" charset="-120"/>
              </a:rPr>
              <a:t>Dash (Plotly)</a:t>
            </a:r>
            <a:endParaRPr lang="en-US" sz="1800" dirty="0"/>
          </a:p>
          <a:p>
            <a:pPr>
              <a:lnSpc>
                <a:spcPct val="145000"/>
              </a:lnSpc>
              <a:spcBef>
                <a:spcPts val="1200"/>
              </a:spcBef>
            </a:pPr>
            <a:r>
              <a:rPr lang="en-US" sz="1400" b="1" dirty="0">
                <a:solidFill>
                  <a:srgbClr val="C9A227"/>
                </a:solidFill>
                <a:latin typeface="QuattrocentoSans" pitchFamily="34" charset="0"/>
                <a:ea typeface="QuattrocentoSans" pitchFamily="34" charset="-122"/>
                <a:cs typeface="QuattrocentoSans" pitchFamily="34" charset="-120"/>
              </a:rPr>
              <a:t>Visualización</a:t>
            </a:r>
            <a:endParaRPr lang="en-US" sz="1800" dirty="0"/>
          </a:p>
          <a:p>
            <a:pPr>
              <a:lnSpc>
                <a:spcPct val="145000"/>
              </a:lnSpc>
            </a:pPr>
            <a:r>
              <a:rPr lang="en-US" sz="1400" dirty="0">
                <a:solidFill>
                  <a:srgbClr val="2D3436"/>
                </a:solidFill>
                <a:latin typeface="QuattrocentoSans" pitchFamily="34" charset="0"/>
                <a:ea typeface="QuattrocentoSans" pitchFamily="34" charset="-122"/>
                <a:cs typeface="QuattrocentoSans" pitchFamily="34" charset="-120"/>
              </a:rPr>
              <a:t>Plotly Express + Graph Objects</a:t>
            </a:r>
            <a:endParaRPr lang="en-US" sz="1800" dirty="0"/>
          </a:p>
          <a:p>
            <a:pPr>
              <a:lnSpc>
                <a:spcPct val="145000"/>
              </a:lnSpc>
              <a:spcBef>
                <a:spcPts val="1200"/>
              </a:spcBef>
            </a:pPr>
            <a:r>
              <a:rPr lang="en-US" sz="1400" b="1" dirty="0">
                <a:solidFill>
                  <a:srgbClr val="C9A227"/>
                </a:solidFill>
                <a:latin typeface="QuattrocentoSans" pitchFamily="34" charset="0"/>
                <a:ea typeface="QuattrocentoSans" pitchFamily="34" charset="-122"/>
                <a:cs typeface="QuattrocentoSans" pitchFamily="34" charset="-120"/>
              </a:rPr>
              <a:t>Modelos</a:t>
            </a:r>
            <a:endParaRPr lang="en-US" sz="1800" dirty="0"/>
          </a:p>
          <a:p>
            <a:pPr>
              <a:lnSpc>
                <a:spcPct val="145000"/>
              </a:lnSpc>
            </a:pPr>
            <a:r>
              <a:rPr lang="en-US" sz="1400" dirty="0">
                <a:solidFill>
                  <a:srgbClr val="2D3436"/>
                </a:solidFill>
                <a:latin typeface="QuattrocentoSans" pitchFamily="34" charset="0"/>
                <a:ea typeface="QuattrocentoSans" pitchFamily="34" charset="-122"/>
                <a:cs typeface="QuattrocentoSans" pitchFamily="34" charset="-120"/>
              </a:rPr>
              <a:t>scikit-learn · joblib</a:t>
            </a:r>
            <a:endParaRPr lang="en-US" sz="1800" dirty="0"/>
          </a:p>
          <a:p>
            <a:pPr>
              <a:lnSpc>
                <a:spcPct val="145000"/>
              </a:lnSpc>
              <a:spcBef>
                <a:spcPts val="1200"/>
              </a:spcBef>
            </a:pPr>
            <a:r>
              <a:rPr lang="en-US" sz="1400" b="1" dirty="0">
                <a:solidFill>
                  <a:srgbClr val="C9A227"/>
                </a:solidFill>
                <a:latin typeface="QuattrocentoSans" pitchFamily="34" charset="0"/>
                <a:ea typeface="QuattrocentoSans" pitchFamily="34" charset="-122"/>
                <a:cs typeface="QuattrocentoSans" pitchFamily="34" charset="-120"/>
              </a:rPr>
              <a:t>Datos</a:t>
            </a:r>
            <a:endParaRPr lang="en-US" sz="1800" dirty="0"/>
          </a:p>
          <a:p>
            <a:pPr>
              <a:lnSpc>
                <a:spcPct val="145000"/>
              </a:lnSpc>
            </a:pPr>
            <a:r>
              <a:rPr lang="en-US" sz="1400" dirty="0">
                <a:solidFill>
                  <a:srgbClr val="2D3436"/>
                </a:solidFill>
                <a:latin typeface="QuattrocentoSans" pitchFamily="34" charset="0"/>
                <a:ea typeface="QuattrocentoSans" pitchFamily="34" charset="-122"/>
                <a:cs typeface="QuattrocentoSans" pitchFamily="34" charset="-120"/>
              </a:rPr>
              <a:t>Cubos CSV app-ready</a:t>
            </a:r>
            <a:endParaRPr lang="en-US" sz="1800" dirty="0"/>
          </a:p>
          <a:p>
            <a:pPr>
              <a:lnSpc>
                <a:spcPct val="145000"/>
              </a:lnSpc>
              <a:spcBef>
                <a:spcPts val="1200"/>
              </a:spcBef>
            </a:pPr>
            <a:r>
              <a:rPr lang="en-US" sz="1400" b="1" dirty="0">
                <a:solidFill>
                  <a:srgbClr val="C9A227"/>
                </a:solidFill>
                <a:latin typeface="QuattrocentoSans" pitchFamily="34" charset="0"/>
                <a:ea typeface="QuattrocentoSans" pitchFamily="34" charset="-122"/>
                <a:cs typeface="QuattrocentoSans" pitchFamily="34" charset="-120"/>
              </a:rPr>
              <a:t>Contenedor</a:t>
            </a:r>
            <a:endParaRPr lang="en-US" sz="1800" dirty="0"/>
          </a:p>
          <a:p>
            <a:pPr>
              <a:lnSpc>
                <a:spcPct val="145000"/>
              </a:lnSpc>
            </a:pPr>
            <a:r>
              <a:rPr lang="en-US" sz="1400" dirty="0">
                <a:solidFill>
                  <a:srgbClr val="2D3436"/>
                </a:solidFill>
                <a:latin typeface="QuattrocentoSans" pitchFamily="34" charset="0"/>
                <a:ea typeface="QuattrocentoSans" pitchFamily="34" charset="-122"/>
                <a:cs typeface="QuattrocentoSans" pitchFamily="34" charset="-120"/>
              </a:rPr>
              <a:t>Docker</a:t>
            </a:r>
            <a:endParaRPr lang="en-US" sz="1800" dirty="0"/>
          </a:p>
          <a:p>
            <a:pPr>
              <a:lnSpc>
                <a:spcPct val="145000"/>
              </a:lnSpc>
              <a:spcBef>
                <a:spcPts val="1200"/>
              </a:spcBef>
            </a:pPr>
            <a:r>
              <a:rPr lang="en-US" sz="1400" b="1" dirty="0">
                <a:solidFill>
                  <a:srgbClr val="C9A227"/>
                </a:solidFill>
                <a:latin typeface="QuattrocentoSans" pitchFamily="34" charset="0"/>
                <a:ea typeface="QuattrocentoSans" pitchFamily="34" charset="-122"/>
                <a:cs typeface="QuattrocentoSans" pitchFamily="34" charset="-120"/>
              </a:rPr>
              <a:t>Despliegue</a:t>
            </a:r>
            <a:endParaRPr lang="en-US" sz="1800" dirty="0"/>
          </a:p>
          <a:p>
            <a:pPr>
              <a:lnSpc>
                <a:spcPct val="145000"/>
              </a:lnSpc>
            </a:pPr>
            <a:r>
              <a:rPr lang="en-US" sz="1400" dirty="0">
                <a:solidFill>
                  <a:srgbClr val="2D3436"/>
                </a:solidFill>
                <a:latin typeface="QuattrocentoSans" pitchFamily="34" charset="0"/>
                <a:ea typeface="QuattrocentoSans" pitchFamily="34" charset="-122"/>
                <a:cs typeface="QuattrocentoSans" pitchFamily="34" charset="-120"/>
              </a:rPr>
              <a:t>Render (cloud)</a:t>
            </a:r>
            <a:endParaRPr lang="en-US" sz="1800" dirty="0"/>
          </a:p>
          <a:p>
            <a:pPr>
              <a:lnSpc>
                <a:spcPct val="145000"/>
              </a:lnSpc>
              <a:spcBef>
                <a:spcPts val="1200"/>
              </a:spcBef>
            </a:pPr>
            <a:r>
              <a:rPr lang="en-US" sz="1400" b="1" dirty="0">
                <a:solidFill>
                  <a:srgbClr val="C9A227"/>
                </a:solidFill>
                <a:latin typeface="QuattrocentoSans" pitchFamily="34" charset="0"/>
                <a:ea typeface="QuattrocentoSans" pitchFamily="34" charset="-122"/>
                <a:cs typeface="QuattrocentoSans" pitchFamily="34" charset="-120"/>
              </a:rPr>
              <a:t>Repositorio</a:t>
            </a:r>
            <a:endParaRPr lang="en-US" sz="1800" dirty="0"/>
          </a:p>
          <a:p>
            <a:pPr>
              <a:lnSpc>
                <a:spcPct val="145000"/>
              </a:lnSpc>
            </a:pPr>
            <a:r>
              <a:rPr lang="en-US" sz="1400" dirty="0">
                <a:solidFill>
                  <a:srgbClr val="2D3436"/>
                </a:solidFill>
                <a:latin typeface="QuattrocentoSans" pitchFamily="34" charset="0"/>
                <a:ea typeface="QuattrocentoSans" pitchFamily="34" charset="-122"/>
                <a:cs typeface="QuattrocentoSans" pitchFamily="34" charset="-120"/>
              </a:rPr>
              <a:t>GitHub público</a:t>
            </a:r>
            <a:endParaRPr lang="en-US" sz="1800" dirty="0"/>
          </a:p>
        </p:txBody>
      </p:sp>
      <p:sp>
        <p:nvSpPr>
          <p:cNvPr id="51" name="Text 48"/>
          <p:cNvSpPr/>
          <p:nvPr/>
        </p:nvSpPr>
        <p:spPr>
          <a:xfrm>
            <a:off x="762000" y="7620000"/>
            <a:ext cx="11176000" cy="635000"/>
          </a:xfrm>
          <a:prstGeom prst="rect">
            <a:avLst/>
          </a:prstGeom>
          <a:noFill/>
          <a:ln/>
        </p:spPr>
        <p:txBody>
          <a:bodyPr wrap="square" lIns="0" tIns="0" rIns="0" bIns="0" rtlCol="0" anchor="ctr"/>
          <a:lstStyle/>
          <a:p>
            <a:pPr>
              <a:lnSpc>
                <a:spcPct val="140000"/>
              </a:lnSpc>
            </a:pPr>
            <a:r>
              <a:rPr lang="en-US" sz="1400" dirty="0">
                <a:solidFill>
                  <a:srgbClr val="C9A227"/>
                </a:solidFill>
                <a:latin typeface="QuattrocentoSans" pitchFamily="34" charset="0"/>
                <a:ea typeface="QuattrocentoSans" pitchFamily="34" charset="-122"/>
                <a:cs typeface="QuattrocentoSans" pitchFamily="34" charset="-120"/>
              </a:rPr>
              <a:t>●</a:t>
            </a:r>
            <a:pPr>
              <a:lnSpc>
                <a:spcPct val="140000"/>
              </a:lnSpc>
            </a:pPr>
            <a:r>
              <a:rPr lang="en-US" sz="1400" dirty="0">
                <a:solidFill>
                  <a:srgbClr val="6B7280"/>
                </a:solidFill>
                <a:latin typeface="QuattrocentoSans" pitchFamily="34" charset="0"/>
                <a:ea typeface="QuattrocentoSans" pitchFamily="34" charset="-122"/>
                <a:cs typeface="QuattrocentoSans" pitchFamily="34" charset="-120"/>
              </a:rPr>
              <a:t> </a:t>
            </a:r>
            <a:pPr>
              <a:lnSpc>
                <a:spcPct val="140000"/>
              </a:lnSpc>
            </a:pPr>
            <a:r>
              <a:rPr lang="en-US" sz="1400" b="1" dirty="0">
                <a:solidFill>
                  <a:srgbClr val="6B7280"/>
                </a:solidFill>
                <a:latin typeface="QuattrocentoSans" pitchFamily="34" charset="0"/>
                <a:ea typeface="QuattrocentoSans" pitchFamily="34" charset="-122"/>
                <a:cs typeface="QuattrocentoSans" pitchFamily="34" charset="-120"/>
              </a:rPr>
              <a:t>Repositorio GitHub</a:t>
            </a:r>
            <a:pPr>
              <a:lnSpc>
                <a:spcPct val="140000"/>
              </a:lnSpc>
            </a:pPr>
            <a:r>
              <a:rPr lang="en-US" sz="1400" dirty="0">
                <a:solidFill>
                  <a:srgbClr val="6B7280"/>
                </a:solidFill>
                <a:latin typeface="QuattrocentoSans" pitchFamily="34" charset="0"/>
                <a:ea typeface="QuattrocentoSans" pitchFamily="34" charset="-122"/>
                <a:cs typeface="QuattrocentoSans" pitchFamily="34" charset="-120"/>
              </a:rPr>
              <a:t> incluye README, manual de usuario, anexo técnico, scripts reproducibles y artefactos generados.</a:t>
            </a:r>
            <a:endParaRPr lang="en-US" sz="1400" dirty="0"/>
          </a:p>
        </p:txBody>
      </p:sp>
      <p:sp>
        <p:nvSpPr>
          <p:cNvPr id="52" name="Text 49"/>
          <p:cNvSpPr/>
          <p:nvPr/>
        </p:nvSpPr>
        <p:spPr>
          <a:xfrm>
            <a:off x="15240000" y="8763000"/>
            <a:ext cx="508000" cy="254000"/>
          </a:xfrm>
          <a:prstGeom prst="rect">
            <a:avLst/>
          </a:prstGeom>
          <a:noFill/>
          <a:ln/>
        </p:spPr>
        <p:txBody>
          <a:bodyPr wrap="none" lIns="0" tIns="0" rIns="0" bIns="0" rtlCol="0" anchor="ctr"/>
          <a:lstStyle/>
          <a:p>
            <a:pPr algn="r">
              <a:lnSpc>
                <a:spcPct val="140000"/>
              </a:lnSpc>
            </a:pPr>
            <a:r>
              <a:rPr lang="en-US" sz="1400" dirty="0">
                <a:solidFill>
                  <a:srgbClr val="6B7280"/>
                </a:solidFill>
                <a:latin typeface="QuattrocentoSans" pitchFamily="34" charset="0"/>
                <a:ea typeface="QuattrocentoSans" pitchFamily="34" charset="-122"/>
                <a:cs typeface="QuattrocentoSans" pitchFamily="34" charset="-120"/>
              </a:rPr>
              <a:t>03</a:t>
            </a:r>
            <a:endParaRPr lang="en-US" sz="14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Shape 0"/>
          <p:cNvSpPr/>
          <p:nvPr/>
        </p:nvSpPr>
        <p:spPr>
          <a:xfrm>
            <a:off x="0" y="0"/>
            <a:ext cx="16256000" cy="457200"/>
          </a:xfrm>
          <a:prstGeom prst="rect">
            <a:avLst/>
          </a:prstGeom>
          <a:solidFill>
            <a:srgbClr val="1B4332"/>
          </a:solidFill>
          <a:ln/>
        </p:spPr>
      </p:sp>
      <p:sp>
        <p:nvSpPr>
          <p:cNvPr id="4" name="Text 1"/>
          <p:cNvSpPr/>
          <p:nvPr/>
        </p:nvSpPr>
        <p:spPr>
          <a:xfrm>
            <a:off x="762000" y="0"/>
            <a:ext cx="2540000" cy="457200"/>
          </a:xfrm>
          <a:prstGeom prst="rect">
            <a:avLst/>
          </a:prstGeom>
          <a:noFill/>
          <a:ln/>
        </p:spPr>
        <p:txBody>
          <a:bodyPr wrap="none" lIns="0" tIns="0" rIns="0" bIns="0" rtlCol="0" anchor="ctr"/>
          <a:lstStyle/>
          <a:p>
            <a:pPr>
              <a:lnSpc>
                <a:spcPct val="120000"/>
              </a:lnSpc>
            </a:pPr>
            <a:r>
              <a:rPr lang="en-US" sz="1300" dirty="0">
                <a:solidFill>
                  <a:srgbClr val="FFFFFF">
                    <a:alpha val="50000"/>
                  </a:srgbClr>
                </a:solidFill>
                <a:latin typeface="QuattrocentoSans" pitchFamily="34" charset="0"/>
                <a:ea typeface="QuattrocentoSans" pitchFamily="34" charset="-122"/>
                <a:cs typeface="QuattrocentoSans" pitchFamily="34" charset="-120"/>
              </a:rPr>
              <a:t>01 PROBLEMA</a:t>
            </a:r>
            <a:endParaRPr lang="en-US" sz="1300" dirty="0"/>
          </a:p>
        </p:txBody>
      </p:sp>
      <p:sp>
        <p:nvSpPr>
          <p:cNvPr id="5" name="Text 2"/>
          <p:cNvSpPr/>
          <p:nvPr/>
        </p:nvSpPr>
        <p:spPr>
          <a:xfrm>
            <a:off x="3556000" y="0"/>
            <a:ext cx="2540000" cy="457200"/>
          </a:xfrm>
          <a:prstGeom prst="rect">
            <a:avLst/>
          </a:prstGeom>
          <a:noFill/>
          <a:ln/>
        </p:spPr>
        <p:txBody>
          <a:bodyPr wrap="none" lIns="0" tIns="0" rIns="0" bIns="0" rtlCol="0" anchor="ctr"/>
          <a:lstStyle/>
          <a:p>
            <a:pPr>
              <a:lnSpc>
                <a:spcPct val="120000"/>
              </a:lnSpc>
            </a:pPr>
            <a:r>
              <a:rPr lang="en-US" sz="1300" dirty="0">
                <a:solidFill>
                  <a:srgbClr val="FFFFFF">
                    <a:alpha val="50000"/>
                  </a:srgbClr>
                </a:solidFill>
                <a:latin typeface="QuattrocentoSans" pitchFamily="34" charset="0"/>
                <a:ea typeface="QuattrocentoSans" pitchFamily="34" charset="-122"/>
                <a:cs typeface="QuattrocentoSans" pitchFamily="34" charset="-120"/>
              </a:rPr>
              <a:t>02 RUTA</a:t>
            </a:r>
            <a:endParaRPr lang="en-US" sz="1300" dirty="0"/>
          </a:p>
        </p:txBody>
      </p:sp>
      <p:sp>
        <p:nvSpPr>
          <p:cNvPr id="6" name="Text 3"/>
          <p:cNvSpPr/>
          <p:nvPr/>
        </p:nvSpPr>
        <p:spPr>
          <a:xfrm>
            <a:off x="6350000" y="0"/>
            <a:ext cx="3048000" cy="457200"/>
          </a:xfrm>
          <a:prstGeom prst="rect">
            <a:avLst/>
          </a:prstGeom>
          <a:noFill/>
          <a:ln/>
        </p:spPr>
        <p:txBody>
          <a:bodyPr wrap="none" lIns="0" tIns="0" rIns="0" bIns="0" rtlCol="0" anchor="ctr"/>
          <a:lstStyle/>
          <a:p>
            <a:pPr>
              <a:lnSpc>
                <a:spcPct val="120000"/>
              </a:lnSpc>
            </a:pPr>
            <a:r>
              <a:rPr lang="en-US" sz="1300" dirty="0">
                <a:solidFill>
                  <a:srgbClr val="FFFFFF">
                    <a:alpha val="50000"/>
                  </a:srgbClr>
                </a:solidFill>
                <a:latin typeface="QuattrocentoSans" pitchFamily="34" charset="0"/>
                <a:ea typeface="QuattrocentoSans" pitchFamily="34" charset="-122"/>
                <a:cs typeface="QuattrocentoSans" pitchFamily="34" charset="-120"/>
              </a:rPr>
              <a:t>03 ARQUITECTURA</a:t>
            </a:r>
            <a:endParaRPr lang="en-US" sz="1300" dirty="0"/>
          </a:p>
        </p:txBody>
      </p:sp>
      <p:sp>
        <p:nvSpPr>
          <p:cNvPr id="7" name="Text 4"/>
          <p:cNvSpPr/>
          <p:nvPr/>
        </p:nvSpPr>
        <p:spPr>
          <a:xfrm>
            <a:off x="9652000" y="0"/>
            <a:ext cx="2794000" cy="457200"/>
          </a:xfrm>
          <a:prstGeom prst="rect">
            <a:avLst/>
          </a:prstGeom>
          <a:noFill/>
          <a:ln/>
        </p:spPr>
        <p:txBody>
          <a:bodyPr wrap="none" lIns="0" tIns="0" rIns="0" bIns="0" rtlCol="0" anchor="ctr"/>
          <a:lstStyle/>
          <a:p>
            <a:pPr>
              <a:lnSpc>
                <a:spcPct val="120000"/>
              </a:lnSpc>
            </a:pPr>
            <a:r>
              <a:rPr lang="en-US" sz="1300" b="1" dirty="0">
                <a:solidFill>
                  <a:srgbClr val="C9A227"/>
                </a:solidFill>
                <a:latin typeface="QuattrocentoSans" pitchFamily="34" charset="0"/>
                <a:ea typeface="QuattrocentoSans" pitchFamily="34" charset="-122"/>
                <a:cs typeface="QuattrocentoSans" pitchFamily="34" charset="-120"/>
              </a:rPr>
              <a:t>04</a:t>
            </a:r>
            <a:pPr>
              <a:lnSpc>
                <a:spcPct val="120000"/>
              </a:lnSpc>
            </a:pPr>
            <a:r>
              <a:rPr lang="en-US" sz="1300" dirty="0">
                <a:solidFill>
                  <a:srgbClr val="C9A227"/>
                </a:solidFill>
                <a:latin typeface="QuattrocentoSans" pitchFamily="34" charset="0"/>
                <a:ea typeface="QuattrocentoSans" pitchFamily="34" charset="-122"/>
                <a:cs typeface="QuattrocentoSans" pitchFamily="34" charset="-120"/>
              </a:rPr>
              <a:t> PROTOTIPO</a:t>
            </a:r>
            <a:endParaRPr lang="en-US" sz="1300" dirty="0"/>
          </a:p>
        </p:txBody>
      </p:sp>
      <p:sp>
        <p:nvSpPr>
          <p:cNvPr id="8" name="Text 5"/>
          <p:cNvSpPr/>
          <p:nvPr/>
        </p:nvSpPr>
        <p:spPr>
          <a:xfrm>
            <a:off x="12700000" y="0"/>
            <a:ext cx="1651000" cy="457200"/>
          </a:xfrm>
          <a:prstGeom prst="rect">
            <a:avLst/>
          </a:prstGeom>
          <a:noFill/>
          <a:ln/>
        </p:spPr>
        <p:txBody>
          <a:bodyPr wrap="none" lIns="0" tIns="0" rIns="0" bIns="0" rtlCol="0" anchor="ctr"/>
          <a:lstStyle/>
          <a:p>
            <a:pPr>
              <a:lnSpc>
                <a:spcPct val="120000"/>
              </a:lnSpc>
            </a:pPr>
            <a:r>
              <a:rPr lang="en-US" sz="1300" dirty="0">
                <a:solidFill>
                  <a:srgbClr val="FFFFFF">
                    <a:alpha val="50000"/>
                  </a:srgbClr>
                </a:solidFill>
                <a:latin typeface="QuattrocentoSans" pitchFamily="34" charset="0"/>
                <a:ea typeface="QuattrocentoSans" pitchFamily="34" charset="-122"/>
                <a:cs typeface="QuattrocentoSans" pitchFamily="34" charset="-120"/>
              </a:rPr>
              <a:t>05 SIMULADOR</a:t>
            </a:r>
            <a:endParaRPr lang="en-US" sz="1300" dirty="0"/>
          </a:p>
        </p:txBody>
      </p:sp>
      <p:sp>
        <p:nvSpPr>
          <p:cNvPr id="9" name="Text 6"/>
          <p:cNvSpPr/>
          <p:nvPr/>
        </p:nvSpPr>
        <p:spPr>
          <a:xfrm>
            <a:off x="14414500" y="0"/>
            <a:ext cx="1333500" cy="457200"/>
          </a:xfrm>
          <a:prstGeom prst="rect">
            <a:avLst/>
          </a:prstGeom>
          <a:noFill/>
          <a:ln/>
        </p:spPr>
        <p:txBody>
          <a:bodyPr wrap="none" lIns="0" tIns="0" rIns="0" bIns="0" rtlCol="0" anchor="ctr"/>
          <a:lstStyle/>
          <a:p>
            <a:pPr>
              <a:lnSpc>
                <a:spcPct val="120000"/>
              </a:lnSpc>
            </a:pPr>
            <a:r>
              <a:rPr lang="en-US" sz="1300" dirty="0">
                <a:solidFill>
                  <a:srgbClr val="FFFFFF">
                    <a:alpha val="50000"/>
                  </a:srgbClr>
                </a:solidFill>
                <a:latin typeface="QuattrocentoSans" pitchFamily="34" charset="0"/>
                <a:ea typeface="QuattrocentoSans" pitchFamily="34" charset="-122"/>
                <a:cs typeface="QuattrocentoSans" pitchFamily="34" charset="-120"/>
              </a:rPr>
              <a:t>06 CIERRE</a:t>
            </a:r>
            <a:endParaRPr lang="en-US" sz="1300" dirty="0"/>
          </a:p>
        </p:txBody>
      </p:sp>
      <p:sp>
        <p:nvSpPr>
          <p:cNvPr id="10" name="Text 7"/>
          <p:cNvSpPr/>
          <p:nvPr/>
        </p:nvSpPr>
        <p:spPr>
          <a:xfrm>
            <a:off x="762000" y="660400"/>
            <a:ext cx="8890000" cy="533400"/>
          </a:xfrm>
          <a:prstGeom prst="rect">
            <a:avLst/>
          </a:prstGeom>
          <a:noFill/>
          <a:ln/>
        </p:spPr>
        <p:txBody>
          <a:bodyPr wrap="none" lIns="0" tIns="0" rIns="0" bIns="0" rtlCol="0" anchor="ctr"/>
          <a:lstStyle/>
          <a:p>
            <a:pPr>
              <a:lnSpc>
                <a:spcPct val="120000"/>
              </a:lnSpc>
            </a:pPr>
            <a:r>
              <a:rPr lang="en-US" sz="3200" b="1" dirty="0">
                <a:solidFill>
                  <a:srgbClr val="1B4332"/>
                </a:solidFill>
                <a:latin typeface="QuattrocentoSans" pitchFamily="34" charset="0"/>
                <a:ea typeface="QuattrocentoSans" pitchFamily="34" charset="-122"/>
                <a:cs typeface="QuattrocentoSans" pitchFamily="34" charset="-120"/>
              </a:rPr>
              <a:t>Prototipo implementado — Demo rápida</a:t>
            </a:r>
            <a:endParaRPr lang="en-US" sz="3200" dirty="0"/>
          </a:p>
        </p:txBody>
      </p:sp>
      <p:sp>
        <p:nvSpPr>
          <p:cNvPr id="11" name="Shape 8"/>
          <p:cNvSpPr/>
          <p:nvPr/>
        </p:nvSpPr>
        <p:spPr>
          <a:xfrm>
            <a:off x="762000" y="1244600"/>
            <a:ext cx="762000" cy="50800"/>
          </a:xfrm>
          <a:prstGeom prst="rect">
            <a:avLst/>
          </a:prstGeom>
          <a:solidFill>
            <a:srgbClr val="C9A227"/>
          </a:solidFill>
          <a:ln/>
        </p:spPr>
      </p:sp>
      <p:sp>
        <p:nvSpPr>
          <p:cNvPr id="12" name="Shape 9"/>
          <p:cNvSpPr/>
          <p:nvPr/>
        </p:nvSpPr>
        <p:spPr>
          <a:xfrm>
            <a:off x="762000" y="1524000"/>
            <a:ext cx="4699000" cy="6858000"/>
          </a:xfrm>
          <a:prstGeom prst="rect">
            <a:avLst/>
          </a:prstGeom>
          <a:solidFill>
            <a:srgbClr val="E8E0D4"/>
          </a:solidFill>
          <a:ln/>
        </p:spPr>
      </p:sp>
      <p:sp>
        <p:nvSpPr>
          <p:cNvPr id="13" name="Shape 10"/>
          <p:cNvSpPr/>
          <p:nvPr/>
        </p:nvSpPr>
        <p:spPr>
          <a:xfrm>
            <a:off x="762000" y="1524000"/>
            <a:ext cx="4699000" cy="698500"/>
          </a:xfrm>
          <a:prstGeom prst="rect">
            <a:avLst/>
          </a:prstGeom>
          <a:solidFill>
            <a:srgbClr val="1B4332"/>
          </a:solidFill>
          <a:ln/>
        </p:spPr>
      </p:sp>
      <p:sp>
        <p:nvSpPr>
          <p:cNvPr id="14" name="Shape 11"/>
          <p:cNvSpPr/>
          <p:nvPr/>
        </p:nvSpPr>
        <p:spPr>
          <a:xfrm>
            <a:off x="946150" y="1651000"/>
            <a:ext cx="444500" cy="355600"/>
          </a:xfrm>
          <a:custGeom>
            <a:avLst/>
            <a:gdLst/>
            <a:ahLst/>
            <a:cxnLst/>
            <a:rect l="l" t="t" r="r" b="b"/>
            <a:pathLst>
              <a:path w="444500" h="355600">
                <a:moveTo>
                  <a:pt x="400050" y="33337"/>
                </a:moveTo>
                <a:cubicBezTo>
                  <a:pt x="400050" y="25628"/>
                  <a:pt x="396091" y="18475"/>
                  <a:pt x="389493" y="14446"/>
                </a:cubicBezTo>
                <a:cubicBezTo>
                  <a:pt x="382895" y="10418"/>
                  <a:pt x="374769" y="10001"/>
                  <a:pt x="367893" y="13474"/>
                </a:cubicBezTo>
                <a:lnTo>
                  <a:pt x="287189" y="53826"/>
                </a:lnTo>
                <a:lnTo>
                  <a:pt x="162590" y="12224"/>
                </a:lnTo>
                <a:cubicBezTo>
                  <a:pt x="156964" y="10349"/>
                  <a:pt x="150922" y="10765"/>
                  <a:pt x="145643" y="13404"/>
                </a:cubicBezTo>
                <a:lnTo>
                  <a:pt x="56743" y="57854"/>
                </a:lnTo>
                <a:cubicBezTo>
                  <a:pt x="49173" y="61674"/>
                  <a:pt x="44450" y="69384"/>
                  <a:pt x="44450" y="77788"/>
                </a:cubicBezTo>
                <a:lnTo>
                  <a:pt x="44450" y="322263"/>
                </a:lnTo>
                <a:cubicBezTo>
                  <a:pt x="44450" y="329972"/>
                  <a:pt x="48409" y="337125"/>
                  <a:pt x="55007" y="341154"/>
                </a:cubicBezTo>
                <a:cubicBezTo>
                  <a:pt x="61605" y="345182"/>
                  <a:pt x="69731" y="345599"/>
                  <a:pt x="76607" y="342126"/>
                </a:cubicBezTo>
                <a:lnTo>
                  <a:pt x="157242" y="301774"/>
                </a:lnTo>
                <a:lnTo>
                  <a:pt x="277604" y="341918"/>
                </a:lnTo>
                <a:cubicBezTo>
                  <a:pt x="274618" y="337473"/>
                  <a:pt x="271701" y="332819"/>
                  <a:pt x="268853" y="328097"/>
                </a:cubicBezTo>
                <a:cubicBezTo>
                  <a:pt x="261213" y="315387"/>
                  <a:pt x="253643" y="300801"/>
                  <a:pt x="248017" y="285175"/>
                </a:cubicBezTo>
                <a:lnTo>
                  <a:pt x="177731" y="261769"/>
                </a:lnTo>
                <a:lnTo>
                  <a:pt x="177731" y="64175"/>
                </a:lnTo>
                <a:lnTo>
                  <a:pt x="266631" y="93831"/>
                </a:lnTo>
                <a:lnTo>
                  <a:pt x="266631" y="162798"/>
                </a:lnTo>
                <a:cubicBezTo>
                  <a:pt x="288161" y="137934"/>
                  <a:pt x="320109" y="122238"/>
                  <a:pt x="355531" y="122238"/>
                </a:cubicBezTo>
                <a:cubicBezTo>
                  <a:pt x="371227" y="122238"/>
                  <a:pt x="386229" y="125293"/>
                  <a:pt x="399981" y="130919"/>
                </a:cubicBezTo>
                <a:lnTo>
                  <a:pt x="400050" y="33337"/>
                </a:lnTo>
                <a:close/>
                <a:moveTo>
                  <a:pt x="355600" y="155575"/>
                </a:moveTo>
                <a:cubicBezTo>
                  <a:pt x="309553" y="155575"/>
                  <a:pt x="272256" y="192246"/>
                  <a:pt x="272256" y="237460"/>
                </a:cubicBezTo>
                <a:cubicBezTo>
                  <a:pt x="272256" y="285313"/>
                  <a:pt x="316776" y="341918"/>
                  <a:pt x="340737" y="368935"/>
                </a:cubicBezTo>
                <a:cubicBezTo>
                  <a:pt x="348794" y="377964"/>
                  <a:pt x="362476" y="377964"/>
                  <a:pt x="370532" y="368935"/>
                </a:cubicBezTo>
                <a:cubicBezTo>
                  <a:pt x="394494" y="341918"/>
                  <a:pt x="439013" y="285313"/>
                  <a:pt x="439013" y="237460"/>
                </a:cubicBezTo>
                <a:cubicBezTo>
                  <a:pt x="439013" y="192246"/>
                  <a:pt x="401717" y="155575"/>
                  <a:pt x="355669" y="155575"/>
                </a:cubicBezTo>
                <a:close/>
                <a:moveTo>
                  <a:pt x="327819" y="238919"/>
                </a:moveTo>
                <a:cubicBezTo>
                  <a:pt x="327819" y="223586"/>
                  <a:pt x="340267" y="211138"/>
                  <a:pt x="355600" y="211138"/>
                </a:cubicBezTo>
                <a:cubicBezTo>
                  <a:pt x="370933" y="211138"/>
                  <a:pt x="383381" y="223586"/>
                  <a:pt x="383381" y="238919"/>
                </a:cubicBezTo>
                <a:cubicBezTo>
                  <a:pt x="383381" y="254252"/>
                  <a:pt x="370933" y="266700"/>
                  <a:pt x="355600" y="266700"/>
                </a:cubicBezTo>
                <a:cubicBezTo>
                  <a:pt x="340267" y="266700"/>
                  <a:pt x="327819" y="254252"/>
                  <a:pt x="327819" y="238919"/>
                </a:cubicBezTo>
                <a:close/>
              </a:path>
            </a:pathLst>
          </a:custGeom>
          <a:solidFill>
            <a:srgbClr val="C9A227"/>
          </a:solidFill>
          <a:ln/>
        </p:spPr>
      </p:sp>
      <p:sp>
        <p:nvSpPr>
          <p:cNvPr id="15" name="Text 12"/>
          <p:cNvSpPr/>
          <p:nvPr/>
        </p:nvSpPr>
        <p:spPr>
          <a:xfrm>
            <a:off x="1447800" y="1524000"/>
            <a:ext cx="3810000" cy="698500"/>
          </a:xfrm>
          <a:prstGeom prst="rect">
            <a:avLst/>
          </a:prstGeom>
          <a:noFill/>
          <a:ln/>
        </p:spPr>
        <p:txBody>
          <a:bodyPr wrap="none" lIns="0" tIns="0" rIns="0" bIns="0" rtlCol="0" anchor="ctr"/>
          <a:lstStyle/>
          <a:p>
            <a:pPr>
              <a:lnSpc>
                <a:spcPct val="100000"/>
              </a:lnSpc>
            </a:pPr>
            <a:r>
              <a:rPr lang="en-US" sz="2000" b="1" dirty="0">
                <a:solidFill>
                  <a:srgbClr val="FFFFFF"/>
                </a:solidFill>
                <a:latin typeface="Quattrocento Sans" pitchFamily="34" charset="0"/>
                <a:ea typeface="Quattrocento Sans" pitchFamily="34" charset="-122"/>
                <a:cs typeface="Quattrocento Sans" pitchFamily="34" charset="-120"/>
              </a:rPr>
              <a:t>Diagnóstico</a:t>
            </a:r>
            <a:endParaRPr lang="en-US" sz="1600" dirty="0"/>
          </a:p>
        </p:txBody>
      </p:sp>
      <p:sp>
        <p:nvSpPr>
          <p:cNvPr id="16" name="Text 13"/>
          <p:cNvSpPr/>
          <p:nvPr/>
        </p:nvSpPr>
        <p:spPr>
          <a:xfrm>
            <a:off x="762000" y="2349500"/>
            <a:ext cx="4699000" cy="355600"/>
          </a:xfrm>
          <a:prstGeom prst="rect">
            <a:avLst/>
          </a:prstGeom>
          <a:noFill/>
          <a:ln/>
        </p:spPr>
        <p:txBody>
          <a:bodyPr wrap="none" lIns="0" tIns="0" rIns="0" bIns="0" rtlCol="0" anchor="ctr"/>
          <a:lstStyle/>
          <a:p>
            <a:pPr algn="ctr">
              <a:lnSpc>
                <a:spcPct val="100000"/>
              </a:lnSpc>
            </a:pPr>
            <a:r>
              <a:rPr lang="en-US" sz="1300" b="1" dirty="0">
                <a:solidFill>
                  <a:srgbClr val="2D6A4F"/>
                </a:solidFill>
                <a:latin typeface="Quattrocento Sans" pitchFamily="34" charset="0"/>
                <a:ea typeface="Quattrocento Sans" pitchFamily="34" charset="-122"/>
                <a:cs typeface="Quattrocento Sans" pitchFamily="34" charset="-120"/>
              </a:rPr>
              <a:t>CAPA DE CONTEXTO TERRITORIAL</a:t>
            </a:r>
            <a:endParaRPr lang="en-US" sz="1600" dirty="0"/>
          </a:p>
        </p:txBody>
      </p:sp>
      <p:sp>
        <p:nvSpPr>
          <p:cNvPr id="17" name="Shape 14"/>
          <p:cNvSpPr/>
          <p:nvPr/>
        </p:nvSpPr>
        <p:spPr>
          <a:xfrm>
            <a:off x="1143000" y="2794000"/>
            <a:ext cx="3937000" cy="12700"/>
          </a:xfrm>
          <a:prstGeom prst="rect">
            <a:avLst/>
          </a:prstGeom>
          <a:solidFill>
            <a:srgbClr val="D4A574"/>
          </a:solidFill>
          <a:ln/>
        </p:spPr>
      </p:sp>
      <p:sp>
        <p:nvSpPr>
          <p:cNvPr id="18" name="Text 15"/>
          <p:cNvSpPr/>
          <p:nvPr/>
        </p:nvSpPr>
        <p:spPr>
          <a:xfrm>
            <a:off x="1016000" y="2984500"/>
            <a:ext cx="4191000" cy="5143500"/>
          </a:xfrm>
          <a:prstGeom prst="rect">
            <a:avLst/>
          </a:prstGeom>
          <a:noFill/>
          <a:ln/>
        </p:spPr>
        <p:txBody>
          <a:bodyPr wrap="square" lIns="0" tIns="0" rIns="0" bIns="0" rtlCol="0" anchor="t"/>
          <a:lstStyle/>
          <a:p>
            <a:pPr>
              <a:lnSpc>
                <a:spcPct val="160000"/>
              </a:lnSpc>
            </a:pPr>
            <a:r>
              <a:rPr lang="en-US" sz="1600" dirty="0">
                <a:solidFill>
                  <a:srgbClr val="C9A227"/>
                </a:solidFill>
                <a:latin typeface="QuattrocentoSans" pitchFamily="34" charset="0"/>
                <a:ea typeface="QuattrocentoSans" pitchFamily="34" charset="-122"/>
                <a:cs typeface="QuattrocentoSans" pitchFamily="34" charset="-120"/>
              </a:rPr>
              <a:t>▸</a:t>
            </a:r>
            <a:pPr>
              <a:lnSpc>
                <a:spcPct val="160000"/>
              </a:lnSpc>
            </a:pPr>
            <a:r>
              <a:rPr lang="en-US" sz="1600" dirty="0">
                <a:solidFill>
                  <a:srgbClr val="2D3436"/>
                </a:solidFill>
                <a:latin typeface="QuattrocentoSans" pitchFamily="34" charset="0"/>
                <a:ea typeface="QuattrocentoSans" pitchFamily="34" charset="-122"/>
                <a:cs typeface="QuattrocentoSans" pitchFamily="34" charset="-120"/>
              </a:rPr>
              <a:t> </a:t>
            </a:r>
            <a:pPr>
              <a:lnSpc>
                <a:spcPct val="160000"/>
              </a:lnSpc>
            </a:pPr>
            <a:r>
              <a:rPr lang="en-US" sz="1600" b="1" dirty="0">
                <a:solidFill>
                  <a:srgbClr val="2D3436"/>
                </a:solidFill>
                <a:latin typeface="QuattrocentoSans" pitchFamily="34" charset="0"/>
                <a:ea typeface="QuattrocentoSans" pitchFamily="34" charset="-122"/>
                <a:cs typeface="QuattrocentoSans" pitchFamily="34" charset="-120"/>
              </a:rPr>
              <a:t>Producción mensual proxy</a:t>
            </a:r>
            <a:endParaRPr lang="en-US" sz="1800" dirty="0"/>
          </a:p>
          <a:p>
            <a:pPr>
              <a:lnSpc>
                <a:spcPct val="160000"/>
              </a:lnSpc>
              <a:spcBef>
                <a:spcPts val="300"/>
              </a:spcBef>
            </a:pPr>
            <a:r>
              <a:rPr lang="en-US" sz="1400" dirty="0">
                <a:solidFill>
                  <a:srgbClr val="6B7280"/>
                </a:solidFill>
                <a:latin typeface="QuattrocentoSans" pitchFamily="34" charset="0"/>
                <a:ea typeface="QuattrocentoSans" pitchFamily="34" charset="-122"/>
                <a:cs typeface="QuattrocentoSans" pitchFamily="34" charset="-120"/>
              </a:rPr>
              <a:t>Carga estimada por departamento, mes y año</a:t>
            </a:r>
            <a:endParaRPr lang="en-US" sz="1800" dirty="0"/>
          </a:p>
          <a:p>
            <a:pPr>
              <a:lnSpc>
                <a:spcPct val="160000"/>
              </a:lnSpc>
              <a:spcBef>
                <a:spcPts val="1400"/>
              </a:spcBef>
            </a:pPr>
            <a:r>
              <a:rPr lang="en-US" sz="1600" dirty="0">
                <a:solidFill>
                  <a:srgbClr val="C9A227"/>
                </a:solidFill>
                <a:latin typeface="QuattrocentoSans" pitchFamily="34" charset="0"/>
                <a:ea typeface="QuattrocentoSans" pitchFamily="34" charset="-122"/>
                <a:cs typeface="QuattrocentoSans" pitchFamily="34" charset="-120"/>
              </a:rPr>
              <a:t>▸</a:t>
            </a:r>
            <a:pPr>
              <a:lnSpc>
                <a:spcPct val="160000"/>
              </a:lnSpc>
              <a:spcBef>
                <a:spcPts val="1400"/>
              </a:spcBef>
            </a:pPr>
            <a:r>
              <a:rPr lang="en-US" sz="1600" dirty="0">
                <a:solidFill>
                  <a:srgbClr val="2D3436"/>
                </a:solidFill>
                <a:latin typeface="QuattrocentoSans" pitchFamily="34" charset="0"/>
                <a:ea typeface="QuattrocentoSans" pitchFamily="34" charset="-122"/>
                <a:cs typeface="QuattrocentoSans" pitchFamily="34" charset="-120"/>
              </a:rPr>
              <a:t> </a:t>
            </a:r>
            <a:pPr>
              <a:lnSpc>
                <a:spcPct val="160000"/>
              </a:lnSpc>
              <a:spcBef>
                <a:spcPts val="1400"/>
              </a:spcBef>
            </a:pPr>
            <a:r>
              <a:rPr lang="en-US" sz="1600" b="1" dirty="0">
                <a:solidFill>
                  <a:srgbClr val="2D3436"/>
                </a:solidFill>
                <a:latin typeface="QuattrocentoSans" pitchFamily="34" charset="0"/>
                <a:ea typeface="QuattrocentoSans" pitchFamily="34" charset="-122"/>
                <a:cs typeface="QuattrocentoSans" pitchFamily="34" charset="-120"/>
              </a:rPr>
              <a:t>Índice climático ajustado</a:t>
            </a:r>
            <a:endParaRPr lang="en-US" sz="1800" dirty="0"/>
          </a:p>
          <a:p>
            <a:pPr>
              <a:lnSpc>
                <a:spcPct val="160000"/>
              </a:lnSpc>
              <a:spcBef>
                <a:spcPts val="300"/>
              </a:spcBef>
            </a:pPr>
            <a:r>
              <a:rPr lang="en-US" sz="1400" dirty="0">
                <a:solidFill>
                  <a:srgbClr val="6B7280"/>
                </a:solidFill>
                <a:latin typeface="QuattrocentoSans" pitchFamily="34" charset="0"/>
                <a:ea typeface="QuattrocentoSans" pitchFamily="34" charset="-122"/>
                <a:cs typeface="QuattrocentoSans" pitchFamily="34" charset="-120"/>
              </a:rPr>
              <a:t>Precipitación, temperatura, anomalías</a:t>
            </a:r>
            <a:endParaRPr lang="en-US" sz="1800" dirty="0"/>
          </a:p>
          <a:p>
            <a:pPr>
              <a:lnSpc>
                <a:spcPct val="160000"/>
              </a:lnSpc>
              <a:spcBef>
                <a:spcPts val="1400"/>
              </a:spcBef>
            </a:pPr>
            <a:r>
              <a:rPr lang="en-US" sz="1600" dirty="0">
                <a:solidFill>
                  <a:srgbClr val="C9A227"/>
                </a:solidFill>
                <a:latin typeface="QuattrocentoSans" pitchFamily="34" charset="0"/>
                <a:ea typeface="QuattrocentoSans" pitchFamily="34" charset="-122"/>
                <a:cs typeface="QuattrocentoSans" pitchFamily="34" charset="-120"/>
              </a:rPr>
              <a:t>▸</a:t>
            </a:r>
            <a:pPr>
              <a:lnSpc>
                <a:spcPct val="160000"/>
              </a:lnSpc>
              <a:spcBef>
                <a:spcPts val="1400"/>
              </a:spcBef>
            </a:pPr>
            <a:r>
              <a:rPr lang="en-US" sz="1600" dirty="0">
                <a:solidFill>
                  <a:srgbClr val="2D3436"/>
                </a:solidFill>
                <a:latin typeface="QuattrocentoSans" pitchFamily="34" charset="0"/>
                <a:ea typeface="QuattrocentoSans" pitchFamily="34" charset="-122"/>
                <a:cs typeface="QuattrocentoSans" pitchFamily="34" charset="-120"/>
              </a:rPr>
              <a:t> </a:t>
            </a:r>
            <a:pPr>
              <a:lnSpc>
                <a:spcPct val="160000"/>
              </a:lnSpc>
              <a:spcBef>
                <a:spcPts val="1400"/>
              </a:spcBef>
            </a:pPr>
            <a:r>
              <a:rPr lang="en-US" sz="1600" b="1" dirty="0">
                <a:solidFill>
                  <a:srgbClr val="2D3436"/>
                </a:solidFill>
                <a:latin typeface="QuattrocentoSans" pitchFamily="34" charset="0"/>
                <a:ea typeface="QuattrocentoSans" pitchFamily="34" charset="-122"/>
                <a:cs typeface="QuattrocentoSans" pitchFamily="34" charset="-120"/>
              </a:rPr>
              <a:t>Alertas climáticas</a:t>
            </a:r>
            <a:endParaRPr lang="en-US" sz="1800" dirty="0"/>
          </a:p>
          <a:p>
            <a:pPr>
              <a:lnSpc>
                <a:spcPct val="160000"/>
              </a:lnSpc>
              <a:spcBef>
                <a:spcPts val="300"/>
              </a:spcBef>
            </a:pPr>
            <a:r>
              <a:rPr lang="en-US" sz="1400" dirty="0">
                <a:solidFill>
                  <a:srgbClr val="6B7280"/>
                </a:solidFill>
                <a:latin typeface="QuattrocentoSans" pitchFamily="34" charset="0"/>
                <a:ea typeface="QuattrocentoSans" pitchFamily="34" charset="-122"/>
                <a:cs typeface="QuattrocentoSans" pitchFamily="34" charset="-120"/>
              </a:rPr>
              <a:t>Detección automática de condiciones adversas</a:t>
            </a:r>
            <a:endParaRPr lang="en-US" sz="1800" dirty="0"/>
          </a:p>
          <a:p>
            <a:pPr>
              <a:lnSpc>
                <a:spcPct val="160000"/>
              </a:lnSpc>
              <a:spcBef>
                <a:spcPts val="1400"/>
              </a:spcBef>
            </a:pPr>
            <a:r>
              <a:rPr lang="en-US" sz="1600" dirty="0">
                <a:solidFill>
                  <a:srgbClr val="C9A227"/>
                </a:solidFill>
                <a:latin typeface="QuattrocentoSans" pitchFamily="34" charset="0"/>
                <a:ea typeface="QuattrocentoSans" pitchFamily="34" charset="-122"/>
                <a:cs typeface="QuattrocentoSans" pitchFamily="34" charset="-120"/>
              </a:rPr>
              <a:t>▸</a:t>
            </a:r>
            <a:pPr>
              <a:lnSpc>
                <a:spcPct val="160000"/>
              </a:lnSpc>
              <a:spcBef>
                <a:spcPts val="1400"/>
              </a:spcBef>
            </a:pPr>
            <a:r>
              <a:rPr lang="en-US" sz="1600" dirty="0">
                <a:solidFill>
                  <a:srgbClr val="2D3436"/>
                </a:solidFill>
                <a:latin typeface="QuattrocentoSans" pitchFamily="34" charset="0"/>
                <a:ea typeface="QuattrocentoSans" pitchFamily="34" charset="-122"/>
                <a:cs typeface="QuattrocentoSans" pitchFamily="34" charset="-120"/>
              </a:rPr>
              <a:t> </a:t>
            </a:r>
            <a:pPr>
              <a:lnSpc>
                <a:spcPct val="160000"/>
              </a:lnSpc>
              <a:spcBef>
                <a:spcPts val="1400"/>
              </a:spcBef>
            </a:pPr>
            <a:r>
              <a:rPr lang="en-US" sz="1600" b="1" dirty="0">
                <a:solidFill>
                  <a:srgbClr val="2D3436"/>
                </a:solidFill>
                <a:latin typeface="QuattrocentoSans" pitchFamily="34" charset="0"/>
                <a:ea typeface="QuattrocentoSans" pitchFamily="34" charset="-122"/>
                <a:cs typeface="QuattrocentoSans" pitchFamily="34" charset="-120"/>
              </a:rPr>
              <a:t>Contexto económico</a:t>
            </a:r>
            <a:endParaRPr lang="en-US" sz="1800" dirty="0"/>
          </a:p>
          <a:p>
            <a:pPr>
              <a:lnSpc>
                <a:spcPct val="160000"/>
              </a:lnSpc>
              <a:spcBef>
                <a:spcPts val="300"/>
              </a:spcBef>
            </a:pPr>
            <a:r>
              <a:rPr lang="en-US" sz="1400" dirty="0">
                <a:solidFill>
                  <a:srgbClr val="6B7280"/>
                </a:solidFill>
                <a:latin typeface="QuattrocentoSans" pitchFamily="34" charset="0"/>
                <a:ea typeface="QuattrocentoSans" pitchFamily="34" charset="-122"/>
                <a:cs typeface="QuattrocentoSans" pitchFamily="34" charset="-120"/>
              </a:rPr>
              <a:t>Precio interno del café, variables macro</a:t>
            </a:r>
            <a:endParaRPr lang="en-US" sz="1800" dirty="0"/>
          </a:p>
          <a:p>
            <a:pPr>
              <a:lnSpc>
                <a:spcPct val="160000"/>
              </a:lnSpc>
              <a:spcBef>
                <a:spcPts val="1400"/>
              </a:spcBef>
            </a:pPr>
            <a:r>
              <a:rPr lang="en-US" sz="1600" dirty="0">
                <a:solidFill>
                  <a:srgbClr val="C9A227"/>
                </a:solidFill>
                <a:latin typeface="QuattrocentoSans" pitchFamily="34" charset="0"/>
                <a:ea typeface="QuattrocentoSans" pitchFamily="34" charset="-122"/>
                <a:cs typeface="QuattrocentoSans" pitchFamily="34" charset="-120"/>
              </a:rPr>
              <a:t>▸</a:t>
            </a:r>
            <a:pPr>
              <a:lnSpc>
                <a:spcPct val="160000"/>
              </a:lnSpc>
              <a:spcBef>
                <a:spcPts val="1400"/>
              </a:spcBef>
            </a:pPr>
            <a:r>
              <a:rPr lang="en-US" sz="1600" dirty="0">
                <a:solidFill>
                  <a:srgbClr val="2D3436"/>
                </a:solidFill>
                <a:latin typeface="QuattrocentoSans" pitchFamily="34" charset="0"/>
                <a:ea typeface="QuattrocentoSans" pitchFamily="34" charset="-122"/>
                <a:cs typeface="QuattrocentoSans" pitchFamily="34" charset="-120"/>
              </a:rPr>
              <a:t> </a:t>
            </a:r>
            <a:pPr>
              <a:lnSpc>
                <a:spcPct val="160000"/>
              </a:lnSpc>
              <a:spcBef>
                <a:spcPts val="1400"/>
              </a:spcBef>
            </a:pPr>
            <a:r>
              <a:rPr lang="en-US" sz="1600" b="1" dirty="0">
                <a:solidFill>
                  <a:srgbClr val="2D3436"/>
                </a:solidFill>
                <a:latin typeface="QuattrocentoSans" pitchFamily="34" charset="0"/>
                <a:ea typeface="QuattrocentoSans" pitchFamily="34" charset="-122"/>
                <a:cs typeface="QuattrocentoSans" pitchFamily="34" charset="-120"/>
              </a:rPr>
              <a:t>Comparación territorial</a:t>
            </a:r>
            <a:endParaRPr lang="en-US" sz="1800" dirty="0"/>
          </a:p>
          <a:p>
            <a:pPr>
              <a:lnSpc>
                <a:spcPct val="160000"/>
              </a:lnSpc>
              <a:spcBef>
                <a:spcPts val="300"/>
              </a:spcBef>
            </a:pPr>
            <a:r>
              <a:rPr lang="en-US" sz="1400" dirty="0">
                <a:solidFill>
                  <a:srgbClr val="6B7280"/>
                </a:solidFill>
                <a:latin typeface="QuattrocentoSans" pitchFamily="34" charset="0"/>
                <a:ea typeface="QuattrocentoSans" pitchFamily="34" charset="-122"/>
                <a:cs typeface="QuattrocentoSans" pitchFamily="34" charset="-120"/>
              </a:rPr>
              <a:t>Ranking por departamento y evolución anual</a:t>
            </a:r>
            <a:endParaRPr lang="en-US" sz="1800" dirty="0"/>
          </a:p>
        </p:txBody>
      </p:sp>
      <p:sp>
        <p:nvSpPr>
          <p:cNvPr id="19" name="Shape 16"/>
          <p:cNvSpPr/>
          <p:nvPr/>
        </p:nvSpPr>
        <p:spPr>
          <a:xfrm>
            <a:off x="5778500" y="1524000"/>
            <a:ext cx="4699000" cy="6858000"/>
          </a:xfrm>
          <a:prstGeom prst="rect">
            <a:avLst/>
          </a:prstGeom>
          <a:solidFill>
            <a:srgbClr val="E8E0D4"/>
          </a:solidFill>
          <a:ln/>
        </p:spPr>
      </p:sp>
      <p:sp>
        <p:nvSpPr>
          <p:cNvPr id="20" name="Shape 17"/>
          <p:cNvSpPr/>
          <p:nvPr/>
        </p:nvSpPr>
        <p:spPr>
          <a:xfrm>
            <a:off x="5778500" y="1524000"/>
            <a:ext cx="4699000" cy="698500"/>
          </a:xfrm>
          <a:prstGeom prst="rect">
            <a:avLst/>
          </a:prstGeom>
          <a:solidFill>
            <a:srgbClr val="2D6A4F"/>
          </a:solidFill>
          <a:ln/>
        </p:spPr>
      </p:sp>
      <p:sp>
        <p:nvSpPr>
          <p:cNvPr id="21" name="Shape 18"/>
          <p:cNvSpPr/>
          <p:nvPr/>
        </p:nvSpPr>
        <p:spPr>
          <a:xfrm>
            <a:off x="6007100" y="1651000"/>
            <a:ext cx="355600" cy="355600"/>
          </a:xfrm>
          <a:custGeom>
            <a:avLst/>
            <a:gdLst/>
            <a:ahLst/>
            <a:cxnLst/>
            <a:rect l="l" t="t" r="r" b="b"/>
            <a:pathLst>
              <a:path w="355600" h="355600">
                <a:moveTo>
                  <a:pt x="122238" y="0"/>
                </a:moveTo>
                <a:cubicBezTo>
                  <a:pt x="103832" y="0"/>
                  <a:pt x="88900" y="14932"/>
                  <a:pt x="88900" y="33337"/>
                </a:cubicBezTo>
                <a:lnTo>
                  <a:pt x="88900" y="177800"/>
                </a:lnTo>
                <a:cubicBezTo>
                  <a:pt x="88900" y="196205"/>
                  <a:pt x="103832" y="211138"/>
                  <a:pt x="122238" y="211138"/>
                </a:cubicBezTo>
                <a:lnTo>
                  <a:pt x="166688" y="211138"/>
                </a:lnTo>
                <a:cubicBezTo>
                  <a:pt x="185093" y="211138"/>
                  <a:pt x="200025" y="196205"/>
                  <a:pt x="200025" y="177800"/>
                </a:cubicBezTo>
                <a:lnTo>
                  <a:pt x="200025" y="133350"/>
                </a:lnTo>
                <a:lnTo>
                  <a:pt x="222250" y="133350"/>
                </a:lnTo>
                <a:cubicBezTo>
                  <a:pt x="271353" y="133350"/>
                  <a:pt x="311150" y="173147"/>
                  <a:pt x="311150" y="222250"/>
                </a:cubicBezTo>
                <a:cubicBezTo>
                  <a:pt x="311150" y="271353"/>
                  <a:pt x="271353" y="311150"/>
                  <a:pt x="222250" y="311150"/>
                </a:cubicBezTo>
                <a:lnTo>
                  <a:pt x="22225" y="311150"/>
                </a:lnTo>
                <a:cubicBezTo>
                  <a:pt x="9932" y="311150"/>
                  <a:pt x="0" y="321082"/>
                  <a:pt x="0" y="333375"/>
                </a:cubicBezTo>
                <a:cubicBezTo>
                  <a:pt x="0" y="345668"/>
                  <a:pt x="9932" y="355600"/>
                  <a:pt x="22225" y="355600"/>
                </a:cubicBezTo>
                <a:lnTo>
                  <a:pt x="333375" y="355600"/>
                </a:lnTo>
                <a:cubicBezTo>
                  <a:pt x="345668" y="355600"/>
                  <a:pt x="355600" y="345668"/>
                  <a:pt x="355600" y="333375"/>
                </a:cubicBezTo>
                <a:cubicBezTo>
                  <a:pt x="355600" y="321082"/>
                  <a:pt x="345668" y="311150"/>
                  <a:pt x="333375" y="311150"/>
                </a:cubicBezTo>
                <a:lnTo>
                  <a:pt x="321637" y="311150"/>
                </a:lnTo>
                <a:cubicBezTo>
                  <a:pt x="342751" y="287536"/>
                  <a:pt x="355600" y="256421"/>
                  <a:pt x="355600" y="222250"/>
                </a:cubicBezTo>
                <a:cubicBezTo>
                  <a:pt x="355600" y="148630"/>
                  <a:pt x="295870" y="88900"/>
                  <a:pt x="222250" y="88900"/>
                </a:cubicBezTo>
                <a:lnTo>
                  <a:pt x="200025" y="88900"/>
                </a:lnTo>
                <a:lnTo>
                  <a:pt x="200025" y="33337"/>
                </a:lnTo>
                <a:cubicBezTo>
                  <a:pt x="200025" y="14932"/>
                  <a:pt x="185093" y="0"/>
                  <a:pt x="166688" y="0"/>
                </a:cubicBezTo>
                <a:lnTo>
                  <a:pt x="122238" y="0"/>
                </a:lnTo>
                <a:close/>
                <a:moveTo>
                  <a:pt x="83344" y="244475"/>
                </a:moveTo>
                <a:cubicBezTo>
                  <a:pt x="74106" y="244475"/>
                  <a:pt x="66675" y="251906"/>
                  <a:pt x="66675" y="261144"/>
                </a:cubicBezTo>
                <a:cubicBezTo>
                  <a:pt x="66675" y="270381"/>
                  <a:pt x="74106" y="277813"/>
                  <a:pt x="83344" y="277813"/>
                </a:cubicBezTo>
                <a:lnTo>
                  <a:pt x="205581" y="277813"/>
                </a:lnTo>
                <a:cubicBezTo>
                  <a:pt x="214819" y="277813"/>
                  <a:pt x="222250" y="270381"/>
                  <a:pt x="222250" y="261144"/>
                </a:cubicBezTo>
                <a:cubicBezTo>
                  <a:pt x="222250" y="251906"/>
                  <a:pt x="214819" y="244475"/>
                  <a:pt x="205581" y="244475"/>
                </a:cubicBezTo>
                <a:lnTo>
                  <a:pt x="83344" y="244475"/>
                </a:lnTo>
                <a:close/>
              </a:path>
            </a:pathLst>
          </a:custGeom>
          <a:solidFill>
            <a:srgbClr val="C9A227"/>
          </a:solidFill>
          <a:ln/>
        </p:spPr>
      </p:sp>
      <p:sp>
        <p:nvSpPr>
          <p:cNvPr id="22" name="Text 19"/>
          <p:cNvSpPr/>
          <p:nvPr/>
        </p:nvSpPr>
        <p:spPr>
          <a:xfrm>
            <a:off x="6464300" y="1524000"/>
            <a:ext cx="3810000" cy="698500"/>
          </a:xfrm>
          <a:prstGeom prst="rect">
            <a:avLst/>
          </a:prstGeom>
          <a:noFill/>
          <a:ln/>
        </p:spPr>
        <p:txBody>
          <a:bodyPr wrap="none" lIns="0" tIns="0" rIns="0" bIns="0" rtlCol="0" anchor="ctr"/>
          <a:lstStyle/>
          <a:p>
            <a:pPr>
              <a:lnSpc>
                <a:spcPct val="100000"/>
              </a:lnSpc>
            </a:pPr>
            <a:r>
              <a:rPr lang="en-US" sz="2000" b="1" dirty="0">
                <a:solidFill>
                  <a:srgbClr val="FFFFFF"/>
                </a:solidFill>
                <a:latin typeface="Quattrocento Sans" pitchFamily="34" charset="0"/>
                <a:ea typeface="Quattrocento Sans" pitchFamily="34" charset="-122"/>
                <a:cs typeface="Quattrocento Sans" pitchFamily="34" charset="-120"/>
              </a:rPr>
              <a:t>Modelos</a:t>
            </a:r>
            <a:endParaRPr lang="en-US" sz="1600" dirty="0"/>
          </a:p>
        </p:txBody>
      </p:sp>
      <p:sp>
        <p:nvSpPr>
          <p:cNvPr id="23" name="Text 20"/>
          <p:cNvSpPr/>
          <p:nvPr/>
        </p:nvSpPr>
        <p:spPr>
          <a:xfrm>
            <a:off x="5778500" y="2349500"/>
            <a:ext cx="4699000" cy="355600"/>
          </a:xfrm>
          <a:prstGeom prst="rect">
            <a:avLst/>
          </a:prstGeom>
          <a:noFill/>
          <a:ln/>
        </p:spPr>
        <p:txBody>
          <a:bodyPr wrap="none" lIns="0" tIns="0" rIns="0" bIns="0" rtlCol="0" anchor="ctr"/>
          <a:lstStyle/>
          <a:p>
            <a:pPr algn="ctr">
              <a:lnSpc>
                <a:spcPct val="100000"/>
              </a:lnSpc>
            </a:pPr>
            <a:r>
              <a:rPr lang="en-US" sz="1300" b="1" dirty="0">
                <a:solidFill>
                  <a:srgbClr val="2D6A4F"/>
                </a:solidFill>
                <a:latin typeface="Quattrocento Sans" pitchFamily="34" charset="0"/>
                <a:ea typeface="Quattrocento Sans" pitchFamily="34" charset="-122"/>
                <a:cs typeface="Quattrocento Sans" pitchFamily="34" charset="-120"/>
              </a:rPr>
              <a:t>CAPA DE CONFIANZA TÉCNICA</a:t>
            </a:r>
            <a:endParaRPr lang="en-US" sz="1600" dirty="0"/>
          </a:p>
        </p:txBody>
      </p:sp>
      <p:sp>
        <p:nvSpPr>
          <p:cNvPr id="24" name="Shape 21"/>
          <p:cNvSpPr/>
          <p:nvPr/>
        </p:nvSpPr>
        <p:spPr>
          <a:xfrm>
            <a:off x="6159500" y="2794000"/>
            <a:ext cx="3937000" cy="12700"/>
          </a:xfrm>
          <a:prstGeom prst="rect">
            <a:avLst/>
          </a:prstGeom>
          <a:solidFill>
            <a:srgbClr val="D4A574"/>
          </a:solidFill>
          <a:ln/>
        </p:spPr>
      </p:sp>
      <p:sp>
        <p:nvSpPr>
          <p:cNvPr id="25" name="Text 22"/>
          <p:cNvSpPr/>
          <p:nvPr/>
        </p:nvSpPr>
        <p:spPr>
          <a:xfrm>
            <a:off x="6032500" y="2984500"/>
            <a:ext cx="4191000" cy="5143500"/>
          </a:xfrm>
          <a:prstGeom prst="rect">
            <a:avLst/>
          </a:prstGeom>
          <a:noFill/>
          <a:ln/>
        </p:spPr>
        <p:txBody>
          <a:bodyPr wrap="square" lIns="0" tIns="0" rIns="0" bIns="0" rtlCol="0" anchor="t"/>
          <a:lstStyle/>
          <a:p>
            <a:pPr>
              <a:lnSpc>
                <a:spcPct val="160000"/>
              </a:lnSpc>
            </a:pPr>
            <a:r>
              <a:rPr lang="en-US" sz="1600" dirty="0">
                <a:solidFill>
                  <a:srgbClr val="C9A227"/>
                </a:solidFill>
                <a:latin typeface="QuattrocentoSans" pitchFamily="34" charset="0"/>
                <a:ea typeface="QuattrocentoSans" pitchFamily="34" charset="-122"/>
                <a:cs typeface="QuattrocentoSans" pitchFamily="34" charset="-120"/>
              </a:rPr>
              <a:t>▸</a:t>
            </a:r>
            <a:pPr>
              <a:lnSpc>
                <a:spcPct val="160000"/>
              </a:lnSpc>
            </a:pPr>
            <a:r>
              <a:rPr lang="en-US" sz="1600" dirty="0">
                <a:solidFill>
                  <a:srgbClr val="2D3436"/>
                </a:solidFill>
                <a:latin typeface="QuattrocentoSans" pitchFamily="34" charset="0"/>
                <a:ea typeface="QuattrocentoSans" pitchFamily="34" charset="-122"/>
                <a:cs typeface="QuattrocentoSans" pitchFamily="34" charset="-120"/>
              </a:rPr>
              <a:t> </a:t>
            </a:r>
            <a:pPr>
              <a:lnSpc>
                <a:spcPct val="160000"/>
              </a:lnSpc>
            </a:pPr>
            <a:r>
              <a:rPr lang="en-US" sz="1600" b="1" dirty="0">
                <a:solidFill>
                  <a:srgbClr val="2D3436"/>
                </a:solidFill>
                <a:latin typeface="QuattrocentoSans" pitchFamily="34" charset="0"/>
                <a:ea typeface="QuattrocentoSans" pitchFamily="34" charset="-122"/>
                <a:cs typeface="QuattrocentoSans" pitchFamily="34" charset="-120"/>
              </a:rPr>
              <a:t>Modelos probados</a:t>
            </a:r>
            <a:endParaRPr lang="en-US" sz="1800" dirty="0"/>
          </a:p>
          <a:p>
            <a:pPr>
              <a:lnSpc>
                <a:spcPct val="160000"/>
              </a:lnSpc>
              <a:spcBef>
                <a:spcPts val="300"/>
              </a:spcBef>
            </a:pPr>
            <a:r>
              <a:rPr lang="en-US" sz="1400" dirty="0">
                <a:solidFill>
                  <a:srgbClr val="6B7280"/>
                </a:solidFill>
                <a:latin typeface="QuattrocentoSans" pitchFamily="34" charset="0"/>
                <a:ea typeface="QuattrocentoSans" pitchFamily="34" charset="-122"/>
                <a:cs typeface="QuattrocentoSans" pitchFamily="34" charset="-120"/>
              </a:rPr>
              <a:t>Ridge, Random Forest, XGBoost con combinaciones de variables climáticas y económicas</a:t>
            </a:r>
            <a:endParaRPr lang="en-US" sz="1800" dirty="0"/>
          </a:p>
          <a:p>
            <a:pPr>
              <a:lnSpc>
                <a:spcPct val="160000"/>
              </a:lnSpc>
              <a:spcBef>
                <a:spcPts val="1400"/>
              </a:spcBef>
            </a:pPr>
            <a:r>
              <a:rPr lang="en-US" sz="1600" dirty="0">
                <a:solidFill>
                  <a:srgbClr val="C9A227"/>
                </a:solidFill>
                <a:latin typeface="QuattrocentoSans" pitchFamily="34" charset="0"/>
                <a:ea typeface="QuattrocentoSans" pitchFamily="34" charset="-122"/>
                <a:cs typeface="QuattrocentoSans" pitchFamily="34" charset="-120"/>
              </a:rPr>
              <a:t>▸</a:t>
            </a:r>
            <a:pPr>
              <a:lnSpc>
                <a:spcPct val="160000"/>
              </a:lnSpc>
              <a:spcBef>
                <a:spcPts val="1400"/>
              </a:spcBef>
            </a:pPr>
            <a:r>
              <a:rPr lang="en-US" sz="1600" dirty="0">
                <a:solidFill>
                  <a:srgbClr val="2D3436"/>
                </a:solidFill>
                <a:latin typeface="QuattrocentoSans" pitchFamily="34" charset="0"/>
                <a:ea typeface="QuattrocentoSans" pitchFamily="34" charset="-122"/>
                <a:cs typeface="QuattrocentoSans" pitchFamily="34" charset="-120"/>
              </a:rPr>
              <a:t> </a:t>
            </a:r>
            <a:pPr>
              <a:lnSpc>
                <a:spcPct val="160000"/>
              </a:lnSpc>
              <a:spcBef>
                <a:spcPts val="1400"/>
              </a:spcBef>
            </a:pPr>
            <a:r>
              <a:rPr lang="en-US" sz="1600" b="1" dirty="0">
                <a:solidFill>
                  <a:srgbClr val="2D3436"/>
                </a:solidFill>
                <a:latin typeface="QuattrocentoSans" pitchFamily="34" charset="0"/>
                <a:ea typeface="QuattrocentoSans" pitchFamily="34" charset="-122"/>
                <a:cs typeface="QuattrocentoSans" pitchFamily="34" charset="-120"/>
              </a:rPr>
              <a:t>Métricas comparativas</a:t>
            </a:r>
            <a:endParaRPr lang="en-US" sz="1800" dirty="0"/>
          </a:p>
          <a:p>
            <a:pPr>
              <a:lnSpc>
                <a:spcPct val="160000"/>
              </a:lnSpc>
              <a:spcBef>
                <a:spcPts val="300"/>
              </a:spcBef>
            </a:pPr>
            <a:r>
              <a:rPr lang="en-US" sz="1400" dirty="0">
                <a:solidFill>
                  <a:srgbClr val="6B7280"/>
                </a:solidFill>
                <a:latin typeface="QuattrocentoSans" pitchFamily="34" charset="0"/>
                <a:ea typeface="QuattrocentoSans" pitchFamily="34" charset="-122"/>
                <a:cs typeface="QuattrocentoSans" pitchFamily="34" charset="-120"/>
              </a:rPr>
              <a:t>RMSE, MAE, R² por capa temporal (semanal, mensual, anual)</a:t>
            </a:r>
            <a:endParaRPr lang="en-US" sz="1800" dirty="0"/>
          </a:p>
          <a:p>
            <a:pPr>
              <a:lnSpc>
                <a:spcPct val="160000"/>
              </a:lnSpc>
              <a:spcBef>
                <a:spcPts val="1400"/>
              </a:spcBef>
            </a:pPr>
            <a:r>
              <a:rPr lang="en-US" sz="1600" dirty="0">
                <a:solidFill>
                  <a:srgbClr val="C9A227"/>
                </a:solidFill>
                <a:latin typeface="QuattrocentoSans" pitchFamily="34" charset="0"/>
                <a:ea typeface="QuattrocentoSans" pitchFamily="34" charset="-122"/>
                <a:cs typeface="QuattrocentoSans" pitchFamily="34" charset="-120"/>
              </a:rPr>
              <a:t>▸</a:t>
            </a:r>
            <a:pPr>
              <a:lnSpc>
                <a:spcPct val="160000"/>
              </a:lnSpc>
              <a:spcBef>
                <a:spcPts val="1400"/>
              </a:spcBef>
            </a:pPr>
            <a:r>
              <a:rPr lang="en-US" sz="1600" dirty="0">
                <a:solidFill>
                  <a:srgbClr val="2D3436"/>
                </a:solidFill>
                <a:latin typeface="QuattrocentoSans" pitchFamily="34" charset="0"/>
                <a:ea typeface="QuattrocentoSans" pitchFamily="34" charset="-122"/>
                <a:cs typeface="QuattrocentoSans" pitchFamily="34" charset="-120"/>
              </a:rPr>
              <a:t> </a:t>
            </a:r>
            <a:pPr>
              <a:lnSpc>
                <a:spcPct val="160000"/>
              </a:lnSpc>
              <a:spcBef>
                <a:spcPts val="1400"/>
              </a:spcBef>
            </a:pPr>
            <a:r>
              <a:rPr lang="en-US" sz="1600" b="1" dirty="0">
                <a:solidFill>
                  <a:srgbClr val="2D3436"/>
                </a:solidFill>
                <a:latin typeface="QuattrocentoSans" pitchFamily="34" charset="0"/>
                <a:ea typeface="QuattrocentoSans" pitchFamily="34" charset="-122"/>
                <a:cs typeface="QuattrocentoSans" pitchFamily="34" charset="-120"/>
              </a:rPr>
              <a:t>Selección final documentada</a:t>
            </a:r>
            <a:endParaRPr lang="en-US" sz="1800" dirty="0"/>
          </a:p>
          <a:p>
            <a:pPr>
              <a:lnSpc>
                <a:spcPct val="160000"/>
              </a:lnSpc>
              <a:spcBef>
                <a:spcPts val="300"/>
              </a:spcBef>
            </a:pPr>
            <a:r>
              <a:rPr lang="en-US" sz="1400" dirty="0">
                <a:solidFill>
                  <a:srgbClr val="6B7280"/>
                </a:solidFill>
                <a:latin typeface="QuattrocentoSans" pitchFamily="34" charset="0"/>
                <a:ea typeface="QuattrocentoSans" pitchFamily="34" charset="-122"/>
                <a:cs typeface="QuattrocentoSans" pitchFamily="34" charset="-120"/>
              </a:rPr>
              <a:t>V7 (semanal), M6 (mensual operativo), M5 (mensual climático), A1 (anual baseline)</a:t>
            </a:r>
            <a:endParaRPr lang="en-US" sz="1800" dirty="0"/>
          </a:p>
          <a:p>
            <a:pPr>
              <a:lnSpc>
                <a:spcPct val="160000"/>
              </a:lnSpc>
              <a:spcBef>
                <a:spcPts val="1400"/>
              </a:spcBef>
            </a:pPr>
            <a:r>
              <a:rPr lang="en-US" sz="1600" dirty="0">
                <a:solidFill>
                  <a:srgbClr val="C9A227"/>
                </a:solidFill>
                <a:latin typeface="QuattrocentoSans" pitchFamily="34" charset="0"/>
                <a:ea typeface="QuattrocentoSans" pitchFamily="34" charset="-122"/>
                <a:cs typeface="QuattrocentoSans" pitchFamily="34" charset="-120"/>
              </a:rPr>
              <a:t>▸</a:t>
            </a:r>
            <a:pPr>
              <a:lnSpc>
                <a:spcPct val="160000"/>
              </a:lnSpc>
              <a:spcBef>
                <a:spcPts val="1400"/>
              </a:spcBef>
            </a:pPr>
            <a:r>
              <a:rPr lang="en-US" sz="1600" dirty="0">
                <a:solidFill>
                  <a:srgbClr val="2D3436"/>
                </a:solidFill>
                <a:latin typeface="QuattrocentoSans" pitchFamily="34" charset="0"/>
                <a:ea typeface="QuattrocentoSans" pitchFamily="34" charset="-122"/>
                <a:cs typeface="QuattrocentoSans" pitchFamily="34" charset="-120"/>
              </a:rPr>
              <a:t> </a:t>
            </a:r>
            <a:pPr>
              <a:lnSpc>
                <a:spcPct val="160000"/>
              </a:lnSpc>
              <a:spcBef>
                <a:spcPts val="1400"/>
              </a:spcBef>
            </a:pPr>
            <a:r>
              <a:rPr lang="en-US" sz="1600" b="1" dirty="0">
                <a:solidFill>
                  <a:srgbClr val="2D3436"/>
                </a:solidFill>
                <a:latin typeface="QuattrocentoSans" pitchFamily="34" charset="0"/>
                <a:ea typeface="QuattrocentoSans" pitchFamily="34" charset="-122"/>
                <a:cs typeface="QuattrocentoSans" pitchFamily="34" charset="-120"/>
              </a:rPr>
              <a:t>Ventajas y limitaciones</a:t>
            </a:r>
            <a:endParaRPr lang="en-US" sz="1800" dirty="0"/>
          </a:p>
          <a:p>
            <a:pPr>
              <a:lnSpc>
                <a:spcPct val="160000"/>
              </a:lnSpc>
              <a:spcBef>
                <a:spcPts val="300"/>
              </a:spcBef>
            </a:pPr>
            <a:r>
              <a:rPr lang="en-US" sz="1400" dirty="0">
                <a:solidFill>
                  <a:srgbClr val="6B7280"/>
                </a:solidFill>
                <a:latin typeface="QuattrocentoSans" pitchFamily="34" charset="0"/>
                <a:ea typeface="QuattrocentoSans" pitchFamily="34" charset="-122"/>
                <a:cs typeface="QuattrocentoSans" pitchFamily="34" charset="-120"/>
              </a:rPr>
              <a:t>Por modelo, con justificación del seleccionado</a:t>
            </a:r>
            <a:endParaRPr lang="en-US" sz="1800" dirty="0"/>
          </a:p>
        </p:txBody>
      </p:sp>
      <p:sp>
        <p:nvSpPr>
          <p:cNvPr id="26" name="Shape 23"/>
          <p:cNvSpPr/>
          <p:nvPr/>
        </p:nvSpPr>
        <p:spPr>
          <a:xfrm>
            <a:off x="10795000" y="1524000"/>
            <a:ext cx="4699000" cy="6858000"/>
          </a:xfrm>
          <a:prstGeom prst="rect">
            <a:avLst/>
          </a:prstGeom>
          <a:solidFill>
            <a:srgbClr val="E8E0D4"/>
          </a:solidFill>
          <a:ln/>
        </p:spPr>
      </p:sp>
      <p:sp>
        <p:nvSpPr>
          <p:cNvPr id="27" name="Shape 24"/>
          <p:cNvSpPr/>
          <p:nvPr/>
        </p:nvSpPr>
        <p:spPr>
          <a:xfrm>
            <a:off x="10795000" y="1524000"/>
            <a:ext cx="4699000" cy="698500"/>
          </a:xfrm>
          <a:prstGeom prst="rect">
            <a:avLst/>
          </a:prstGeom>
          <a:solidFill>
            <a:srgbClr val="52796F"/>
          </a:solidFill>
          <a:ln/>
        </p:spPr>
      </p:sp>
      <p:sp>
        <p:nvSpPr>
          <p:cNvPr id="28" name="Shape 25"/>
          <p:cNvSpPr/>
          <p:nvPr/>
        </p:nvSpPr>
        <p:spPr>
          <a:xfrm>
            <a:off x="11023600" y="1651000"/>
            <a:ext cx="355600" cy="355600"/>
          </a:xfrm>
          <a:custGeom>
            <a:avLst/>
            <a:gdLst/>
            <a:ahLst/>
            <a:cxnLst/>
            <a:rect l="l" t="t" r="r" b="b"/>
            <a:pathLst>
              <a:path w="355600" h="355600">
                <a:moveTo>
                  <a:pt x="22225" y="44450"/>
                </a:moveTo>
                <a:cubicBezTo>
                  <a:pt x="9932" y="44450"/>
                  <a:pt x="0" y="54382"/>
                  <a:pt x="0" y="66675"/>
                </a:cubicBezTo>
                <a:cubicBezTo>
                  <a:pt x="0" y="78968"/>
                  <a:pt x="9932" y="88900"/>
                  <a:pt x="22225" y="88900"/>
                </a:cubicBezTo>
                <a:lnTo>
                  <a:pt x="82441" y="88900"/>
                </a:lnTo>
                <a:cubicBezTo>
                  <a:pt x="90984" y="108555"/>
                  <a:pt x="110569" y="122238"/>
                  <a:pt x="133350" y="122238"/>
                </a:cubicBezTo>
                <a:cubicBezTo>
                  <a:pt x="156131" y="122238"/>
                  <a:pt x="175716" y="108555"/>
                  <a:pt x="184259" y="88900"/>
                </a:cubicBezTo>
                <a:lnTo>
                  <a:pt x="333375" y="88900"/>
                </a:lnTo>
                <a:cubicBezTo>
                  <a:pt x="345668" y="88900"/>
                  <a:pt x="355600" y="78968"/>
                  <a:pt x="355600" y="66675"/>
                </a:cubicBezTo>
                <a:cubicBezTo>
                  <a:pt x="355600" y="54382"/>
                  <a:pt x="345668" y="44450"/>
                  <a:pt x="333375" y="44450"/>
                </a:cubicBezTo>
                <a:lnTo>
                  <a:pt x="184259" y="44450"/>
                </a:lnTo>
                <a:cubicBezTo>
                  <a:pt x="175716" y="24795"/>
                  <a:pt x="156131" y="11112"/>
                  <a:pt x="133350" y="11112"/>
                </a:cubicBezTo>
                <a:cubicBezTo>
                  <a:pt x="110569" y="11112"/>
                  <a:pt x="90984" y="24795"/>
                  <a:pt x="82441" y="44450"/>
                </a:cubicBezTo>
                <a:lnTo>
                  <a:pt x="22225" y="44450"/>
                </a:lnTo>
                <a:close/>
                <a:moveTo>
                  <a:pt x="22225" y="155575"/>
                </a:moveTo>
                <a:cubicBezTo>
                  <a:pt x="9932" y="155575"/>
                  <a:pt x="0" y="165507"/>
                  <a:pt x="0" y="177800"/>
                </a:cubicBezTo>
                <a:cubicBezTo>
                  <a:pt x="0" y="190093"/>
                  <a:pt x="9932" y="200025"/>
                  <a:pt x="22225" y="200025"/>
                </a:cubicBezTo>
                <a:lnTo>
                  <a:pt x="193566" y="200025"/>
                </a:lnTo>
                <a:cubicBezTo>
                  <a:pt x="202109" y="219680"/>
                  <a:pt x="221694" y="233363"/>
                  <a:pt x="244475" y="233363"/>
                </a:cubicBezTo>
                <a:cubicBezTo>
                  <a:pt x="267256" y="233363"/>
                  <a:pt x="286841" y="219680"/>
                  <a:pt x="295384" y="200025"/>
                </a:cubicBezTo>
                <a:lnTo>
                  <a:pt x="333375" y="200025"/>
                </a:lnTo>
                <a:cubicBezTo>
                  <a:pt x="345668" y="200025"/>
                  <a:pt x="355600" y="190093"/>
                  <a:pt x="355600" y="177800"/>
                </a:cubicBezTo>
                <a:cubicBezTo>
                  <a:pt x="355600" y="165507"/>
                  <a:pt x="345668" y="155575"/>
                  <a:pt x="333375" y="155575"/>
                </a:cubicBezTo>
                <a:lnTo>
                  <a:pt x="295384" y="155575"/>
                </a:lnTo>
                <a:cubicBezTo>
                  <a:pt x="286841" y="135920"/>
                  <a:pt x="267256" y="122238"/>
                  <a:pt x="244475" y="122238"/>
                </a:cubicBezTo>
                <a:cubicBezTo>
                  <a:pt x="221694" y="122238"/>
                  <a:pt x="202109" y="135920"/>
                  <a:pt x="193566" y="155575"/>
                </a:cubicBezTo>
                <a:lnTo>
                  <a:pt x="22225" y="155575"/>
                </a:lnTo>
                <a:close/>
                <a:moveTo>
                  <a:pt x="22225" y="266700"/>
                </a:moveTo>
                <a:cubicBezTo>
                  <a:pt x="9932" y="266700"/>
                  <a:pt x="0" y="276632"/>
                  <a:pt x="0" y="288925"/>
                </a:cubicBezTo>
                <a:cubicBezTo>
                  <a:pt x="0" y="301218"/>
                  <a:pt x="9932" y="311150"/>
                  <a:pt x="22225" y="311150"/>
                </a:cubicBezTo>
                <a:lnTo>
                  <a:pt x="60216" y="311150"/>
                </a:lnTo>
                <a:cubicBezTo>
                  <a:pt x="68759" y="330805"/>
                  <a:pt x="88344" y="344488"/>
                  <a:pt x="111125" y="344488"/>
                </a:cubicBezTo>
                <a:cubicBezTo>
                  <a:pt x="133906" y="344488"/>
                  <a:pt x="153491" y="330805"/>
                  <a:pt x="162034" y="311150"/>
                </a:cubicBezTo>
                <a:lnTo>
                  <a:pt x="333375" y="311150"/>
                </a:lnTo>
                <a:cubicBezTo>
                  <a:pt x="345668" y="311150"/>
                  <a:pt x="355600" y="301218"/>
                  <a:pt x="355600" y="288925"/>
                </a:cubicBezTo>
                <a:cubicBezTo>
                  <a:pt x="355600" y="276632"/>
                  <a:pt x="345668" y="266700"/>
                  <a:pt x="333375" y="266700"/>
                </a:cubicBezTo>
                <a:lnTo>
                  <a:pt x="162034" y="266700"/>
                </a:lnTo>
                <a:cubicBezTo>
                  <a:pt x="153491" y="247045"/>
                  <a:pt x="133906" y="233363"/>
                  <a:pt x="111125" y="233363"/>
                </a:cubicBezTo>
                <a:cubicBezTo>
                  <a:pt x="88344" y="233363"/>
                  <a:pt x="68759" y="247045"/>
                  <a:pt x="60216" y="266700"/>
                </a:cubicBezTo>
                <a:lnTo>
                  <a:pt x="22225" y="266700"/>
                </a:lnTo>
                <a:close/>
              </a:path>
            </a:pathLst>
          </a:custGeom>
          <a:solidFill>
            <a:srgbClr val="C9A227"/>
          </a:solidFill>
          <a:ln/>
        </p:spPr>
      </p:sp>
      <p:sp>
        <p:nvSpPr>
          <p:cNvPr id="29" name="Text 26"/>
          <p:cNvSpPr/>
          <p:nvPr/>
        </p:nvSpPr>
        <p:spPr>
          <a:xfrm>
            <a:off x="11480800" y="1524000"/>
            <a:ext cx="3810000" cy="698500"/>
          </a:xfrm>
          <a:prstGeom prst="rect">
            <a:avLst/>
          </a:prstGeom>
          <a:noFill/>
          <a:ln/>
        </p:spPr>
        <p:txBody>
          <a:bodyPr wrap="none" lIns="0" tIns="0" rIns="0" bIns="0" rtlCol="0" anchor="ctr"/>
          <a:lstStyle/>
          <a:p>
            <a:pPr>
              <a:lnSpc>
                <a:spcPct val="100000"/>
              </a:lnSpc>
            </a:pPr>
            <a:r>
              <a:rPr lang="en-US" sz="2000" b="1" dirty="0">
                <a:solidFill>
                  <a:srgbClr val="FFFFFF"/>
                </a:solidFill>
                <a:latin typeface="Quattrocento Sans" pitchFamily="34" charset="0"/>
                <a:ea typeface="Quattrocento Sans" pitchFamily="34" charset="-122"/>
                <a:cs typeface="Quattrocento Sans" pitchFamily="34" charset="-120"/>
              </a:rPr>
              <a:t>Artefacto</a:t>
            </a:r>
            <a:endParaRPr lang="en-US" sz="1600" dirty="0"/>
          </a:p>
        </p:txBody>
      </p:sp>
      <p:sp>
        <p:nvSpPr>
          <p:cNvPr id="30" name="Text 27"/>
          <p:cNvSpPr/>
          <p:nvPr/>
        </p:nvSpPr>
        <p:spPr>
          <a:xfrm>
            <a:off x="10795000" y="2349500"/>
            <a:ext cx="4699000" cy="355600"/>
          </a:xfrm>
          <a:prstGeom prst="rect">
            <a:avLst/>
          </a:prstGeom>
          <a:noFill/>
          <a:ln/>
        </p:spPr>
        <p:txBody>
          <a:bodyPr wrap="none" lIns="0" tIns="0" rIns="0" bIns="0" rtlCol="0" anchor="ctr"/>
          <a:lstStyle/>
          <a:p>
            <a:pPr algn="ctr">
              <a:lnSpc>
                <a:spcPct val="100000"/>
              </a:lnSpc>
            </a:pPr>
            <a:r>
              <a:rPr lang="en-US" sz="1300" b="1" dirty="0">
                <a:solidFill>
                  <a:srgbClr val="52796F"/>
                </a:solidFill>
                <a:latin typeface="Quattrocento Sans" pitchFamily="34" charset="0"/>
                <a:ea typeface="Quattrocento Sans" pitchFamily="34" charset="-122"/>
                <a:cs typeface="Quattrocento Sans" pitchFamily="34" charset="-120"/>
              </a:rPr>
              <a:t>CAPA DE DECISIÓN</a:t>
            </a:r>
            <a:endParaRPr lang="en-US" sz="1600" dirty="0"/>
          </a:p>
        </p:txBody>
      </p:sp>
      <p:sp>
        <p:nvSpPr>
          <p:cNvPr id="31" name="Shape 28"/>
          <p:cNvSpPr/>
          <p:nvPr/>
        </p:nvSpPr>
        <p:spPr>
          <a:xfrm>
            <a:off x="11176000" y="2794000"/>
            <a:ext cx="3937000" cy="12700"/>
          </a:xfrm>
          <a:prstGeom prst="rect">
            <a:avLst/>
          </a:prstGeom>
          <a:solidFill>
            <a:srgbClr val="D4A574"/>
          </a:solidFill>
          <a:ln/>
        </p:spPr>
      </p:sp>
      <p:sp>
        <p:nvSpPr>
          <p:cNvPr id="32" name="Text 29"/>
          <p:cNvSpPr/>
          <p:nvPr/>
        </p:nvSpPr>
        <p:spPr>
          <a:xfrm>
            <a:off x="11049000" y="2984500"/>
            <a:ext cx="4191000" cy="5143500"/>
          </a:xfrm>
          <a:prstGeom prst="rect">
            <a:avLst/>
          </a:prstGeom>
          <a:noFill/>
          <a:ln/>
        </p:spPr>
        <p:txBody>
          <a:bodyPr wrap="square" lIns="0" tIns="0" rIns="0" bIns="0" rtlCol="0" anchor="t"/>
          <a:lstStyle/>
          <a:p>
            <a:pPr>
              <a:lnSpc>
                <a:spcPct val="160000"/>
              </a:lnSpc>
            </a:pPr>
            <a:r>
              <a:rPr lang="en-US" sz="1600" dirty="0">
                <a:solidFill>
                  <a:srgbClr val="C9A227"/>
                </a:solidFill>
                <a:latin typeface="QuattrocentoSans" pitchFamily="34" charset="0"/>
                <a:ea typeface="QuattrocentoSans" pitchFamily="34" charset="-122"/>
                <a:cs typeface="QuattrocentoSans" pitchFamily="34" charset="-120"/>
              </a:rPr>
              <a:t>▸</a:t>
            </a:r>
            <a:pPr>
              <a:lnSpc>
                <a:spcPct val="160000"/>
              </a:lnSpc>
            </a:pPr>
            <a:r>
              <a:rPr lang="en-US" sz="1600" dirty="0">
                <a:solidFill>
                  <a:srgbClr val="2D3436"/>
                </a:solidFill>
                <a:latin typeface="QuattrocentoSans" pitchFamily="34" charset="0"/>
                <a:ea typeface="QuattrocentoSans" pitchFamily="34" charset="-122"/>
                <a:cs typeface="QuattrocentoSans" pitchFamily="34" charset="-120"/>
              </a:rPr>
              <a:t> </a:t>
            </a:r>
            <a:pPr>
              <a:lnSpc>
                <a:spcPct val="160000"/>
              </a:lnSpc>
            </a:pPr>
            <a:r>
              <a:rPr lang="en-US" sz="1600" b="1" dirty="0">
                <a:solidFill>
                  <a:srgbClr val="2D3436"/>
                </a:solidFill>
                <a:latin typeface="QuattrocentoSans" pitchFamily="34" charset="0"/>
                <a:ea typeface="QuattrocentoSans" pitchFamily="34" charset="-122"/>
                <a:cs typeface="QuattrocentoSans" pitchFamily="34" charset="-120"/>
              </a:rPr>
              <a:t>Escenario ajustable</a:t>
            </a:r>
            <a:endParaRPr lang="en-US" sz="1800" dirty="0"/>
          </a:p>
          <a:p>
            <a:pPr>
              <a:lnSpc>
                <a:spcPct val="160000"/>
              </a:lnSpc>
              <a:spcBef>
                <a:spcPts val="300"/>
              </a:spcBef>
            </a:pPr>
            <a:r>
              <a:rPr lang="en-US" sz="1400" dirty="0">
                <a:solidFill>
                  <a:srgbClr val="6B7280"/>
                </a:solidFill>
                <a:latin typeface="QuattrocentoSans" pitchFamily="34" charset="0"/>
                <a:ea typeface="QuattrocentoSans" pitchFamily="34" charset="-122"/>
                <a:cs typeface="QuattrocentoSans" pitchFamily="34" charset="-120"/>
              </a:rPr>
              <a:t>El usuario controla sliders de variables climáticas y económicas</a:t>
            </a:r>
            <a:endParaRPr lang="en-US" sz="1800" dirty="0"/>
          </a:p>
          <a:p>
            <a:pPr>
              <a:lnSpc>
                <a:spcPct val="160000"/>
              </a:lnSpc>
              <a:spcBef>
                <a:spcPts val="1400"/>
              </a:spcBef>
            </a:pPr>
            <a:r>
              <a:rPr lang="en-US" sz="1600" dirty="0">
                <a:solidFill>
                  <a:srgbClr val="C9A227"/>
                </a:solidFill>
                <a:latin typeface="QuattrocentoSans" pitchFamily="34" charset="0"/>
                <a:ea typeface="QuattrocentoSans" pitchFamily="34" charset="-122"/>
                <a:cs typeface="QuattrocentoSans" pitchFamily="34" charset="-120"/>
              </a:rPr>
              <a:t>▸</a:t>
            </a:r>
            <a:pPr>
              <a:lnSpc>
                <a:spcPct val="160000"/>
              </a:lnSpc>
              <a:spcBef>
                <a:spcPts val="1400"/>
              </a:spcBef>
            </a:pPr>
            <a:r>
              <a:rPr lang="en-US" sz="1600" dirty="0">
                <a:solidFill>
                  <a:srgbClr val="2D3436"/>
                </a:solidFill>
                <a:latin typeface="QuattrocentoSans" pitchFamily="34" charset="0"/>
                <a:ea typeface="QuattrocentoSans" pitchFamily="34" charset="-122"/>
                <a:cs typeface="QuattrocentoSans" pitchFamily="34" charset="-120"/>
              </a:rPr>
              <a:t> </a:t>
            </a:r>
            <a:pPr>
              <a:lnSpc>
                <a:spcPct val="160000"/>
              </a:lnSpc>
              <a:spcBef>
                <a:spcPts val="1400"/>
              </a:spcBef>
            </a:pPr>
            <a:r>
              <a:rPr lang="en-US" sz="1600" b="1" dirty="0">
                <a:solidFill>
                  <a:srgbClr val="2D3436"/>
                </a:solidFill>
                <a:latin typeface="QuattrocentoSans" pitchFamily="34" charset="0"/>
                <a:ea typeface="QuattrocentoSans" pitchFamily="34" charset="-122"/>
                <a:cs typeface="QuattrocentoSans" pitchFamily="34" charset="-120"/>
              </a:rPr>
              <a:t>Producción base vs. simulada</a:t>
            </a:r>
            <a:endParaRPr lang="en-US" sz="1800" dirty="0"/>
          </a:p>
          <a:p>
            <a:pPr>
              <a:lnSpc>
                <a:spcPct val="160000"/>
              </a:lnSpc>
              <a:spcBef>
                <a:spcPts val="300"/>
              </a:spcBef>
            </a:pPr>
            <a:r>
              <a:rPr lang="en-US" sz="1400" dirty="0">
                <a:solidFill>
                  <a:srgbClr val="6B7280"/>
                </a:solidFill>
                <a:latin typeface="QuattrocentoSans" pitchFamily="34" charset="0"/>
                <a:ea typeface="QuattrocentoSans" pitchFamily="34" charset="-122"/>
                <a:cs typeface="QuattrocentoSans" pitchFamily="34" charset="-120"/>
              </a:rPr>
              <a:t>M6 base operativa + M5 sensibilidad climática</a:t>
            </a:r>
            <a:endParaRPr lang="en-US" sz="1800" dirty="0"/>
          </a:p>
          <a:p>
            <a:pPr>
              <a:lnSpc>
                <a:spcPct val="160000"/>
              </a:lnSpc>
              <a:spcBef>
                <a:spcPts val="1400"/>
              </a:spcBef>
            </a:pPr>
            <a:r>
              <a:rPr lang="en-US" sz="1600" dirty="0">
                <a:solidFill>
                  <a:srgbClr val="C9A227"/>
                </a:solidFill>
                <a:latin typeface="QuattrocentoSans" pitchFamily="34" charset="0"/>
                <a:ea typeface="QuattrocentoSans" pitchFamily="34" charset="-122"/>
                <a:cs typeface="QuattrocentoSans" pitchFamily="34" charset="-120"/>
              </a:rPr>
              <a:t>▸</a:t>
            </a:r>
            <a:pPr>
              <a:lnSpc>
                <a:spcPct val="160000"/>
              </a:lnSpc>
              <a:spcBef>
                <a:spcPts val="1400"/>
              </a:spcBef>
            </a:pPr>
            <a:r>
              <a:rPr lang="en-US" sz="1600" dirty="0">
                <a:solidFill>
                  <a:srgbClr val="2D3436"/>
                </a:solidFill>
                <a:latin typeface="QuattrocentoSans" pitchFamily="34" charset="0"/>
                <a:ea typeface="QuattrocentoSans" pitchFamily="34" charset="-122"/>
                <a:cs typeface="QuattrocentoSans" pitchFamily="34" charset="-120"/>
              </a:rPr>
              <a:t> </a:t>
            </a:r>
            <a:pPr>
              <a:lnSpc>
                <a:spcPct val="160000"/>
              </a:lnSpc>
              <a:spcBef>
                <a:spcPts val="1400"/>
              </a:spcBef>
            </a:pPr>
            <a:r>
              <a:rPr lang="en-US" sz="1600" b="1" dirty="0">
                <a:solidFill>
                  <a:srgbClr val="2D3436"/>
                </a:solidFill>
                <a:latin typeface="QuattrocentoSans" pitchFamily="34" charset="0"/>
                <a:ea typeface="QuattrocentoSans" pitchFamily="34" charset="-122"/>
                <a:cs typeface="QuattrocentoSans" pitchFamily="34" charset="-120"/>
              </a:rPr>
              <a:t>Pérdida proxy calculada</a:t>
            </a:r>
            <a:endParaRPr lang="en-US" sz="1800" dirty="0"/>
          </a:p>
          <a:p>
            <a:pPr>
              <a:lnSpc>
                <a:spcPct val="160000"/>
              </a:lnSpc>
              <a:spcBef>
                <a:spcPts val="300"/>
              </a:spcBef>
            </a:pPr>
            <a:r>
              <a:rPr lang="en-US" sz="1400" dirty="0">
                <a:solidFill>
                  <a:srgbClr val="6B7280"/>
                </a:solidFill>
                <a:latin typeface="QuattrocentoSans" pitchFamily="34" charset="0"/>
                <a:ea typeface="QuattrocentoSans" pitchFamily="34" charset="-122"/>
                <a:cs typeface="QuattrocentoSans" pitchFamily="34" charset="-120"/>
              </a:rPr>
              <a:t>Solo deterioro adverso trasladado de M5</a:t>
            </a:r>
            <a:endParaRPr lang="en-US" sz="1800" dirty="0"/>
          </a:p>
          <a:p>
            <a:pPr>
              <a:lnSpc>
                <a:spcPct val="160000"/>
              </a:lnSpc>
              <a:spcBef>
                <a:spcPts val="1400"/>
              </a:spcBef>
            </a:pPr>
            <a:r>
              <a:rPr lang="en-US" sz="1600" dirty="0">
                <a:solidFill>
                  <a:srgbClr val="C9A227"/>
                </a:solidFill>
                <a:latin typeface="QuattrocentoSans" pitchFamily="34" charset="0"/>
                <a:ea typeface="QuattrocentoSans" pitchFamily="34" charset="-122"/>
                <a:cs typeface="QuattrocentoSans" pitchFamily="34" charset="-120"/>
              </a:rPr>
              <a:t>▸</a:t>
            </a:r>
            <a:pPr>
              <a:lnSpc>
                <a:spcPct val="160000"/>
              </a:lnSpc>
              <a:spcBef>
                <a:spcPts val="1400"/>
              </a:spcBef>
            </a:pPr>
            <a:r>
              <a:rPr lang="en-US" sz="1600" dirty="0">
                <a:solidFill>
                  <a:srgbClr val="2D3436"/>
                </a:solidFill>
                <a:latin typeface="QuattrocentoSans" pitchFamily="34" charset="0"/>
                <a:ea typeface="QuattrocentoSans" pitchFamily="34" charset="-122"/>
                <a:cs typeface="QuattrocentoSans" pitchFamily="34" charset="-120"/>
              </a:rPr>
              <a:t> </a:t>
            </a:r>
            <a:pPr>
              <a:lnSpc>
                <a:spcPct val="160000"/>
              </a:lnSpc>
              <a:spcBef>
                <a:spcPts val="1400"/>
              </a:spcBef>
            </a:pPr>
            <a:r>
              <a:rPr lang="en-US" sz="1600" b="1" dirty="0">
                <a:solidFill>
                  <a:srgbClr val="2D3436"/>
                </a:solidFill>
                <a:latin typeface="QuattrocentoSans" pitchFamily="34" charset="0"/>
                <a:ea typeface="QuattrocentoSans" pitchFamily="34" charset="-122"/>
                <a:cs typeface="QuattrocentoSans" pitchFamily="34" charset="-120"/>
              </a:rPr>
              <a:t>Cobertura y prima indicativa</a:t>
            </a:r>
            <a:endParaRPr lang="en-US" sz="1800" dirty="0"/>
          </a:p>
          <a:p>
            <a:pPr>
              <a:lnSpc>
                <a:spcPct val="160000"/>
              </a:lnSpc>
              <a:spcBef>
                <a:spcPts val="300"/>
              </a:spcBef>
            </a:pPr>
            <a:r>
              <a:rPr lang="en-US" sz="1400" dirty="0">
                <a:solidFill>
                  <a:srgbClr val="6B7280"/>
                </a:solidFill>
                <a:latin typeface="QuattrocentoSans" pitchFamily="34" charset="0"/>
                <a:ea typeface="QuattrocentoSans" pitchFamily="34" charset="-122"/>
                <a:cs typeface="QuattrocentoSans" pitchFamily="34" charset="-120"/>
              </a:rPr>
              <a:t>Valor expuesto, cobertura %, tasa prima → prima de referencia</a:t>
            </a:r>
            <a:endParaRPr lang="en-US" sz="1800" dirty="0"/>
          </a:p>
        </p:txBody>
      </p:sp>
      <p:sp>
        <p:nvSpPr>
          <p:cNvPr id="33" name="Text 30"/>
          <p:cNvSpPr/>
          <p:nvPr/>
        </p:nvSpPr>
        <p:spPr>
          <a:xfrm>
            <a:off x="15240000" y="8763000"/>
            <a:ext cx="508000" cy="254000"/>
          </a:xfrm>
          <a:prstGeom prst="rect">
            <a:avLst/>
          </a:prstGeom>
          <a:noFill/>
          <a:ln/>
        </p:spPr>
        <p:txBody>
          <a:bodyPr wrap="none" lIns="0" tIns="0" rIns="0" bIns="0" rtlCol="0" anchor="ctr"/>
          <a:lstStyle/>
          <a:p>
            <a:pPr algn="r">
              <a:lnSpc>
                <a:spcPct val="140000"/>
              </a:lnSpc>
            </a:pPr>
            <a:r>
              <a:rPr lang="en-US" sz="1400" dirty="0">
                <a:solidFill>
                  <a:srgbClr val="6B7280"/>
                </a:solidFill>
                <a:latin typeface="QuattrocentoSans" pitchFamily="34" charset="0"/>
                <a:ea typeface="QuattrocentoSans" pitchFamily="34" charset="-122"/>
                <a:cs typeface="QuattrocentoSans" pitchFamily="34" charset="-120"/>
              </a:rPr>
              <a:t>04</a:t>
            </a:r>
            <a:endParaRPr lang="en-US" sz="14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Shape 0"/>
          <p:cNvSpPr/>
          <p:nvPr/>
        </p:nvSpPr>
        <p:spPr>
          <a:xfrm>
            <a:off x="0" y="0"/>
            <a:ext cx="16256000" cy="457200"/>
          </a:xfrm>
          <a:prstGeom prst="rect">
            <a:avLst/>
          </a:prstGeom>
          <a:solidFill>
            <a:srgbClr val="1B4332"/>
          </a:solidFill>
          <a:ln/>
        </p:spPr>
      </p:sp>
      <p:sp>
        <p:nvSpPr>
          <p:cNvPr id="4" name="Text 1"/>
          <p:cNvSpPr/>
          <p:nvPr/>
        </p:nvSpPr>
        <p:spPr>
          <a:xfrm>
            <a:off x="762000" y="0"/>
            <a:ext cx="2540000" cy="457200"/>
          </a:xfrm>
          <a:prstGeom prst="rect">
            <a:avLst/>
          </a:prstGeom>
          <a:noFill/>
          <a:ln/>
        </p:spPr>
        <p:txBody>
          <a:bodyPr wrap="none" lIns="0" tIns="0" rIns="0" bIns="0" rtlCol="0" anchor="ctr"/>
          <a:lstStyle/>
          <a:p>
            <a:pPr>
              <a:lnSpc>
                <a:spcPct val="120000"/>
              </a:lnSpc>
            </a:pPr>
            <a:r>
              <a:rPr lang="en-US" sz="1300" dirty="0">
                <a:solidFill>
                  <a:srgbClr val="FFFFFF">
                    <a:alpha val="50000"/>
                  </a:srgbClr>
                </a:solidFill>
                <a:latin typeface="QuattrocentoSans" pitchFamily="34" charset="0"/>
                <a:ea typeface="QuattrocentoSans" pitchFamily="34" charset="-122"/>
                <a:cs typeface="QuattrocentoSans" pitchFamily="34" charset="-120"/>
              </a:rPr>
              <a:t>01 PROBLEMA</a:t>
            </a:r>
            <a:endParaRPr lang="en-US" sz="1300" dirty="0"/>
          </a:p>
        </p:txBody>
      </p:sp>
      <p:sp>
        <p:nvSpPr>
          <p:cNvPr id="5" name="Text 2"/>
          <p:cNvSpPr/>
          <p:nvPr/>
        </p:nvSpPr>
        <p:spPr>
          <a:xfrm>
            <a:off x="3556000" y="0"/>
            <a:ext cx="2540000" cy="457200"/>
          </a:xfrm>
          <a:prstGeom prst="rect">
            <a:avLst/>
          </a:prstGeom>
          <a:noFill/>
          <a:ln/>
        </p:spPr>
        <p:txBody>
          <a:bodyPr wrap="none" lIns="0" tIns="0" rIns="0" bIns="0" rtlCol="0" anchor="ctr"/>
          <a:lstStyle/>
          <a:p>
            <a:pPr>
              <a:lnSpc>
                <a:spcPct val="120000"/>
              </a:lnSpc>
            </a:pPr>
            <a:r>
              <a:rPr lang="en-US" sz="1300" dirty="0">
                <a:solidFill>
                  <a:srgbClr val="FFFFFF">
                    <a:alpha val="50000"/>
                  </a:srgbClr>
                </a:solidFill>
                <a:latin typeface="QuattrocentoSans" pitchFamily="34" charset="0"/>
                <a:ea typeface="QuattrocentoSans" pitchFamily="34" charset="-122"/>
                <a:cs typeface="QuattrocentoSans" pitchFamily="34" charset="-120"/>
              </a:rPr>
              <a:t>02 RUTA</a:t>
            </a:r>
            <a:endParaRPr lang="en-US" sz="1300" dirty="0"/>
          </a:p>
        </p:txBody>
      </p:sp>
      <p:sp>
        <p:nvSpPr>
          <p:cNvPr id="6" name="Text 3"/>
          <p:cNvSpPr/>
          <p:nvPr/>
        </p:nvSpPr>
        <p:spPr>
          <a:xfrm>
            <a:off x="6350000" y="0"/>
            <a:ext cx="3048000" cy="457200"/>
          </a:xfrm>
          <a:prstGeom prst="rect">
            <a:avLst/>
          </a:prstGeom>
          <a:noFill/>
          <a:ln/>
        </p:spPr>
        <p:txBody>
          <a:bodyPr wrap="none" lIns="0" tIns="0" rIns="0" bIns="0" rtlCol="0" anchor="ctr"/>
          <a:lstStyle/>
          <a:p>
            <a:pPr>
              <a:lnSpc>
                <a:spcPct val="120000"/>
              </a:lnSpc>
            </a:pPr>
            <a:r>
              <a:rPr lang="en-US" sz="1300" dirty="0">
                <a:solidFill>
                  <a:srgbClr val="FFFFFF">
                    <a:alpha val="50000"/>
                  </a:srgbClr>
                </a:solidFill>
                <a:latin typeface="QuattrocentoSans" pitchFamily="34" charset="0"/>
                <a:ea typeface="QuattrocentoSans" pitchFamily="34" charset="-122"/>
                <a:cs typeface="QuattrocentoSans" pitchFamily="34" charset="-120"/>
              </a:rPr>
              <a:t>03 ARQUITECTURA</a:t>
            </a:r>
            <a:endParaRPr lang="en-US" sz="1300" dirty="0"/>
          </a:p>
        </p:txBody>
      </p:sp>
      <p:sp>
        <p:nvSpPr>
          <p:cNvPr id="7" name="Text 4"/>
          <p:cNvSpPr/>
          <p:nvPr/>
        </p:nvSpPr>
        <p:spPr>
          <a:xfrm>
            <a:off x="9652000" y="0"/>
            <a:ext cx="2794000" cy="457200"/>
          </a:xfrm>
          <a:prstGeom prst="rect">
            <a:avLst/>
          </a:prstGeom>
          <a:noFill/>
          <a:ln/>
        </p:spPr>
        <p:txBody>
          <a:bodyPr wrap="none" lIns="0" tIns="0" rIns="0" bIns="0" rtlCol="0" anchor="ctr"/>
          <a:lstStyle/>
          <a:p>
            <a:pPr>
              <a:lnSpc>
                <a:spcPct val="120000"/>
              </a:lnSpc>
            </a:pPr>
            <a:r>
              <a:rPr lang="en-US" sz="1300" dirty="0">
                <a:solidFill>
                  <a:srgbClr val="FFFFFF">
                    <a:alpha val="50000"/>
                  </a:srgbClr>
                </a:solidFill>
                <a:latin typeface="QuattrocentoSans" pitchFamily="34" charset="0"/>
                <a:ea typeface="QuattrocentoSans" pitchFamily="34" charset="-122"/>
                <a:cs typeface="QuattrocentoSans" pitchFamily="34" charset="-120"/>
              </a:rPr>
              <a:t>04 PROTOTIPO</a:t>
            </a:r>
            <a:endParaRPr lang="en-US" sz="1300" dirty="0"/>
          </a:p>
        </p:txBody>
      </p:sp>
      <p:sp>
        <p:nvSpPr>
          <p:cNvPr id="8" name="Text 5"/>
          <p:cNvSpPr/>
          <p:nvPr/>
        </p:nvSpPr>
        <p:spPr>
          <a:xfrm>
            <a:off x="12700000" y="0"/>
            <a:ext cx="1651000" cy="457200"/>
          </a:xfrm>
          <a:prstGeom prst="rect">
            <a:avLst/>
          </a:prstGeom>
          <a:noFill/>
          <a:ln/>
        </p:spPr>
        <p:txBody>
          <a:bodyPr wrap="none" lIns="0" tIns="0" rIns="0" bIns="0" rtlCol="0" anchor="ctr"/>
          <a:lstStyle/>
          <a:p>
            <a:pPr>
              <a:lnSpc>
                <a:spcPct val="120000"/>
              </a:lnSpc>
            </a:pPr>
            <a:r>
              <a:rPr lang="en-US" sz="1300" b="1" dirty="0">
                <a:solidFill>
                  <a:srgbClr val="C9A227"/>
                </a:solidFill>
                <a:latin typeface="QuattrocentoSans" pitchFamily="34" charset="0"/>
                <a:ea typeface="QuattrocentoSans" pitchFamily="34" charset="-122"/>
                <a:cs typeface="QuattrocentoSans" pitchFamily="34" charset="-120"/>
              </a:rPr>
              <a:t>05</a:t>
            </a:r>
            <a:pPr>
              <a:lnSpc>
                <a:spcPct val="120000"/>
              </a:lnSpc>
            </a:pPr>
            <a:r>
              <a:rPr lang="en-US" sz="1300" dirty="0">
                <a:solidFill>
                  <a:srgbClr val="C9A227"/>
                </a:solidFill>
                <a:latin typeface="QuattrocentoSans" pitchFamily="34" charset="0"/>
                <a:ea typeface="QuattrocentoSans" pitchFamily="34" charset="-122"/>
                <a:cs typeface="QuattrocentoSans" pitchFamily="34" charset="-120"/>
              </a:rPr>
              <a:t> SIMULADOR</a:t>
            </a:r>
            <a:endParaRPr lang="en-US" sz="1300" dirty="0"/>
          </a:p>
        </p:txBody>
      </p:sp>
      <p:sp>
        <p:nvSpPr>
          <p:cNvPr id="9" name="Text 6"/>
          <p:cNvSpPr/>
          <p:nvPr/>
        </p:nvSpPr>
        <p:spPr>
          <a:xfrm>
            <a:off x="14414500" y="0"/>
            <a:ext cx="1333500" cy="457200"/>
          </a:xfrm>
          <a:prstGeom prst="rect">
            <a:avLst/>
          </a:prstGeom>
          <a:noFill/>
          <a:ln/>
        </p:spPr>
        <p:txBody>
          <a:bodyPr wrap="none" lIns="0" tIns="0" rIns="0" bIns="0" rtlCol="0" anchor="ctr"/>
          <a:lstStyle/>
          <a:p>
            <a:pPr>
              <a:lnSpc>
                <a:spcPct val="120000"/>
              </a:lnSpc>
            </a:pPr>
            <a:r>
              <a:rPr lang="en-US" sz="1300" dirty="0">
                <a:solidFill>
                  <a:srgbClr val="FFFFFF">
                    <a:alpha val="50000"/>
                  </a:srgbClr>
                </a:solidFill>
                <a:latin typeface="QuattrocentoSans" pitchFamily="34" charset="0"/>
                <a:ea typeface="QuattrocentoSans" pitchFamily="34" charset="-122"/>
                <a:cs typeface="QuattrocentoSans" pitchFamily="34" charset="-120"/>
              </a:rPr>
              <a:t>06 CIERRE</a:t>
            </a:r>
            <a:endParaRPr lang="en-US" sz="1300" dirty="0"/>
          </a:p>
        </p:txBody>
      </p:sp>
      <p:sp>
        <p:nvSpPr>
          <p:cNvPr id="10" name="Text 7"/>
          <p:cNvSpPr/>
          <p:nvPr/>
        </p:nvSpPr>
        <p:spPr>
          <a:xfrm>
            <a:off x="762000" y="660400"/>
            <a:ext cx="10160000" cy="533400"/>
          </a:xfrm>
          <a:prstGeom prst="rect">
            <a:avLst/>
          </a:prstGeom>
          <a:noFill/>
          <a:ln/>
        </p:spPr>
        <p:txBody>
          <a:bodyPr wrap="none" lIns="0" tIns="0" rIns="0" bIns="0" rtlCol="0" anchor="ctr"/>
          <a:lstStyle/>
          <a:p>
            <a:pPr>
              <a:lnSpc>
                <a:spcPct val="120000"/>
              </a:lnSpc>
            </a:pPr>
            <a:r>
              <a:rPr lang="en-US" sz="3200" b="1" dirty="0">
                <a:solidFill>
                  <a:srgbClr val="1B4332"/>
                </a:solidFill>
                <a:latin typeface="QuattrocentoSans" pitchFamily="34" charset="0"/>
                <a:ea typeface="QuattrocentoSans" pitchFamily="34" charset="-122"/>
                <a:cs typeface="QuattrocentoSans" pitchFamily="34" charset="-120"/>
              </a:rPr>
              <a:t>Simulador técnico y lógica financiera proxy</a:t>
            </a:r>
            <a:endParaRPr lang="en-US" sz="3200" dirty="0"/>
          </a:p>
        </p:txBody>
      </p:sp>
      <p:sp>
        <p:nvSpPr>
          <p:cNvPr id="11" name="Shape 8"/>
          <p:cNvSpPr/>
          <p:nvPr/>
        </p:nvSpPr>
        <p:spPr>
          <a:xfrm>
            <a:off x="762000" y="1244600"/>
            <a:ext cx="762000" cy="50800"/>
          </a:xfrm>
          <a:prstGeom prst="rect">
            <a:avLst/>
          </a:prstGeom>
          <a:solidFill>
            <a:srgbClr val="C9A227"/>
          </a:solidFill>
          <a:ln/>
        </p:spPr>
      </p:sp>
      <p:sp>
        <p:nvSpPr>
          <p:cNvPr id="12" name="Text 9"/>
          <p:cNvSpPr/>
          <p:nvPr/>
        </p:nvSpPr>
        <p:spPr>
          <a:xfrm>
            <a:off x="762000" y="1447800"/>
            <a:ext cx="3810000" cy="254000"/>
          </a:xfrm>
          <a:prstGeom prst="rect">
            <a:avLst/>
          </a:prstGeom>
          <a:noFill/>
          <a:ln/>
        </p:spPr>
        <p:txBody>
          <a:bodyPr wrap="none" lIns="0" tIns="0" rIns="0" bIns="0" rtlCol="0" anchor="ctr"/>
          <a:lstStyle/>
          <a:p>
            <a:pPr>
              <a:lnSpc>
                <a:spcPct val="120000"/>
              </a:lnSpc>
            </a:pPr>
            <a:r>
              <a:rPr lang="en-US" sz="1300" spc="100" kern="0" dirty="0">
                <a:solidFill>
                  <a:srgbClr val="1B4332"/>
                </a:solidFill>
                <a:latin typeface="QuattrocentoSans" pitchFamily="34" charset="0"/>
                <a:ea typeface="QuattrocentoSans" pitchFamily="34" charset="-122"/>
                <a:cs typeface="QuattrocentoSans" pitchFamily="34" charset="-120"/>
              </a:rPr>
              <a:t>FLUJO DEL SIMULADOR</a:t>
            </a:r>
            <a:endParaRPr lang="en-US" sz="1300" dirty="0"/>
          </a:p>
        </p:txBody>
      </p:sp>
      <p:sp>
        <p:nvSpPr>
          <p:cNvPr id="13" name="Shape 10"/>
          <p:cNvSpPr/>
          <p:nvPr/>
        </p:nvSpPr>
        <p:spPr>
          <a:xfrm>
            <a:off x="762000" y="1803400"/>
            <a:ext cx="14732000" cy="635000"/>
          </a:xfrm>
          <a:prstGeom prst="rect">
            <a:avLst/>
          </a:prstGeom>
          <a:solidFill>
            <a:srgbClr val="E8E0D4"/>
          </a:solidFill>
          <a:ln/>
        </p:spPr>
      </p:sp>
      <p:sp>
        <p:nvSpPr>
          <p:cNvPr id="14" name="Text 11"/>
          <p:cNvSpPr/>
          <p:nvPr/>
        </p:nvSpPr>
        <p:spPr>
          <a:xfrm>
            <a:off x="952500" y="1803400"/>
            <a:ext cx="14351000" cy="635000"/>
          </a:xfrm>
          <a:prstGeom prst="rect">
            <a:avLst/>
          </a:prstGeom>
          <a:noFill/>
          <a:ln/>
        </p:spPr>
        <p:txBody>
          <a:bodyPr wrap="square" lIns="0" tIns="0" rIns="0" bIns="0" rtlCol="0" anchor="ctr"/>
          <a:lstStyle/>
          <a:p>
            <a:pPr>
              <a:lnSpc>
                <a:spcPct val="140000"/>
              </a:lnSpc>
            </a:pPr>
            <a:r>
              <a:rPr lang="en-US" sz="1500" b="1" dirty="0">
                <a:solidFill>
                  <a:srgbClr val="C9A227"/>
                </a:solidFill>
                <a:latin typeface="Quattrocento Sans" pitchFamily="34" charset="0"/>
                <a:ea typeface="Quattrocento Sans" pitchFamily="34" charset="-122"/>
                <a:cs typeface="Quattrocento Sans" pitchFamily="34" charset="-120"/>
              </a:rPr>
              <a:t>Fila base mensual real</a:t>
            </a:r>
            <a:pPr>
              <a:lnSpc>
                <a:spcPct val="140000"/>
              </a:lnSpc>
            </a:pPr>
            <a:r>
              <a:rPr lang="en-US" sz="1500" dirty="0">
                <a:solidFill>
                  <a:srgbClr val="2D3436"/>
                </a:solidFill>
                <a:latin typeface="Quattrocento Sans" pitchFamily="34" charset="0"/>
                <a:ea typeface="Quattrocento Sans" pitchFamily="34" charset="-122"/>
                <a:cs typeface="Quattrocento Sans" pitchFamily="34" charset="-120"/>
              </a:rPr>
              <a:t> → usuario ajusta variables climáticas/económicas → </a:t>
            </a:r>
            <a:pPr>
              <a:lnSpc>
                <a:spcPct val="140000"/>
              </a:lnSpc>
            </a:pPr>
            <a:r>
              <a:rPr lang="en-US" sz="1500" b="1" dirty="0">
                <a:solidFill>
                  <a:srgbClr val="2D6A4F"/>
                </a:solidFill>
                <a:latin typeface="Quattrocento Sans" pitchFamily="34" charset="0"/>
                <a:ea typeface="Quattrocento Sans" pitchFamily="34" charset="-122"/>
                <a:cs typeface="Quattrocento Sans" pitchFamily="34" charset="-120"/>
              </a:rPr>
              <a:t>M6</a:t>
            </a:r>
            <a:pPr>
              <a:lnSpc>
                <a:spcPct val="140000"/>
              </a:lnSpc>
            </a:pPr>
            <a:r>
              <a:rPr lang="en-US" sz="1500" dirty="0">
                <a:solidFill>
                  <a:srgbClr val="2D3436"/>
                </a:solidFill>
                <a:latin typeface="Quattrocento Sans" pitchFamily="34" charset="0"/>
                <a:ea typeface="Quattrocento Sans" pitchFamily="34" charset="-122"/>
                <a:cs typeface="Quattrocento Sans" pitchFamily="34" charset="-120"/>
              </a:rPr>
              <a:t> aporta producción base operativa → </a:t>
            </a:r>
            <a:pPr>
              <a:lnSpc>
                <a:spcPct val="140000"/>
              </a:lnSpc>
            </a:pPr>
            <a:r>
              <a:rPr lang="en-US" sz="1500" b="1" dirty="0">
                <a:solidFill>
                  <a:srgbClr val="2D6A4F"/>
                </a:solidFill>
                <a:latin typeface="Quattrocento Sans" pitchFamily="34" charset="0"/>
                <a:ea typeface="Quattrocento Sans" pitchFamily="34" charset="-122"/>
                <a:cs typeface="Quattrocento Sans" pitchFamily="34" charset="-120"/>
              </a:rPr>
              <a:t>M5</a:t>
            </a:r>
            <a:pPr>
              <a:lnSpc>
                <a:spcPct val="140000"/>
              </a:lnSpc>
            </a:pPr>
            <a:r>
              <a:rPr lang="en-US" sz="1500" dirty="0">
                <a:solidFill>
                  <a:srgbClr val="2D3436"/>
                </a:solidFill>
                <a:latin typeface="Quattrocento Sans" pitchFamily="34" charset="0"/>
                <a:ea typeface="Quattrocento Sans" pitchFamily="34" charset="-122"/>
                <a:cs typeface="Quattrocento Sans" pitchFamily="34" charset="-120"/>
              </a:rPr>
              <a:t> aporta sensibilidad climática → </a:t>
            </a:r>
            <a:pPr>
              <a:lnSpc>
                <a:spcPct val="140000"/>
              </a:lnSpc>
            </a:pPr>
            <a:r>
              <a:rPr lang="en-US" sz="1500" b="1" dirty="0">
                <a:solidFill>
                  <a:srgbClr val="C9A227"/>
                </a:solidFill>
                <a:latin typeface="Quattrocento Sans" pitchFamily="34" charset="0"/>
                <a:ea typeface="Quattrocento Sans" pitchFamily="34" charset="-122"/>
                <a:cs typeface="Quattrocento Sans" pitchFamily="34" charset="-120"/>
              </a:rPr>
              <a:t>solo deterioro adverso</a:t>
            </a:r>
            <a:pPr>
              <a:lnSpc>
                <a:spcPct val="140000"/>
              </a:lnSpc>
            </a:pPr>
            <a:r>
              <a:rPr lang="en-US" sz="1500" dirty="0">
                <a:solidFill>
                  <a:srgbClr val="2D3436"/>
                </a:solidFill>
                <a:latin typeface="Quattrocento Sans" pitchFamily="34" charset="0"/>
                <a:ea typeface="Quattrocento Sans" pitchFamily="34" charset="-122"/>
                <a:cs typeface="Quattrocento Sans" pitchFamily="34" charset="-120"/>
              </a:rPr>
              <a:t> trasladado</a:t>
            </a:r>
            <a:endParaRPr lang="en-US" sz="1600" dirty="0"/>
          </a:p>
        </p:txBody>
      </p:sp>
      <p:sp>
        <p:nvSpPr>
          <p:cNvPr id="15" name="Text 12"/>
          <p:cNvSpPr/>
          <p:nvPr/>
        </p:nvSpPr>
        <p:spPr>
          <a:xfrm>
            <a:off x="762000" y="2667000"/>
            <a:ext cx="3175000" cy="254000"/>
          </a:xfrm>
          <a:prstGeom prst="rect">
            <a:avLst/>
          </a:prstGeom>
          <a:noFill/>
          <a:ln/>
        </p:spPr>
        <p:txBody>
          <a:bodyPr wrap="none" lIns="0" tIns="0" rIns="0" bIns="0" rtlCol="0" anchor="ctr"/>
          <a:lstStyle/>
          <a:p>
            <a:pPr>
              <a:lnSpc>
                <a:spcPct val="120000"/>
              </a:lnSpc>
            </a:pPr>
            <a:r>
              <a:rPr lang="en-US" sz="1300" spc="100" kern="0" dirty="0">
                <a:solidFill>
                  <a:srgbClr val="1B4332"/>
                </a:solidFill>
                <a:latin typeface="QuattrocentoSans" pitchFamily="34" charset="0"/>
                <a:ea typeface="QuattrocentoSans" pitchFamily="34" charset="-122"/>
                <a:cs typeface="QuattrocentoSans" pitchFamily="34" charset="-120"/>
              </a:rPr>
              <a:t>FÓRMULAS DE CÁLCULO</a:t>
            </a:r>
            <a:endParaRPr lang="en-US" sz="1300" dirty="0"/>
          </a:p>
        </p:txBody>
      </p:sp>
      <p:sp>
        <p:nvSpPr>
          <p:cNvPr id="16" name="Shape 13"/>
          <p:cNvSpPr/>
          <p:nvPr/>
        </p:nvSpPr>
        <p:spPr>
          <a:xfrm>
            <a:off x="762000" y="3022600"/>
            <a:ext cx="4699000" cy="1270000"/>
          </a:xfrm>
          <a:prstGeom prst="rect">
            <a:avLst/>
          </a:prstGeom>
          <a:solidFill>
            <a:srgbClr val="1B4332"/>
          </a:solidFill>
          <a:ln/>
        </p:spPr>
      </p:sp>
      <p:sp>
        <p:nvSpPr>
          <p:cNvPr id="17" name="Text 14"/>
          <p:cNvSpPr/>
          <p:nvPr/>
        </p:nvSpPr>
        <p:spPr>
          <a:xfrm>
            <a:off x="952500" y="3086100"/>
            <a:ext cx="4318000" cy="279400"/>
          </a:xfrm>
          <a:prstGeom prst="rect">
            <a:avLst/>
          </a:prstGeom>
          <a:noFill/>
          <a:ln/>
        </p:spPr>
        <p:txBody>
          <a:bodyPr wrap="none" lIns="0" tIns="0" rIns="0" bIns="0" rtlCol="0" anchor="ctr"/>
          <a:lstStyle/>
          <a:p>
            <a:pPr>
              <a:lnSpc>
                <a:spcPct val="100000"/>
              </a:lnSpc>
            </a:pPr>
            <a:r>
              <a:rPr lang="en-US" sz="1300" b="1" dirty="0">
                <a:solidFill>
                  <a:srgbClr val="C9A227"/>
                </a:solidFill>
                <a:latin typeface="Quattrocento Sans" pitchFamily="34" charset="0"/>
                <a:ea typeface="Quattrocento Sans" pitchFamily="34" charset="-122"/>
                <a:cs typeface="Quattrocento Sans" pitchFamily="34" charset="-120"/>
              </a:rPr>
              <a:t>VALOR EXPUESTO PROXY</a:t>
            </a:r>
            <a:endParaRPr lang="en-US" sz="1600" dirty="0"/>
          </a:p>
        </p:txBody>
      </p:sp>
      <p:sp>
        <p:nvSpPr>
          <p:cNvPr id="18" name="Text 15"/>
          <p:cNvSpPr/>
          <p:nvPr/>
        </p:nvSpPr>
        <p:spPr>
          <a:xfrm>
            <a:off x="952500" y="3429000"/>
            <a:ext cx="4318000" cy="698500"/>
          </a:xfrm>
          <a:prstGeom prst="rect">
            <a:avLst/>
          </a:prstGeom>
          <a:noFill/>
          <a:ln/>
        </p:spPr>
        <p:txBody>
          <a:bodyPr wrap="square" lIns="0" tIns="0" rIns="0" bIns="0" rtlCol="0" anchor="ctr"/>
          <a:lstStyle/>
          <a:p>
            <a:pPr>
              <a:lnSpc>
                <a:spcPct val="140000"/>
              </a:lnSpc>
            </a:pPr>
            <a:r>
              <a:rPr lang="en-US" sz="1600" dirty="0">
                <a:solidFill>
                  <a:srgbClr val="FFFFFF"/>
                </a:solidFill>
                <a:latin typeface="Quattrocento Sans" pitchFamily="34" charset="0"/>
                <a:ea typeface="Quattrocento Sans" pitchFamily="34" charset="-122"/>
                <a:cs typeface="Quattrocento Sans" pitchFamily="34" charset="-120"/>
              </a:rPr>
              <a:t>= pérdida productiva × 8 cargas/ton × precio interno</a:t>
            </a:r>
            <a:endParaRPr lang="en-US" sz="1600" dirty="0"/>
          </a:p>
        </p:txBody>
      </p:sp>
      <p:sp>
        <p:nvSpPr>
          <p:cNvPr id="19" name="Shape 16"/>
          <p:cNvSpPr/>
          <p:nvPr/>
        </p:nvSpPr>
        <p:spPr>
          <a:xfrm>
            <a:off x="5778500" y="3022600"/>
            <a:ext cx="4318000" cy="1270000"/>
          </a:xfrm>
          <a:prstGeom prst="rect">
            <a:avLst/>
          </a:prstGeom>
          <a:solidFill>
            <a:srgbClr val="2D6A4F"/>
          </a:solidFill>
          <a:ln/>
        </p:spPr>
      </p:sp>
      <p:sp>
        <p:nvSpPr>
          <p:cNvPr id="20" name="Text 17"/>
          <p:cNvSpPr/>
          <p:nvPr/>
        </p:nvSpPr>
        <p:spPr>
          <a:xfrm>
            <a:off x="5969000" y="3086100"/>
            <a:ext cx="3937000" cy="279400"/>
          </a:xfrm>
          <a:prstGeom prst="rect">
            <a:avLst/>
          </a:prstGeom>
          <a:noFill/>
          <a:ln/>
        </p:spPr>
        <p:txBody>
          <a:bodyPr wrap="none" lIns="0" tIns="0" rIns="0" bIns="0" rtlCol="0" anchor="ctr"/>
          <a:lstStyle/>
          <a:p>
            <a:pPr>
              <a:lnSpc>
                <a:spcPct val="100000"/>
              </a:lnSpc>
            </a:pPr>
            <a:r>
              <a:rPr lang="en-US" sz="1300" b="1" dirty="0">
                <a:solidFill>
                  <a:srgbClr val="C9A227"/>
                </a:solidFill>
                <a:latin typeface="Quattrocento Sans" pitchFamily="34" charset="0"/>
                <a:ea typeface="Quattrocento Sans" pitchFamily="34" charset="-122"/>
                <a:cs typeface="Quattrocento Sans" pitchFamily="34" charset="-120"/>
              </a:rPr>
              <a:t>COBERTURA INDICATIVA</a:t>
            </a:r>
            <a:endParaRPr lang="en-US" sz="1600" dirty="0"/>
          </a:p>
        </p:txBody>
      </p:sp>
      <p:sp>
        <p:nvSpPr>
          <p:cNvPr id="21" name="Text 18"/>
          <p:cNvSpPr/>
          <p:nvPr/>
        </p:nvSpPr>
        <p:spPr>
          <a:xfrm>
            <a:off x="5969000" y="3429000"/>
            <a:ext cx="3937000" cy="698500"/>
          </a:xfrm>
          <a:prstGeom prst="rect">
            <a:avLst/>
          </a:prstGeom>
          <a:noFill/>
          <a:ln/>
        </p:spPr>
        <p:txBody>
          <a:bodyPr wrap="square" lIns="0" tIns="0" rIns="0" bIns="0" rtlCol="0" anchor="ctr"/>
          <a:lstStyle/>
          <a:p>
            <a:pPr>
              <a:lnSpc>
                <a:spcPct val="140000"/>
              </a:lnSpc>
            </a:pPr>
            <a:r>
              <a:rPr lang="en-US" sz="1600" dirty="0">
                <a:solidFill>
                  <a:srgbClr val="FFFFFF"/>
                </a:solidFill>
                <a:latin typeface="Quattrocento Sans" pitchFamily="34" charset="0"/>
                <a:ea typeface="Quattrocento Sans" pitchFamily="34" charset="-122"/>
                <a:cs typeface="Quattrocento Sans" pitchFamily="34" charset="-120"/>
              </a:rPr>
              <a:t>= valor expuesto ajustado × % cobertura</a:t>
            </a:r>
            <a:endParaRPr lang="en-US" sz="1600" dirty="0"/>
          </a:p>
        </p:txBody>
      </p:sp>
      <p:sp>
        <p:nvSpPr>
          <p:cNvPr id="22" name="Shape 19"/>
          <p:cNvSpPr/>
          <p:nvPr/>
        </p:nvSpPr>
        <p:spPr>
          <a:xfrm>
            <a:off x="10414000" y="3022600"/>
            <a:ext cx="5080000" cy="1270000"/>
          </a:xfrm>
          <a:prstGeom prst="rect">
            <a:avLst/>
          </a:prstGeom>
          <a:solidFill>
            <a:srgbClr val="52796F"/>
          </a:solidFill>
          <a:ln/>
        </p:spPr>
      </p:sp>
      <p:sp>
        <p:nvSpPr>
          <p:cNvPr id="23" name="Text 20"/>
          <p:cNvSpPr/>
          <p:nvPr/>
        </p:nvSpPr>
        <p:spPr>
          <a:xfrm>
            <a:off x="10604500" y="3086100"/>
            <a:ext cx="4699000" cy="279400"/>
          </a:xfrm>
          <a:prstGeom prst="rect">
            <a:avLst/>
          </a:prstGeom>
          <a:noFill/>
          <a:ln/>
        </p:spPr>
        <p:txBody>
          <a:bodyPr wrap="none" lIns="0" tIns="0" rIns="0" bIns="0" rtlCol="0" anchor="ctr"/>
          <a:lstStyle/>
          <a:p>
            <a:pPr>
              <a:lnSpc>
                <a:spcPct val="100000"/>
              </a:lnSpc>
            </a:pPr>
            <a:r>
              <a:rPr lang="en-US" sz="1300" b="1" dirty="0">
                <a:solidFill>
                  <a:srgbClr val="C9A227"/>
                </a:solidFill>
                <a:latin typeface="Quattrocento Sans" pitchFamily="34" charset="0"/>
                <a:ea typeface="Quattrocento Sans" pitchFamily="34" charset="-122"/>
                <a:cs typeface="Quattrocento Sans" pitchFamily="34" charset="-120"/>
              </a:rPr>
              <a:t>PRIMA INDICATIVA</a:t>
            </a:r>
            <a:endParaRPr lang="en-US" sz="1600" dirty="0"/>
          </a:p>
        </p:txBody>
      </p:sp>
      <p:sp>
        <p:nvSpPr>
          <p:cNvPr id="24" name="Text 21"/>
          <p:cNvSpPr/>
          <p:nvPr/>
        </p:nvSpPr>
        <p:spPr>
          <a:xfrm>
            <a:off x="10604500" y="3429000"/>
            <a:ext cx="4699000" cy="698500"/>
          </a:xfrm>
          <a:prstGeom prst="rect">
            <a:avLst/>
          </a:prstGeom>
          <a:noFill/>
          <a:ln/>
        </p:spPr>
        <p:txBody>
          <a:bodyPr wrap="square" lIns="0" tIns="0" rIns="0" bIns="0" rtlCol="0" anchor="ctr"/>
          <a:lstStyle/>
          <a:p>
            <a:pPr>
              <a:lnSpc>
                <a:spcPct val="140000"/>
              </a:lnSpc>
            </a:pPr>
            <a:r>
              <a:rPr lang="en-US" sz="1600" dirty="0">
                <a:solidFill>
                  <a:srgbClr val="FFFFFF"/>
                </a:solidFill>
                <a:latin typeface="Quattrocento Sans" pitchFamily="34" charset="0"/>
                <a:ea typeface="Quattrocento Sans" pitchFamily="34" charset="-122"/>
                <a:cs typeface="Quattrocento Sans" pitchFamily="34" charset="-120"/>
              </a:rPr>
              <a:t>= cobertura indicativa × tasa prima</a:t>
            </a:r>
            <a:endParaRPr lang="en-US" sz="1600" dirty="0"/>
          </a:p>
        </p:txBody>
      </p:sp>
      <p:sp>
        <p:nvSpPr>
          <p:cNvPr id="25" name="Text 22"/>
          <p:cNvSpPr/>
          <p:nvPr/>
        </p:nvSpPr>
        <p:spPr>
          <a:xfrm>
            <a:off x="762000" y="4546600"/>
            <a:ext cx="4445000" cy="254000"/>
          </a:xfrm>
          <a:prstGeom prst="rect">
            <a:avLst/>
          </a:prstGeom>
          <a:noFill/>
          <a:ln/>
        </p:spPr>
        <p:txBody>
          <a:bodyPr wrap="none" lIns="0" tIns="0" rIns="0" bIns="0" rtlCol="0" anchor="ctr"/>
          <a:lstStyle/>
          <a:p>
            <a:pPr>
              <a:lnSpc>
                <a:spcPct val="120000"/>
              </a:lnSpc>
            </a:pPr>
            <a:r>
              <a:rPr lang="en-US" sz="1300" spc="100" kern="0" dirty="0">
                <a:solidFill>
                  <a:srgbClr val="1B4332"/>
                </a:solidFill>
                <a:latin typeface="QuattrocentoSans" pitchFamily="34" charset="0"/>
                <a:ea typeface="QuattrocentoSans" pitchFamily="34" charset="-122"/>
                <a:cs typeface="QuattrocentoSans" pitchFamily="34" charset="-120"/>
              </a:rPr>
              <a:t>REGLA DE ACTIVACIÓN INDICATIVA</a:t>
            </a:r>
            <a:endParaRPr lang="en-US" sz="1300" dirty="0"/>
          </a:p>
        </p:txBody>
      </p:sp>
      <p:sp>
        <p:nvSpPr>
          <p:cNvPr id="26" name="Shape 23"/>
          <p:cNvSpPr/>
          <p:nvPr/>
        </p:nvSpPr>
        <p:spPr>
          <a:xfrm>
            <a:off x="762000" y="4902200"/>
            <a:ext cx="4699000" cy="1524000"/>
          </a:xfrm>
          <a:prstGeom prst="rect">
            <a:avLst/>
          </a:prstGeom>
          <a:solidFill>
            <a:srgbClr val="E8E0D4"/>
          </a:solidFill>
          <a:ln/>
        </p:spPr>
      </p:sp>
      <p:sp>
        <p:nvSpPr>
          <p:cNvPr id="27" name="Shape 24"/>
          <p:cNvSpPr/>
          <p:nvPr/>
        </p:nvSpPr>
        <p:spPr>
          <a:xfrm>
            <a:off x="762000" y="4902200"/>
            <a:ext cx="63500" cy="1524000"/>
          </a:xfrm>
          <a:prstGeom prst="rect">
            <a:avLst/>
          </a:prstGeom>
          <a:solidFill>
            <a:srgbClr val="40916C"/>
          </a:solidFill>
          <a:ln/>
        </p:spPr>
      </p:sp>
      <p:sp>
        <p:nvSpPr>
          <p:cNvPr id="28" name="Text 25"/>
          <p:cNvSpPr/>
          <p:nvPr/>
        </p:nvSpPr>
        <p:spPr>
          <a:xfrm>
            <a:off x="1016000" y="4978400"/>
            <a:ext cx="1524000" cy="635000"/>
          </a:xfrm>
          <a:prstGeom prst="rect">
            <a:avLst/>
          </a:prstGeom>
          <a:noFill/>
          <a:ln/>
        </p:spPr>
        <p:txBody>
          <a:bodyPr wrap="none" lIns="0" tIns="0" rIns="0" bIns="0" rtlCol="0" anchor="ctr"/>
          <a:lstStyle/>
          <a:p>
            <a:pPr>
              <a:lnSpc>
                <a:spcPct val="100000"/>
              </a:lnSpc>
            </a:pPr>
            <a:r>
              <a:rPr lang="en-US" sz="3600" b="1" dirty="0">
                <a:solidFill>
                  <a:srgbClr val="40916C"/>
                </a:solidFill>
                <a:latin typeface="Quattrocento Sans" pitchFamily="34" charset="0"/>
                <a:ea typeface="Quattrocento Sans" pitchFamily="34" charset="-122"/>
                <a:cs typeface="Quattrocento Sans" pitchFamily="34" charset="-120"/>
              </a:rPr>
              <a:t>&lt; 3%</a:t>
            </a:r>
            <a:endParaRPr lang="en-US" sz="1600" dirty="0"/>
          </a:p>
        </p:txBody>
      </p:sp>
      <p:sp>
        <p:nvSpPr>
          <p:cNvPr id="29" name="Text 26"/>
          <p:cNvSpPr/>
          <p:nvPr/>
        </p:nvSpPr>
        <p:spPr>
          <a:xfrm>
            <a:off x="1016000" y="5613400"/>
            <a:ext cx="4191000" cy="762000"/>
          </a:xfrm>
          <a:prstGeom prst="rect">
            <a:avLst/>
          </a:prstGeom>
          <a:noFill/>
          <a:ln/>
        </p:spPr>
        <p:txBody>
          <a:bodyPr wrap="square" lIns="0" tIns="0" rIns="0" bIns="0" rtlCol="0" anchor="ctr"/>
          <a:lstStyle/>
          <a:p>
            <a:pPr>
              <a:lnSpc>
                <a:spcPct val="140000"/>
              </a:lnSpc>
            </a:pPr>
            <a:r>
              <a:rPr lang="en-US" sz="1600" b="1" dirty="0">
                <a:solidFill>
                  <a:srgbClr val="2D3436"/>
                </a:solidFill>
                <a:latin typeface="Quattrocento Sans" pitchFamily="34" charset="0"/>
                <a:ea typeface="Quattrocento Sans" pitchFamily="34" charset="-122"/>
                <a:cs typeface="Quattrocento Sans" pitchFamily="34" charset="-120"/>
              </a:rPr>
              <a:t>No activado</a:t>
            </a:r>
            <a:endParaRPr lang="en-US" sz="1600" dirty="0"/>
          </a:p>
          <a:p>
            <a:pPr>
              <a:lnSpc>
                <a:spcPct val="140000"/>
              </a:lnSpc>
            </a:pPr>
            <a:r>
              <a:rPr lang="en-US" sz="1400" dirty="0">
                <a:solidFill>
                  <a:srgbClr val="6B7280"/>
                </a:solidFill>
                <a:latin typeface="Quattrocento Sans" pitchFamily="34" charset="0"/>
                <a:ea typeface="Quattrocento Sans" pitchFamily="34" charset="-122"/>
                <a:cs typeface="Quattrocento Sans" pitchFamily="34" charset="-120"/>
              </a:rPr>
              <a:t>Pérdida proxy dentro de rango normal</a:t>
            </a:r>
            <a:endParaRPr lang="en-US" sz="1600" dirty="0"/>
          </a:p>
        </p:txBody>
      </p:sp>
      <p:sp>
        <p:nvSpPr>
          <p:cNvPr id="30" name="Shape 27"/>
          <p:cNvSpPr/>
          <p:nvPr/>
        </p:nvSpPr>
        <p:spPr>
          <a:xfrm>
            <a:off x="5778500" y="4902200"/>
            <a:ext cx="4318000" cy="1524000"/>
          </a:xfrm>
          <a:prstGeom prst="rect">
            <a:avLst/>
          </a:prstGeom>
          <a:solidFill>
            <a:srgbClr val="E8E0D4"/>
          </a:solidFill>
          <a:ln/>
        </p:spPr>
      </p:sp>
      <p:sp>
        <p:nvSpPr>
          <p:cNvPr id="31" name="Shape 28"/>
          <p:cNvSpPr/>
          <p:nvPr/>
        </p:nvSpPr>
        <p:spPr>
          <a:xfrm>
            <a:off x="5778500" y="4902200"/>
            <a:ext cx="63500" cy="1524000"/>
          </a:xfrm>
          <a:prstGeom prst="rect">
            <a:avLst/>
          </a:prstGeom>
          <a:solidFill>
            <a:srgbClr val="C9A227"/>
          </a:solidFill>
          <a:ln/>
        </p:spPr>
      </p:sp>
      <p:sp>
        <p:nvSpPr>
          <p:cNvPr id="32" name="Text 29"/>
          <p:cNvSpPr/>
          <p:nvPr/>
        </p:nvSpPr>
        <p:spPr>
          <a:xfrm>
            <a:off x="6032500" y="4978400"/>
            <a:ext cx="2032000" cy="635000"/>
          </a:xfrm>
          <a:prstGeom prst="rect">
            <a:avLst/>
          </a:prstGeom>
          <a:noFill/>
          <a:ln/>
        </p:spPr>
        <p:txBody>
          <a:bodyPr wrap="none" lIns="0" tIns="0" rIns="0" bIns="0" rtlCol="0" anchor="ctr"/>
          <a:lstStyle/>
          <a:p>
            <a:pPr>
              <a:lnSpc>
                <a:spcPct val="100000"/>
              </a:lnSpc>
            </a:pPr>
            <a:r>
              <a:rPr lang="en-US" sz="3600" b="1" dirty="0">
                <a:solidFill>
                  <a:srgbClr val="C9A227"/>
                </a:solidFill>
                <a:latin typeface="Quattrocento Sans" pitchFamily="34" charset="0"/>
                <a:ea typeface="Quattrocento Sans" pitchFamily="34" charset="-122"/>
                <a:cs typeface="Quattrocento Sans" pitchFamily="34" charset="-120"/>
              </a:rPr>
              <a:t>3% – 7%</a:t>
            </a:r>
            <a:endParaRPr lang="en-US" sz="1600" dirty="0"/>
          </a:p>
        </p:txBody>
      </p:sp>
      <p:sp>
        <p:nvSpPr>
          <p:cNvPr id="33" name="Text 30"/>
          <p:cNvSpPr/>
          <p:nvPr/>
        </p:nvSpPr>
        <p:spPr>
          <a:xfrm>
            <a:off x="6032500" y="5613400"/>
            <a:ext cx="3810000" cy="762000"/>
          </a:xfrm>
          <a:prstGeom prst="rect">
            <a:avLst/>
          </a:prstGeom>
          <a:noFill/>
          <a:ln/>
        </p:spPr>
        <p:txBody>
          <a:bodyPr wrap="square" lIns="0" tIns="0" rIns="0" bIns="0" rtlCol="0" anchor="ctr"/>
          <a:lstStyle/>
          <a:p>
            <a:pPr>
              <a:lnSpc>
                <a:spcPct val="140000"/>
              </a:lnSpc>
            </a:pPr>
            <a:r>
              <a:rPr lang="en-US" sz="1600" b="1" dirty="0">
                <a:solidFill>
                  <a:srgbClr val="2D3436"/>
                </a:solidFill>
                <a:latin typeface="Quattrocento Sans" pitchFamily="34" charset="0"/>
                <a:ea typeface="Quattrocento Sans" pitchFamily="34" charset="-122"/>
                <a:cs typeface="Quattrocento Sans" pitchFamily="34" charset="-120"/>
              </a:rPr>
              <a:t>Activación preventiva</a:t>
            </a:r>
            <a:endParaRPr lang="en-US" sz="1600" dirty="0"/>
          </a:p>
          <a:p>
            <a:pPr>
              <a:lnSpc>
                <a:spcPct val="140000"/>
              </a:lnSpc>
            </a:pPr>
            <a:r>
              <a:rPr lang="en-US" sz="1400" dirty="0">
                <a:solidFill>
                  <a:srgbClr val="6B7280"/>
                </a:solidFill>
                <a:latin typeface="Quattrocento Sans" pitchFamily="34" charset="0"/>
                <a:ea typeface="Quattrocento Sans" pitchFamily="34" charset="-122"/>
                <a:cs typeface="Quattrocento Sans" pitchFamily="34" charset="-120"/>
              </a:rPr>
              <a:t>Condiciones de riesgo moderado</a:t>
            </a:r>
            <a:endParaRPr lang="en-US" sz="1600" dirty="0"/>
          </a:p>
        </p:txBody>
      </p:sp>
      <p:sp>
        <p:nvSpPr>
          <p:cNvPr id="34" name="Shape 31"/>
          <p:cNvSpPr/>
          <p:nvPr/>
        </p:nvSpPr>
        <p:spPr>
          <a:xfrm>
            <a:off x="10414000" y="4902200"/>
            <a:ext cx="5080000" cy="1524000"/>
          </a:xfrm>
          <a:prstGeom prst="rect">
            <a:avLst/>
          </a:prstGeom>
          <a:solidFill>
            <a:srgbClr val="E8E0D4"/>
          </a:solidFill>
          <a:ln/>
        </p:spPr>
      </p:sp>
      <p:sp>
        <p:nvSpPr>
          <p:cNvPr id="35" name="Shape 32"/>
          <p:cNvSpPr/>
          <p:nvPr/>
        </p:nvSpPr>
        <p:spPr>
          <a:xfrm>
            <a:off x="10414000" y="4902200"/>
            <a:ext cx="63500" cy="1524000"/>
          </a:xfrm>
          <a:prstGeom prst="rect">
            <a:avLst/>
          </a:prstGeom>
          <a:solidFill>
            <a:srgbClr val="B85C38"/>
          </a:solidFill>
          <a:ln/>
        </p:spPr>
      </p:sp>
      <p:sp>
        <p:nvSpPr>
          <p:cNvPr id="36" name="Text 33"/>
          <p:cNvSpPr/>
          <p:nvPr/>
        </p:nvSpPr>
        <p:spPr>
          <a:xfrm>
            <a:off x="10668000" y="4978400"/>
            <a:ext cx="2032000" cy="635000"/>
          </a:xfrm>
          <a:prstGeom prst="rect">
            <a:avLst/>
          </a:prstGeom>
          <a:noFill/>
          <a:ln/>
        </p:spPr>
        <p:txBody>
          <a:bodyPr wrap="none" lIns="0" tIns="0" rIns="0" bIns="0" rtlCol="0" anchor="ctr"/>
          <a:lstStyle/>
          <a:p>
            <a:pPr>
              <a:lnSpc>
                <a:spcPct val="100000"/>
              </a:lnSpc>
            </a:pPr>
            <a:r>
              <a:rPr lang="en-US" sz="3600" b="1" dirty="0">
                <a:solidFill>
                  <a:srgbClr val="B85C38"/>
                </a:solidFill>
                <a:latin typeface="Quattrocento Sans" pitchFamily="34" charset="0"/>
                <a:ea typeface="Quattrocento Sans" pitchFamily="34" charset="-122"/>
                <a:cs typeface="Quattrocento Sans" pitchFamily="34" charset="-120"/>
              </a:rPr>
              <a:t>&gt; 7%</a:t>
            </a:r>
            <a:endParaRPr lang="en-US" sz="1600" dirty="0"/>
          </a:p>
        </p:txBody>
      </p:sp>
      <p:sp>
        <p:nvSpPr>
          <p:cNvPr id="37" name="Text 34"/>
          <p:cNvSpPr/>
          <p:nvPr/>
        </p:nvSpPr>
        <p:spPr>
          <a:xfrm>
            <a:off x="10668000" y="5613400"/>
            <a:ext cx="4572000" cy="762000"/>
          </a:xfrm>
          <a:prstGeom prst="rect">
            <a:avLst/>
          </a:prstGeom>
          <a:noFill/>
          <a:ln/>
        </p:spPr>
        <p:txBody>
          <a:bodyPr wrap="square" lIns="0" tIns="0" rIns="0" bIns="0" rtlCol="0" anchor="ctr"/>
          <a:lstStyle/>
          <a:p>
            <a:pPr>
              <a:lnSpc>
                <a:spcPct val="140000"/>
              </a:lnSpc>
            </a:pPr>
            <a:r>
              <a:rPr lang="en-US" sz="1600" b="1" dirty="0">
                <a:solidFill>
                  <a:srgbClr val="2D3436"/>
                </a:solidFill>
                <a:latin typeface="Quattrocento Sans" pitchFamily="34" charset="0"/>
                <a:ea typeface="Quattrocento Sans" pitchFamily="34" charset="-122"/>
                <a:cs typeface="Quattrocento Sans" pitchFamily="34" charset="-120"/>
              </a:rPr>
              <a:t>Activación probable</a:t>
            </a:r>
            <a:endParaRPr lang="en-US" sz="1600" dirty="0"/>
          </a:p>
          <a:p>
            <a:pPr>
              <a:lnSpc>
                <a:spcPct val="140000"/>
              </a:lnSpc>
            </a:pPr>
            <a:r>
              <a:rPr lang="en-US" sz="1400" dirty="0">
                <a:solidFill>
                  <a:srgbClr val="6B7280"/>
                </a:solidFill>
                <a:latin typeface="Quattrocento Sans" pitchFamily="34" charset="0"/>
                <a:ea typeface="Quattrocento Sans" pitchFamily="34" charset="-122"/>
                <a:cs typeface="Quattrocento Sans" pitchFamily="34" charset="-120"/>
              </a:rPr>
              <a:t>Condiciones de riesgo elevado</a:t>
            </a:r>
            <a:endParaRPr lang="en-US" sz="1600" dirty="0"/>
          </a:p>
        </p:txBody>
      </p:sp>
      <p:sp>
        <p:nvSpPr>
          <p:cNvPr id="38" name="Shape 35"/>
          <p:cNvSpPr/>
          <p:nvPr/>
        </p:nvSpPr>
        <p:spPr>
          <a:xfrm>
            <a:off x="762000" y="6731000"/>
            <a:ext cx="14732000" cy="889000"/>
          </a:xfrm>
          <a:prstGeom prst="rect">
            <a:avLst/>
          </a:prstGeom>
          <a:solidFill>
            <a:srgbClr val="E8E0D4"/>
          </a:solidFill>
          <a:ln/>
        </p:spPr>
      </p:sp>
      <p:sp>
        <p:nvSpPr>
          <p:cNvPr id="39" name="Shape 36"/>
          <p:cNvSpPr/>
          <p:nvPr/>
        </p:nvSpPr>
        <p:spPr>
          <a:xfrm>
            <a:off x="762000" y="6731000"/>
            <a:ext cx="63500" cy="889000"/>
          </a:xfrm>
          <a:prstGeom prst="rect">
            <a:avLst/>
          </a:prstGeom>
          <a:solidFill>
            <a:srgbClr val="C9A227"/>
          </a:solidFill>
          <a:ln/>
        </p:spPr>
      </p:sp>
      <p:sp>
        <p:nvSpPr>
          <p:cNvPr id="40" name="Shape 37"/>
          <p:cNvSpPr/>
          <p:nvPr/>
        </p:nvSpPr>
        <p:spPr>
          <a:xfrm>
            <a:off x="1041400" y="6959600"/>
            <a:ext cx="304800" cy="304800"/>
          </a:xfrm>
          <a:custGeom>
            <a:avLst/>
            <a:gdLst/>
            <a:ahLst/>
            <a:cxnLst/>
            <a:rect l="l" t="t" r="r" b="b"/>
            <a:pathLst>
              <a:path w="304800" h="304800">
                <a:moveTo>
                  <a:pt x="152400" y="0"/>
                </a:moveTo>
                <a:cubicBezTo>
                  <a:pt x="161151" y="0"/>
                  <a:pt x="169188" y="4822"/>
                  <a:pt x="173355" y="12502"/>
                </a:cubicBezTo>
                <a:lnTo>
                  <a:pt x="301943" y="250627"/>
                </a:lnTo>
                <a:cubicBezTo>
                  <a:pt x="305931" y="258008"/>
                  <a:pt x="305753" y="266938"/>
                  <a:pt x="301466" y="274141"/>
                </a:cubicBezTo>
                <a:cubicBezTo>
                  <a:pt x="297180" y="281345"/>
                  <a:pt x="289381" y="285750"/>
                  <a:pt x="280987" y="285750"/>
                </a:cubicBezTo>
                <a:lnTo>
                  <a:pt x="23813" y="285750"/>
                </a:lnTo>
                <a:cubicBezTo>
                  <a:pt x="15419" y="285750"/>
                  <a:pt x="7680" y="281345"/>
                  <a:pt x="3334" y="274141"/>
                </a:cubicBezTo>
                <a:cubicBezTo>
                  <a:pt x="-1012" y="266938"/>
                  <a:pt x="-1131" y="258008"/>
                  <a:pt x="2858" y="250627"/>
                </a:cubicBezTo>
                <a:lnTo>
                  <a:pt x="131445" y="12502"/>
                </a:lnTo>
                <a:cubicBezTo>
                  <a:pt x="135612" y="4822"/>
                  <a:pt x="143649" y="0"/>
                  <a:pt x="152400" y="0"/>
                </a:cubicBezTo>
                <a:close/>
                <a:moveTo>
                  <a:pt x="152400" y="100013"/>
                </a:moveTo>
                <a:cubicBezTo>
                  <a:pt x="144482" y="100013"/>
                  <a:pt x="138113" y="106382"/>
                  <a:pt x="138113" y="114300"/>
                </a:cubicBezTo>
                <a:lnTo>
                  <a:pt x="138113" y="180975"/>
                </a:lnTo>
                <a:cubicBezTo>
                  <a:pt x="138113" y="188893"/>
                  <a:pt x="144482" y="195263"/>
                  <a:pt x="152400" y="195263"/>
                </a:cubicBezTo>
                <a:cubicBezTo>
                  <a:pt x="160318" y="195263"/>
                  <a:pt x="166688" y="188893"/>
                  <a:pt x="166688" y="180975"/>
                </a:cubicBezTo>
                <a:lnTo>
                  <a:pt x="166688" y="114300"/>
                </a:lnTo>
                <a:cubicBezTo>
                  <a:pt x="166688" y="106382"/>
                  <a:pt x="160318" y="100013"/>
                  <a:pt x="152400" y="100013"/>
                </a:cubicBezTo>
                <a:close/>
                <a:moveTo>
                  <a:pt x="168295" y="228600"/>
                </a:moveTo>
                <a:cubicBezTo>
                  <a:pt x="168656" y="222700"/>
                  <a:pt x="165714" y="217087"/>
                  <a:pt x="160656" y="214027"/>
                </a:cubicBezTo>
                <a:cubicBezTo>
                  <a:pt x="155599" y="210968"/>
                  <a:pt x="149261" y="210968"/>
                  <a:pt x="144203" y="214027"/>
                </a:cubicBezTo>
                <a:cubicBezTo>
                  <a:pt x="139145" y="217087"/>
                  <a:pt x="136203" y="222700"/>
                  <a:pt x="136565" y="228600"/>
                </a:cubicBezTo>
                <a:cubicBezTo>
                  <a:pt x="136203" y="234500"/>
                  <a:pt x="139145" y="240113"/>
                  <a:pt x="144203" y="243173"/>
                </a:cubicBezTo>
                <a:cubicBezTo>
                  <a:pt x="149261" y="246232"/>
                  <a:pt x="155599" y="246232"/>
                  <a:pt x="160656" y="243173"/>
                </a:cubicBezTo>
                <a:cubicBezTo>
                  <a:pt x="165714" y="240113"/>
                  <a:pt x="168656" y="234500"/>
                  <a:pt x="168295" y="228600"/>
                </a:cubicBezTo>
                <a:close/>
              </a:path>
            </a:pathLst>
          </a:custGeom>
          <a:solidFill>
            <a:srgbClr val="C9A227"/>
          </a:solidFill>
          <a:ln/>
        </p:spPr>
      </p:sp>
      <p:sp>
        <p:nvSpPr>
          <p:cNvPr id="41" name="Text 38"/>
          <p:cNvSpPr/>
          <p:nvPr/>
        </p:nvSpPr>
        <p:spPr>
          <a:xfrm>
            <a:off x="1498600" y="6794500"/>
            <a:ext cx="13779500" cy="762000"/>
          </a:xfrm>
          <a:prstGeom prst="rect">
            <a:avLst/>
          </a:prstGeom>
          <a:noFill/>
          <a:ln/>
        </p:spPr>
        <p:txBody>
          <a:bodyPr wrap="square" lIns="0" tIns="0" rIns="0" bIns="0" rtlCol="0" anchor="ctr"/>
          <a:lstStyle/>
          <a:p>
            <a:pPr>
              <a:lnSpc>
                <a:spcPct val="150000"/>
              </a:lnSpc>
            </a:pPr>
            <a:r>
              <a:rPr lang="en-US" sz="1600" b="1" dirty="0">
                <a:solidFill>
                  <a:srgbClr val="2D3436"/>
                </a:solidFill>
                <a:latin typeface="Quattrocento Sans" pitchFamily="34" charset="0"/>
                <a:ea typeface="Quattrocento Sans" pitchFamily="34" charset="-122"/>
                <a:cs typeface="Quattrocento Sans" pitchFamily="34" charset="-120"/>
              </a:rPr>
              <a:t>Esta no es una tarificación actuarial definitiva.</a:t>
            </a:r>
            <a:pPr>
              <a:lnSpc>
                <a:spcPct val="150000"/>
              </a:lnSpc>
            </a:pPr>
            <a:r>
              <a:rPr lang="en-US" sz="1600" dirty="0">
                <a:solidFill>
                  <a:srgbClr val="2D3436"/>
                </a:solidFill>
                <a:latin typeface="Quattrocento Sans" pitchFamily="34" charset="0"/>
                <a:ea typeface="Quattrocento Sans" pitchFamily="34" charset="-122"/>
                <a:cs typeface="Quattrocento Sans" pitchFamily="34" charset="-120"/>
              </a:rPr>
              <a:t> Es una prima de referencia técnica que permite simular escenarios antes de una validación actuarial formal. Faro Cafetero construye la ruta analítica funcional, no cierra el producto de seguro.</a:t>
            </a:r>
            <a:endParaRPr lang="en-US" sz="1600" dirty="0"/>
          </a:p>
        </p:txBody>
      </p:sp>
      <p:sp>
        <p:nvSpPr>
          <p:cNvPr id="42" name="Text 39"/>
          <p:cNvSpPr/>
          <p:nvPr/>
        </p:nvSpPr>
        <p:spPr>
          <a:xfrm>
            <a:off x="15240000" y="8763000"/>
            <a:ext cx="508000" cy="254000"/>
          </a:xfrm>
          <a:prstGeom prst="rect">
            <a:avLst/>
          </a:prstGeom>
          <a:noFill/>
          <a:ln/>
        </p:spPr>
        <p:txBody>
          <a:bodyPr wrap="none" lIns="0" tIns="0" rIns="0" bIns="0" rtlCol="0" anchor="ctr"/>
          <a:lstStyle/>
          <a:p>
            <a:pPr algn="r">
              <a:lnSpc>
                <a:spcPct val="140000"/>
              </a:lnSpc>
            </a:pPr>
            <a:r>
              <a:rPr lang="en-US" sz="1400" dirty="0">
                <a:solidFill>
                  <a:srgbClr val="6B7280"/>
                </a:solidFill>
                <a:latin typeface="QuattrocentoSans" pitchFamily="34" charset="0"/>
                <a:ea typeface="QuattrocentoSans" pitchFamily="34" charset="-122"/>
                <a:cs typeface="QuattrocentoSans" pitchFamily="34" charset="-120"/>
              </a:rPr>
              <a:t>05</a:t>
            </a:r>
            <a:endParaRPr lang="en-US" sz="14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Shape 0"/>
          <p:cNvSpPr/>
          <p:nvPr/>
        </p:nvSpPr>
        <p:spPr>
          <a:xfrm>
            <a:off x="0" y="0"/>
            <a:ext cx="16256000" cy="457200"/>
          </a:xfrm>
          <a:prstGeom prst="rect">
            <a:avLst/>
          </a:prstGeom>
          <a:solidFill>
            <a:srgbClr val="1B4332"/>
          </a:solidFill>
          <a:ln/>
        </p:spPr>
      </p:sp>
      <p:sp>
        <p:nvSpPr>
          <p:cNvPr id="4" name="Text 1"/>
          <p:cNvSpPr/>
          <p:nvPr/>
        </p:nvSpPr>
        <p:spPr>
          <a:xfrm>
            <a:off x="762000" y="0"/>
            <a:ext cx="2540000" cy="457200"/>
          </a:xfrm>
          <a:prstGeom prst="rect">
            <a:avLst/>
          </a:prstGeom>
          <a:noFill/>
          <a:ln/>
        </p:spPr>
        <p:txBody>
          <a:bodyPr wrap="none" lIns="0" tIns="0" rIns="0" bIns="0" rtlCol="0" anchor="ctr"/>
          <a:lstStyle/>
          <a:p>
            <a:pPr>
              <a:lnSpc>
                <a:spcPct val="120000"/>
              </a:lnSpc>
            </a:pPr>
            <a:r>
              <a:rPr lang="en-US" sz="1300" dirty="0">
                <a:solidFill>
                  <a:srgbClr val="FFFFFF">
                    <a:alpha val="50000"/>
                  </a:srgbClr>
                </a:solidFill>
                <a:latin typeface="QuattrocentoSans" pitchFamily="34" charset="0"/>
                <a:ea typeface="QuattrocentoSans" pitchFamily="34" charset="-122"/>
                <a:cs typeface="QuattrocentoSans" pitchFamily="34" charset="-120"/>
              </a:rPr>
              <a:t>01 PROBLEMA</a:t>
            </a:r>
            <a:endParaRPr lang="en-US" sz="1300" dirty="0"/>
          </a:p>
        </p:txBody>
      </p:sp>
      <p:sp>
        <p:nvSpPr>
          <p:cNvPr id="5" name="Text 2"/>
          <p:cNvSpPr/>
          <p:nvPr/>
        </p:nvSpPr>
        <p:spPr>
          <a:xfrm>
            <a:off x="3556000" y="0"/>
            <a:ext cx="2540000" cy="457200"/>
          </a:xfrm>
          <a:prstGeom prst="rect">
            <a:avLst/>
          </a:prstGeom>
          <a:noFill/>
          <a:ln/>
        </p:spPr>
        <p:txBody>
          <a:bodyPr wrap="none" lIns="0" tIns="0" rIns="0" bIns="0" rtlCol="0" anchor="ctr"/>
          <a:lstStyle/>
          <a:p>
            <a:pPr>
              <a:lnSpc>
                <a:spcPct val="120000"/>
              </a:lnSpc>
            </a:pPr>
            <a:r>
              <a:rPr lang="en-US" sz="1300" dirty="0">
                <a:solidFill>
                  <a:srgbClr val="FFFFFF">
                    <a:alpha val="50000"/>
                  </a:srgbClr>
                </a:solidFill>
                <a:latin typeface="QuattrocentoSans" pitchFamily="34" charset="0"/>
                <a:ea typeface="QuattrocentoSans" pitchFamily="34" charset="-122"/>
                <a:cs typeface="QuattrocentoSans" pitchFamily="34" charset="-120"/>
              </a:rPr>
              <a:t>02 RUTA</a:t>
            </a:r>
            <a:endParaRPr lang="en-US" sz="1300" dirty="0"/>
          </a:p>
        </p:txBody>
      </p:sp>
      <p:sp>
        <p:nvSpPr>
          <p:cNvPr id="6" name="Text 3"/>
          <p:cNvSpPr/>
          <p:nvPr/>
        </p:nvSpPr>
        <p:spPr>
          <a:xfrm>
            <a:off x="6350000" y="0"/>
            <a:ext cx="3048000" cy="457200"/>
          </a:xfrm>
          <a:prstGeom prst="rect">
            <a:avLst/>
          </a:prstGeom>
          <a:noFill/>
          <a:ln/>
        </p:spPr>
        <p:txBody>
          <a:bodyPr wrap="none" lIns="0" tIns="0" rIns="0" bIns="0" rtlCol="0" anchor="ctr"/>
          <a:lstStyle/>
          <a:p>
            <a:pPr>
              <a:lnSpc>
                <a:spcPct val="120000"/>
              </a:lnSpc>
            </a:pPr>
            <a:r>
              <a:rPr lang="en-US" sz="1300" dirty="0">
                <a:solidFill>
                  <a:srgbClr val="FFFFFF">
                    <a:alpha val="50000"/>
                  </a:srgbClr>
                </a:solidFill>
                <a:latin typeface="QuattrocentoSans" pitchFamily="34" charset="0"/>
                <a:ea typeface="QuattrocentoSans" pitchFamily="34" charset="-122"/>
                <a:cs typeface="QuattrocentoSans" pitchFamily="34" charset="-120"/>
              </a:rPr>
              <a:t>03 ARQUITECTURA</a:t>
            </a:r>
            <a:endParaRPr lang="en-US" sz="1300" dirty="0"/>
          </a:p>
        </p:txBody>
      </p:sp>
      <p:sp>
        <p:nvSpPr>
          <p:cNvPr id="7" name="Text 4"/>
          <p:cNvSpPr/>
          <p:nvPr/>
        </p:nvSpPr>
        <p:spPr>
          <a:xfrm>
            <a:off x="9652000" y="0"/>
            <a:ext cx="2794000" cy="457200"/>
          </a:xfrm>
          <a:prstGeom prst="rect">
            <a:avLst/>
          </a:prstGeom>
          <a:noFill/>
          <a:ln/>
        </p:spPr>
        <p:txBody>
          <a:bodyPr wrap="none" lIns="0" tIns="0" rIns="0" bIns="0" rtlCol="0" anchor="ctr"/>
          <a:lstStyle/>
          <a:p>
            <a:pPr>
              <a:lnSpc>
                <a:spcPct val="120000"/>
              </a:lnSpc>
            </a:pPr>
            <a:r>
              <a:rPr lang="en-US" sz="1300" dirty="0">
                <a:solidFill>
                  <a:srgbClr val="FFFFFF">
                    <a:alpha val="50000"/>
                  </a:srgbClr>
                </a:solidFill>
                <a:latin typeface="QuattrocentoSans" pitchFamily="34" charset="0"/>
                <a:ea typeface="QuattrocentoSans" pitchFamily="34" charset="-122"/>
                <a:cs typeface="QuattrocentoSans" pitchFamily="34" charset="-120"/>
              </a:rPr>
              <a:t>04 PROTOTIPO</a:t>
            </a:r>
            <a:endParaRPr lang="en-US" sz="1300" dirty="0"/>
          </a:p>
        </p:txBody>
      </p:sp>
      <p:sp>
        <p:nvSpPr>
          <p:cNvPr id="8" name="Text 5"/>
          <p:cNvSpPr/>
          <p:nvPr/>
        </p:nvSpPr>
        <p:spPr>
          <a:xfrm>
            <a:off x="12700000" y="0"/>
            <a:ext cx="1651000" cy="457200"/>
          </a:xfrm>
          <a:prstGeom prst="rect">
            <a:avLst/>
          </a:prstGeom>
          <a:noFill/>
          <a:ln/>
        </p:spPr>
        <p:txBody>
          <a:bodyPr wrap="none" lIns="0" tIns="0" rIns="0" bIns="0" rtlCol="0" anchor="ctr"/>
          <a:lstStyle/>
          <a:p>
            <a:pPr>
              <a:lnSpc>
                <a:spcPct val="120000"/>
              </a:lnSpc>
            </a:pPr>
            <a:r>
              <a:rPr lang="en-US" sz="1300" dirty="0">
                <a:solidFill>
                  <a:srgbClr val="FFFFFF">
                    <a:alpha val="50000"/>
                  </a:srgbClr>
                </a:solidFill>
                <a:latin typeface="QuattrocentoSans" pitchFamily="34" charset="0"/>
                <a:ea typeface="QuattrocentoSans" pitchFamily="34" charset="-122"/>
                <a:cs typeface="QuattrocentoSans" pitchFamily="34" charset="-120"/>
              </a:rPr>
              <a:t>05 SIMULADOR</a:t>
            </a:r>
            <a:endParaRPr lang="en-US" sz="1300" dirty="0"/>
          </a:p>
        </p:txBody>
      </p:sp>
      <p:sp>
        <p:nvSpPr>
          <p:cNvPr id="9" name="Text 6"/>
          <p:cNvSpPr/>
          <p:nvPr/>
        </p:nvSpPr>
        <p:spPr>
          <a:xfrm>
            <a:off x="14414500" y="0"/>
            <a:ext cx="1524000" cy="457200"/>
          </a:xfrm>
          <a:prstGeom prst="rect">
            <a:avLst/>
          </a:prstGeom>
          <a:noFill/>
          <a:ln/>
        </p:spPr>
        <p:txBody>
          <a:bodyPr wrap="none" lIns="0" tIns="0" rIns="0" bIns="0" rtlCol="0" anchor="ctr"/>
          <a:lstStyle/>
          <a:p>
            <a:pPr>
              <a:lnSpc>
                <a:spcPct val="120000"/>
              </a:lnSpc>
            </a:pPr>
            <a:r>
              <a:rPr lang="en-US" sz="1300" b="1" dirty="0">
                <a:solidFill>
                  <a:srgbClr val="C9A227"/>
                </a:solidFill>
                <a:latin typeface="QuattrocentoSans" pitchFamily="34" charset="0"/>
                <a:ea typeface="QuattrocentoSans" pitchFamily="34" charset="-122"/>
                <a:cs typeface="QuattrocentoSans" pitchFamily="34" charset="-120"/>
              </a:rPr>
              <a:t>06</a:t>
            </a:r>
            <a:pPr>
              <a:lnSpc>
                <a:spcPct val="120000"/>
              </a:lnSpc>
            </a:pPr>
            <a:r>
              <a:rPr lang="en-US" sz="1300" dirty="0">
                <a:solidFill>
                  <a:srgbClr val="C9A227"/>
                </a:solidFill>
                <a:latin typeface="QuattrocentoSans" pitchFamily="34" charset="0"/>
                <a:ea typeface="QuattrocentoSans" pitchFamily="34" charset="-122"/>
                <a:cs typeface="QuattrocentoSans" pitchFamily="34" charset="-120"/>
              </a:rPr>
              <a:t> CIERRE</a:t>
            </a:r>
            <a:endParaRPr lang="en-US" sz="1300" dirty="0"/>
          </a:p>
        </p:txBody>
      </p:sp>
      <p:sp>
        <p:nvSpPr>
          <p:cNvPr id="10" name="Text 7"/>
          <p:cNvSpPr/>
          <p:nvPr/>
        </p:nvSpPr>
        <p:spPr>
          <a:xfrm>
            <a:off x="762000" y="660400"/>
            <a:ext cx="10160000" cy="533400"/>
          </a:xfrm>
          <a:prstGeom prst="rect">
            <a:avLst/>
          </a:prstGeom>
          <a:noFill/>
          <a:ln/>
        </p:spPr>
        <p:txBody>
          <a:bodyPr wrap="none" lIns="0" tIns="0" rIns="0" bIns="0" rtlCol="0" anchor="ctr"/>
          <a:lstStyle/>
          <a:p>
            <a:pPr>
              <a:lnSpc>
                <a:spcPct val="120000"/>
              </a:lnSpc>
            </a:pPr>
            <a:r>
              <a:rPr lang="en-US" sz="3200" b="1" dirty="0">
                <a:solidFill>
                  <a:srgbClr val="1B4332"/>
                </a:solidFill>
                <a:latin typeface="QuattrocentoSans" pitchFamily="34" charset="0"/>
                <a:ea typeface="QuattrocentoSans" pitchFamily="34" charset="-122"/>
                <a:cs typeface="QuattrocentoSans" pitchFamily="34" charset="-120"/>
              </a:rPr>
              <a:t>Validación, propuesta de valor y adopción</a:t>
            </a:r>
            <a:endParaRPr lang="en-US" sz="3200" dirty="0"/>
          </a:p>
        </p:txBody>
      </p:sp>
      <p:sp>
        <p:nvSpPr>
          <p:cNvPr id="11" name="Shape 8"/>
          <p:cNvSpPr/>
          <p:nvPr/>
        </p:nvSpPr>
        <p:spPr>
          <a:xfrm>
            <a:off x="762000" y="1244600"/>
            <a:ext cx="762000" cy="50800"/>
          </a:xfrm>
          <a:prstGeom prst="rect">
            <a:avLst/>
          </a:prstGeom>
          <a:solidFill>
            <a:srgbClr val="C9A227"/>
          </a:solidFill>
          <a:ln/>
        </p:spPr>
      </p:sp>
      <p:sp>
        <p:nvSpPr>
          <p:cNvPr id="12" name="Text 9"/>
          <p:cNvSpPr/>
          <p:nvPr/>
        </p:nvSpPr>
        <p:spPr>
          <a:xfrm>
            <a:off x="762000" y="1447800"/>
            <a:ext cx="3810000" cy="254000"/>
          </a:xfrm>
          <a:prstGeom prst="rect">
            <a:avLst/>
          </a:prstGeom>
          <a:noFill/>
          <a:ln/>
        </p:spPr>
        <p:txBody>
          <a:bodyPr wrap="none" lIns="0" tIns="0" rIns="0" bIns="0" rtlCol="0" anchor="ctr"/>
          <a:lstStyle/>
          <a:p>
            <a:pPr>
              <a:lnSpc>
                <a:spcPct val="120000"/>
              </a:lnSpc>
            </a:pPr>
            <a:r>
              <a:rPr lang="en-US" sz="1300" spc="100" kern="0" dirty="0">
                <a:solidFill>
                  <a:srgbClr val="1B4332"/>
                </a:solidFill>
                <a:latin typeface="QuattrocentoSans" pitchFamily="34" charset="0"/>
                <a:ea typeface="QuattrocentoSans" pitchFamily="34" charset="-122"/>
                <a:cs typeface="QuattrocentoSans" pitchFamily="34" charset="-120"/>
              </a:rPr>
              <a:t>CHECKLIST DE REQUERIMIENTOS</a:t>
            </a:r>
            <a:endParaRPr lang="en-US" sz="1300" dirty="0"/>
          </a:p>
        </p:txBody>
      </p:sp>
      <p:sp>
        <p:nvSpPr>
          <p:cNvPr id="13" name="Shape 10"/>
          <p:cNvSpPr/>
          <p:nvPr/>
        </p:nvSpPr>
        <p:spPr>
          <a:xfrm>
            <a:off x="762000" y="1778000"/>
            <a:ext cx="3048000" cy="1143000"/>
          </a:xfrm>
          <a:prstGeom prst="rect">
            <a:avLst/>
          </a:prstGeom>
          <a:solidFill>
            <a:srgbClr val="1B4332"/>
          </a:solidFill>
          <a:ln/>
        </p:spPr>
      </p:sp>
      <p:sp>
        <p:nvSpPr>
          <p:cNvPr id="14" name="Text 11"/>
          <p:cNvSpPr/>
          <p:nvPr/>
        </p:nvSpPr>
        <p:spPr>
          <a:xfrm>
            <a:off x="762000" y="1816100"/>
            <a:ext cx="3048000" cy="609600"/>
          </a:xfrm>
          <a:prstGeom prst="rect">
            <a:avLst/>
          </a:prstGeom>
          <a:noFill/>
          <a:ln/>
        </p:spPr>
        <p:txBody>
          <a:bodyPr wrap="none" lIns="0" tIns="0" rIns="0" bIns="0" rtlCol="0" anchor="ctr"/>
          <a:lstStyle/>
          <a:p>
            <a:pPr algn="ctr">
              <a:lnSpc>
                <a:spcPct val="100000"/>
              </a:lnSpc>
            </a:pPr>
            <a:r>
              <a:rPr lang="en-US" sz="4000" b="1" dirty="0">
                <a:solidFill>
                  <a:srgbClr val="C9A227"/>
                </a:solidFill>
                <a:latin typeface="Quattrocento Sans" pitchFamily="34" charset="0"/>
                <a:ea typeface="Quattrocento Sans" pitchFamily="34" charset="-122"/>
                <a:cs typeface="Quattrocento Sans" pitchFamily="34" charset="-120"/>
              </a:rPr>
              <a:t>7</a:t>
            </a:r>
            <a:endParaRPr lang="en-US" sz="1600" dirty="0"/>
          </a:p>
        </p:txBody>
      </p:sp>
      <p:sp>
        <p:nvSpPr>
          <p:cNvPr id="15" name="Text 12"/>
          <p:cNvSpPr/>
          <p:nvPr/>
        </p:nvSpPr>
        <p:spPr>
          <a:xfrm>
            <a:off x="762000" y="2451100"/>
            <a:ext cx="3048000" cy="381000"/>
          </a:xfrm>
          <a:prstGeom prst="rect">
            <a:avLst/>
          </a:prstGeom>
          <a:noFill/>
          <a:ln/>
        </p:spPr>
        <p:txBody>
          <a:bodyPr wrap="none" lIns="0" tIns="0" rIns="0" bIns="0" rtlCol="0" anchor="ctr"/>
          <a:lstStyle/>
          <a:p>
            <a:pPr algn="ctr">
              <a:lnSpc>
                <a:spcPct val="100000"/>
              </a:lnSpc>
            </a:pPr>
            <a:r>
              <a:rPr lang="en-US" sz="1400" dirty="0">
                <a:solidFill>
                  <a:srgbClr val="FFFFFF"/>
                </a:solidFill>
                <a:latin typeface="Quattrocento Sans" pitchFamily="34" charset="0"/>
                <a:ea typeface="Quattrocento Sans" pitchFamily="34" charset="-122"/>
                <a:cs typeface="Quattrocento Sans" pitchFamily="34" charset="-120"/>
              </a:rPr>
              <a:t>Cumplidos</a:t>
            </a:r>
            <a:endParaRPr lang="en-US" sz="1600" dirty="0"/>
          </a:p>
        </p:txBody>
      </p:sp>
      <p:sp>
        <p:nvSpPr>
          <p:cNvPr id="16" name="Shape 13"/>
          <p:cNvSpPr/>
          <p:nvPr/>
        </p:nvSpPr>
        <p:spPr>
          <a:xfrm>
            <a:off x="4064000" y="1778000"/>
            <a:ext cx="3048000" cy="1143000"/>
          </a:xfrm>
          <a:prstGeom prst="rect">
            <a:avLst/>
          </a:prstGeom>
          <a:solidFill>
            <a:srgbClr val="2D6A4F"/>
          </a:solidFill>
          <a:ln/>
        </p:spPr>
      </p:sp>
      <p:sp>
        <p:nvSpPr>
          <p:cNvPr id="17" name="Text 14"/>
          <p:cNvSpPr/>
          <p:nvPr/>
        </p:nvSpPr>
        <p:spPr>
          <a:xfrm>
            <a:off x="4064000" y="1816100"/>
            <a:ext cx="3048000" cy="609600"/>
          </a:xfrm>
          <a:prstGeom prst="rect">
            <a:avLst/>
          </a:prstGeom>
          <a:noFill/>
          <a:ln/>
        </p:spPr>
        <p:txBody>
          <a:bodyPr wrap="none" lIns="0" tIns="0" rIns="0" bIns="0" rtlCol="0" anchor="ctr"/>
          <a:lstStyle/>
          <a:p>
            <a:pPr algn="ctr">
              <a:lnSpc>
                <a:spcPct val="100000"/>
              </a:lnSpc>
            </a:pPr>
            <a:r>
              <a:rPr lang="en-US" sz="4000" b="1" dirty="0">
                <a:solidFill>
                  <a:srgbClr val="C9A227"/>
                </a:solidFill>
                <a:latin typeface="Quattrocento Sans" pitchFamily="34" charset="0"/>
                <a:ea typeface="Quattrocento Sans" pitchFamily="34" charset="-122"/>
                <a:cs typeface="Quattrocento Sans" pitchFamily="34" charset="-120"/>
              </a:rPr>
              <a:t>13</a:t>
            </a:r>
            <a:endParaRPr lang="en-US" sz="1600" dirty="0"/>
          </a:p>
        </p:txBody>
      </p:sp>
      <p:sp>
        <p:nvSpPr>
          <p:cNvPr id="18" name="Text 15"/>
          <p:cNvSpPr/>
          <p:nvPr/>
        </p:nvSpPr>
        <p:spPr>
          <a:xfrm>
            <a:off x="4064000" y="2451100"/>
            <a:ext cx="3048000" cy="381000"/>
          </a:xfrm>
          <a:prstGeom prst="rect">
            <a:avLst/>
          </a:prstGeom>
          <a:noFill/>
          <a:ln/>
        </p:spPr>
        <p:txBody>
          <a:bodyPr wrap="none" lIns="0" tIns="0" rIns="0" bIns="0" rtlCol="0" anchor="ctr"/>
          <a:lstStyle/>
          <a:p>
            <a:pPr algn="ctr">
              <a:lnSpc>
                <a:spcPct val="100000"/>
              </a:lnSpc>
            </a:pPr>
            <a:r>
              <a:rPr lang="en-US" sz="1400" dirty="0">
                <a:solidFill>
                  <a:srgbClr val="FFFFFF"/>
                </a:solidFill>
                <a:latin typeface="Quattrocento Sans" pitchFamily="34" charset="0"/>
                <a:ea typeface="Quattrocento Sans" pitchFamily="34" charset="-122"/>
                <a:cs typeface="Quattrocento Sans" pitchFamily="34" charset="-120"/>
              </a:rPr>
              <a:t>Cumplidos parcialmente</a:t>
            </a:r>
            <a:endParaRPr lang="en-US" sz="1600" dirty="0"/>
          </a:p>
        </p:txBody>
      </p:sp>
      <p:sp>
        <p:nvSpPr>
          <p:cNvPr id="19" name="Shape 16"/>
          <p:cNvSpPr/>
          <p:nvPr/>
        </p:nvSpPr>
        <p:spPr>
          <a:xfrm>
            <a:off x="7366000" y="1778000"/>
            <a:ext cx="3048000" cy="1143000"/>
          </a:xfrm>
          <a:prstGeom prst="rect">
            <a:avLst/>
          </a:prstGeom>
          <a:solidFill>
            <a:srgbClr val="52796F"/>
          </a:solidFill>
          <a:ln/>
        </p:spPr>
      </p:sp>
      <p:sp>
        <p:nvSpPr>
          <p:cNvPr id="20" name="Text 17"/>
          <p:cNvSpPr/>
          <p:nvPr/>
        </p:nvSpPr>
        <p:spPr>
          <a:xfrm>
            <a:off x="7366000" y="1816100"/>
            <a:ext cx="3048000" cy="609600"/>
          </a:xfrm>
          <a:prstGeom prst="rect">
            <a:avLst/>
          </a:prstGeom>
          <a:noFill/>
          <a:ln/>
        </p:spPr>
        <p:txBody>
          <a:bodyPr wrap="none" lIns="0" tIns="0" rIns="0" bIns="0" rtlCol="0" anchor="ctr"/>
          <a:lstStyle/>
          <a:p>
            <a:pPr algn="ctr">
              <a:lnSpc>
                <a:spcPct val="100000"/>
              </a:lnSpc>
            </a:pPr>
            <a:r>
              <a:rPr lang="en-US" sz="4000" b="1" dirty="0">
                <a:solidFill>
                  <a:srgbClr val="C9A227"/>
                </a:solidFill>
                <a:latin typeface="Quattrocento Sans" pitchFamily="34" charset="0"/>
                <a:ea typeface="Quattrocento Sans" pitchFamily="34" charset="-122"/>
                <a:cs typeface="Quattrocento Sans" pitchFamily="34" charset="-120"/>
              </a:rPr>
              <a:t>4</a:t>
            </a:r>
            <a:endParaRPr lang="en-US" sz="1600" dirty="0"/>
          </a:p>
        </p:txBody>
      </p:sp>
      <p:sp>
        <p:nvSpPr>
          <p:cNvPr id="21" name="Text 18"/>
          <p:cNvSpPr/>
          <p:nvPr/>
        </p:nvSpPr>
        <p:spPr>
          <a:xfrm>
            <a:off x="7366000" y="2451100"/>
            <a:ext cx="3048000" cy="381000"/>
          </a:xfrm>
          <a:prstGeom prst="rect">
            <a:avLst/>
          </a:prstGeom>
          <a:noFill/>
          <a:ln/>
        </p:spPr>
        <p:txBody>
          <a:bodyPr wrap="none" lIns="0" tIns="0" rIns="0" bIns="0" rtlCol="0" anchor="ctr"/>
          <a:lstStyle/>
          <a:p>
            <a:pPr algn="ctr">
              <a:lnSpc>
                <a:spcPct val="100000"/>
              </a:lnSpc>
            </a:pPr>
            <a:r>
              <a:rPr lang="en-US" sz="1400" dirty="0">
                <a:solidFill>
                  <a:srgbClr val="FFFFFF"/>
                </a:solidFill>
                <a:latin typeface="Quattrocento Sans" pitchFamily="34" charset="0"/>
                <a:ea typeface="Quattrocento Sans" pitchFamily="34" charset="-122"/>
                <a:cs typeface="Quattrocento Sans" pitchFamily="34" charset="-120"/>
              </a:rPr>
              <a:t>No evidenciados</a:t>
            </a:r>
            <a:endParaRPr lang="en-US" sz="1600" dirty="0"/>
          </a:p>
        </p:txBody>
      </p:sp>
      <p:sp>
        <p:nvSpPr>
          <p:cNvPr id="22" name="Shape 19"/>
          <p:cNvSpPr/>
          <p:nvPr/>
        </p:nvSpPr>
        <p:spPr>
          <a:xfrm>
            <a:off x="762000" y="3175000"/>
            <a:ext cx="4826000" cy="3937000"/>
          </a:xfrm>
          <a:prstGeom prst="rect">
            <a:avLst/>
          </a:prstGeom>
          <a:solidFill>
            <a:srgbClr val="E8E0D4"/>
          </a:solidFill>
          <a:ln/>
        </p:spPr>
      </p:sp>
      <p:sp>
        <p:nvSpPr>
          <p:cNvPr id="23" name="Shape 20"/>
          <p:cNvSpPr/>
          <p:nvPr/>
        </p:nvSpPr>
        <p:spPr>
          <a:xfrm>
            <a:off x="762000" y="3175000"/>
            <a:ext cx="4826000" cy="63500"/>
          </a:xfrm>
          <a:prstGeom prst="rect">
            <a:avLst/>
          </a:prstGeom>
          <a:solidFill>
            <a:srgbClr val="C9A227"/>
          </a:solidFill>
          <a:ln/>
        </p:spPr>
      </p:sp>
      <p:sp>
        <p:nvSpPr>
          <p:cNvPr id="24" name="Shape 21"/>
          <p:cNvSpPr/>
          <p:nvPr/>
        </p:nvSpPr>
        <p:spPr>
          <a:xfrm>
            <a:off x="1016000" y="3429000"/>
            <a:ext cx="355600" cy="355600"/>
          </a:xfrm>
          <a:custGeom>
            <a:avLst/>
            <a:gdLst/>
            <a:ahLst/>
            <a:cxnLst/>
            <a:rect l="l" t="t" r="r" b="b"/>
            <a:pathLst>
              <a:path w="355600" h="355600">
                <a:moveTo>
                  <a:pt x="100221" y="0"/>
                </a:moveTo>
                <a:lnTo>
                  <a:pt x="255796" y="0"/>
                </a:lnTo>
                <a:cubicBezTo>
                  <a:pt x="274201" y="0"/>
                  <a:pt x="289203" y="15141"/>
                  <a:pt x="288508" y="33476"/>
                </a:cubicBezTo>
                <a:cubicBezTo>
                  <a:pt x="288369" y="37157"/>
                  <a:pt x="288230" y="40838"/>
                  <a:pt x="288022" y="44450"/>
                </a:cubicBezTo>
                <a:lnTo>
                  <a:pt x="322471" y="44450"/>
                </a:lnTo>
                <a:cubicBezTo>
                  <a:pt x="340598" y="44450"/>
                  <a:pt x="356572" y="59452"/>
                  <a:pt x="355183" y="79038"/>
                </a:cubicBezTo>
                <a:cubicBezTo>
                  <a:pt x="349974" y="151061"/>
                  <a:pt x="313164" y="190649"/>
                  <a:pt x="273229" y="211346"/>
                </a:cubicBezTo>
                <a:cubicBezTo>
                  <a:pt x="262255" y="217041"/>
                  <a:pt x="251073" y="221278"/>
                  <a:pt x="240447" y="224403"/>
                </a:cubicBezTo>
                <a:cubicBezTo>
                  <a:pt x="226417" y="244267"/>
                  <a:pt x="211832" y="254754"/>
                  <a:pt x="200233" y="260380"/>
                </a:cubicBezTo>
                <a:lnTo>
                  <a:pt x="200233" y="311150"/>
                </a:lnTo>
                <a:lnTo>
                  <a:pt x="244683" y="311150"/>
                </a:lnTo>
                <a:cubicBezTo>
                  <a:pt x="256977" y="311150"/>
                  <a:pt x="266908" y="321082"/>
                  <a:pt x="266908" y="333375"/>
                </a:cubicBezTo>
                <a:cubicBezTo>
                  <a:pt x="266908" y="345668"/>
                  <a:pt x="256977" y="355600"/>
                  <a:pt x="244683" y="355600"/>
                </a:cubicBezTo>
                <a:lnTo>
                  <a:pt x="111333" y="355600"/>
                </a:lnTo>
                <a:cubicBezTo>
                  <a:pt x="99040" y="355600"/>
                  <a:pt x="89108" y="345668"/>
                  <a:pt x="89108" y="333375"/>
                </a:cubicBezTo>
                <a:cubicBezTo>
                  <a:pt x="89108" y="321082"/>
                  <a:pt x="99040" y="311150"/>
                  <a:pt x="111333" y="311150"/>
                </a:cubicBezTo>
                <a:lnTo>
                  <a:pt x="155783" y="311150"/>
                </a:lnTo>
                <a:lnTo>
                  <a:pt x="155783" y="260380"/>
                </a:lnTo>
                <a:cubicBezTo>
                  <a:pt x="144671" y="255032"/>
                  <a:pt x="130850" y="245100"/>
                  <a:pt x="117376" y="226834"/>
                </a:cubicBezTo>
                <a:cubicBezTo>
                  <a:pt x="104596" y="223500"/>
                  <a:pt x="90706" y="218430"/>
                  <a:pt x="77162" y="210790"/>
                </a:cubicBezTo>
                <a:cubicBezTo>
                  <a:pt x="39588" y="189746"/>
                  <a:pt x="5695" y="150088"/>
                  <a:pt x="833" y="78899"/>
                </a:cubicBezTo>
                <a:cubicBezTo>
                  <a:pt x="-486" y="59382"/>
                  <a:pt x="15419" y="44381"/>
                  <a:pt x="33546" y="44381"/>
                </a:cubicBezTo>
                <a:lnTo>
                  <a:pt x="67995" y="44381"/>
                </a:lnTo>
                <a:cubicBezTo>
                  <a:pt x="67786" y="40769"/>
                  <a:pt x="67647" y="37157"/>
                  <a:pt x="67508" y="33407"/>
                </a:cubicBezTo>
                <a:cubicBezTo>
                  <a:pt x="66814" y="15002"/>
                  <a:pt x="81816" y="-69"/>
                  <a:pt x="100221" y="-69"/>
                </a:cubicBezTo>
                <a:close/>
                <a:moveTo>
                  <a:pt x="70495" y="77788"/>
                </a:moveTo>
                <a:lnTo>
                  <a:pt x="34101" y="77788"/>
                </a:lnTo>
                <a:cubicBezTo>
                  <a:pt x="38408" y="136614"/>
                  <a:pt x="65425" y="166062"/>
                  <a:pt x="93276" y="181689"/>
                </a:cubicBezTo>
                <a:cubicBezTo>
                  <a:pt x="83274" y="155783"/>
                  <a:pt x="75009" y="121960"/>
                  <a:pt x="70495" y="77788"/>
                </a:cubicBezTo>
                <a:close/>
                <a:moveTo>
                  <a:pt x="263922" y="178356"/>
                </a:moveTo>
                <a:cubicBezTo>
                  <a:pt x="292050" y="161826"/>
                  <a:pt x="317470" y="132447"/>
                  <a:pt x="321776" y="77788"/>
                </a:cubicBezTo>
                <a:lnTo>
                  <a:pt x="285452" y="77788"/>
                </a:lnTo>
                <a:cubicBezTo>
                  <a:pt x="281146" y="120084"/>
                  <a:pt x="273368" y="152936"/>
                  <a:pt x="263922" y="178356"/>
                </a:cubicBezTo>
                <a:close/>
              </a:path>
            </a:pathLst>
          </a:custGeom>
          <a:solidFill>
            <a:srgbClr val="C9A227"/>
          </a:solidFill>
          <a:ln/>
        </p:spPr>
      </p:sp>
      <p:sp>
        <p:nvSpPr>
          <p:cNvPr id="25" name="Text 22"/>
          <p:cNvSpPr/>
          <p:nvPr/>
        </p:nvSpPr>
        <p:spPr>
          <a:xfrm>
            <a:off x="1473200" y="3403600"/>
            <a:ext cx="3810000" cy="406400"/>
          </a:xfrm>
          <a:prstGeom prst="rect">
            <a:avLst/>
          </a:prstGeom>
          <a:noFill/>
          <a:ln/>
        </p:spPr>
        <p:txBody>
          <a:bodyPr wrap="none" lIns="0" tIns="0" rIns="0" bIns="0" rtlCol="0" anchor="ctr"/>
          <a:lstStyle/>
          <a:p>
            <a:pPr>
              <a:lnSpc>
                <a:spcPct val="100000"/>
              </a:lnSpc>
            </a:pPr>
            <a:r>
              <a:rPr lang="en-US" sz="1800" b="1" dirty="0">
                <a:solidFill>
                  <a:srgbClr val="1B4332"/>
                </a:solidFill>
                <a:latin typeface="Quattrocento Sans" pitchFamily="34" charset="0"/>
                <a:ea typeface="Quattrocento Sans" pitchFamily="34" charset="-122"/>
                <a:cs typeface="Quattrocento Sans" pitchFamily="34" charset="-120"/>
              </a:rPr>
              <a:t>Propuesta de valor</a:t>
            </a:r>
            <a:endParaRPr lang="en-US" sz="1600" dirty="0"/>
          </a:p>
        </p:txBody>
      </p:sp>
      <p:sp>
        <p:nvSpPr>
          <p:cNvPr id="26" name="Text 23"/>
          <p:cNvSpPr/>
          <p:nvPr/>
        </p:nvSpPr>
        <p:spPr>
          <a:xfrm>
            <a:off x="1016000" y="3937000"/>
            <a:ext cx="4318000" cy="2984500"/>
          </a:xfrm>
          <a:prstGeom prst="rect">
            <a:avLst/>
          </a:prstGeom>
          <a:noFill/>
          <a:ln/>
        </p:spPr>
        <p:txBody>
          <a:bodyPr wrap="square" lIns="0" tIns="0" rIns="0" bIns="0" rtlCol="0" anchor="t"/>
          <a:lstStyle/>
          <a:p>
            <a:pPr>
              <a:lnSpc>
                <a:spcPct val="160000"/>
              </a:lnSpc>
            </a:pPr>
            <a:r>
              <a:rPr lang="en-US" sz="1500" dirty="0">
                <a:solidFill>
                  <a:srgbClr val="C9A227"/>
                </a:solidFill>
                <a:latin typeface="Quattrocento Sans" pitchFamily="34" charset="0"/>
                <a:ea typeface="Quattrocento Sans" pitchFamily="34" charset="-122"/>
                <a:cs typeface="Quattrocento Sans" pitchFamily="34" charset="-120"/>
              </a:rPr>
              <a:t>●</a:t>
            </a:r>
            <a:pPr>
              <a:lnSpc>
                <a:spcPct val="160000"/>
              </a:lnSpc>
            </a:pPr>
            <a:r>
              <a:rPr lang="en-US" sz="1500" dirty="0">
                <a:solidFill>
                  <a:srgbClr val="2D3436"/>
                </a:solidFill>
                <a:latin typeface="Quattrocento Sans" pitchFamily="34" charset="0"/>
                <a:ea typeface="Quattrocento Sans" pitchFamily="34" charset="-122"/>
                <a:cs typeface="Quattrocento Sans" pitchFamily="34" charset="-120"/>
              </a:rPr>
              <a:t> </a:t>
            </a:r>
            <a:pPr>
              <a:lnSpc>
                <a:spcPct val="160000"/>
              </a:lnSpc>
            </a:pPr>
            <a:r>
              <a:rPr lang="en-US" sz="1500" b="1" dirty="0">
                <a:solidFill>
                  <a:srgbClr val="2D3436"/>
                </a:solidFill>
                <a:latin typeface="Quattrocento Sans" pitchFamily="34" charset="0"/>
                <a:ea typeface="Quattrocento Sans" pitchFamily="34" charset="-122"/>
                <a:cs typeface="Quattrocento Sans" pitchFamily="34" charset="-120"/>
              </a:rPr>
              <a:t>Lectura territorial</a:t>
            </a:r>
            <a:pPr>
              <a:lnSpc>
                <a:spcPct val="160000"/>
              </a:lnSpc>
            </a:pPr>
            <a:r>
              <a:rPr lang="en-US" sz="1500" dirty="0">
                <a:solidFill>
                  <a:srgbClr val="2D3436"/>
                </a:solidFill>
                <a:latin typeface="Quattrocento Sans" pitchFamily="34" charset="0"/>
                <a:ea typeface="Quattrocento Sans" pitchFamily="34" charset="-122"/>
                <a:cs typeface="Quattrocento Sans" pitchFamily="34" charset="-120"/>
              </a:rPr>
              <a:t> integrada</a:t>
            </a:r>
            <a:endParaRPr lang="en-US" sz="1600" dirty="0"/>
          </a:p>
          <a:p>
            <a:pPr>
              <a:lnSpc>
                <a:spcPct val="160000"/>
              </a:lnSpc>
              <a:spcBef>
                <a:spcPts val="800"/>
              </a:spcBef>
            </a:pPr>
            <a:r>
              <a:rPr lang="en-US" sz="1500" dirty="0">
                <a:solidFill>
                  <a:srgbClr val="C9A227"/>
                </a:solidFill>
                <a:latin typeface="Quattrocento Sans" pitchFamily="34" charset="0"/>
                <a:ea typeface="Quattrocento Sans" pitchFamily="34" charset="-122"/>
                <a:cs typeface="Quattrocento Sans" pitchFamily="34" charset="-120"/>
              </a:rPr>
              <a:t>●</a:t>
            </a:r>
            <a:pPr>
              <a:lnSpc>
                <a:spcPct val="160000"/>
              </a:lnSpc>
              <a:spcBef>
                <a:spcPts val="800"/>
              </a:spcBef>
            </a:pPr>
            <a:r>
              <a:rPr lang="en-US" sz="1500" dirty="0">
                <a:solidFill>
                  <a:srgbClr val="2D3436"/>
                </a:solidFill>
                <a:latin typeface="Quattrocento Sans" pitchFamily="34" charset="0"/>
                <a:ea typeface="Quattrocento Sans" pitchFamily="34" charset="-122"/>
                <a:cs typeface="Quattrocento Sans" pitchFamily="34" charset="-120"/>
              </a:rPr>
              <a:t> </a:t>
            </a:r>
            <a:pPr>
              <a:lnSpc>
                <a:spcPct val="160000"/>
              </a:lnSpc>
              <a:spcBef>
                <a:spcPts val="800"/>
              </a:spcBef>
            </a:pPr>
            <a:r>
              <a:rPr lang="en-US" sz="1500" b="1" dirty="0">
                <a:solidFill>
                  <a:srgbClr val="2D3436"/>
                </a:solidFill>
                <a:latin typeface="Quattrocento Sans" pitchFamily="34" charset="0"/>
                <a:ea typeface="Quattrocento Sans" pitchFamily="34" charset="-122"/>
                <a:cs typeface="Quattrocento Sans" pitchFamily="34" charset="-120"/>
              </a:rPr>
              <a:t>Modelo trazable</a:t>
            </a:r>
            <a:pPr>
              <a:lnSpc>
                <a:spcPct val="160000"/>
              </a:lnSpc>
              <a:spcBef>
                <a:spcPts val="800"/>
              </a:spcBef>
            </a:pPr>
            <a:r>
              <a:rPr lang="en-US" sz="1500" dirty="0">
                <a:solidFill>
                  <a:srgbClr val="2D3436"/>
                </a:solidFill>
                <a:latin typeface="Quattrocento Sans" pitchFamily="34" charset="0"/>
                <a:ea typeface="Quattrocento Sans" pitchFamily="34" charset="-122"/>
                <a:cs typeface="Quattrocento Sans" pitchFamily="34" charset="-120"/>
              </a:rPr>
              <a:t> con documentación</a:t>
            </a:r>
            <a:endParaRPr lang="en-US" sz="1600" dirty="0"/>
          </a:p>
          <a:p>
            <a:pPr>
              <a:lnSpc>
                <a:spcPct val="160000"/>
              </a:lnSpc>
              <a:spcBef>
                <a:spcPts val="800"/>
              </a:spcBef>
            </a:pPr>
            <a:r>
              <a:rPr lang="en-US" sz="1500" dirty="0">
                <a:solidFill>
                  <a:srgbClr val="C9A227"/>
                </a:solidFill>
                <a:latin typeface="Quattrocento Sans" pitchFamily="34" charset="0"/>
                <a:ea typeface="Quattrocento Sans" pitchFamily="34" charset="-122"/>
                <a:cs typeface="Quattrocento Sans" pitchFamily="34" charset="-120"/>
              </a:rPr>
              <a:t>●</a:t>
            </a:r>
            <a:pPr>
              <a:lnSpc>
                <a:spcPct val="160000"/>
              </a:lnSpc>
              <a:spcBef>
                <a:spcPts val="800"/>
              </a:spcBef>
            </a:pPr>
            <a:r>
              <a:rPr lang="en-US" sz="1500" dirty="0">
                <a:solidFill>
                  <a:srgbClr val="2D3436"/>
                </a:solidFill>
                <a:latin typeface="Quattrocento Sans" pitchFamily="34" charset="0"/>
                <a:ea typeface="Quattrocento Sans" pitchFamily="34" charset="-122"/>
                <a:cs typeface="Quattrocento Sans" pitchFamily="34" charset="-120"/>
              </a:rPr>
              <a:t> </a:t>
            </a:r>
            <a:pPr>
              <a:lnSpc>
                <a:spcPct val="160000"/>
              </a:lnSpc>
              <a:spcBef>
                <a:spcPts val="800"/>
              </a:spcBef>
            </a:pPr>
            <a:r>
              <a:rPr lang="en-US" sz="1500" b="1" dirty="0">
                <a:solidFill>
                  <a:srgbClr val="2D3436"/>
                </a:solidFill>
                <a:latin typeface="Quattrocento Sans" pitchFamily="34" charset="0"/>
                <a:ea typeface="Quattrocento Sans" pitchFamily="34" charset="-122"/>
                <a:cs typeface="Quattrocento Sans" pitchFamily="34" charset="-120"/>
              </a:rPr>
              <a:t>Simulación inmediata</a:t>
            </a:r>
            <a:pPr>
              <a:lnSpc>
                <a:spcPct val="160000"/>
              </a:lnSpc>
              <a:spcBef>
                <a:spcPts val="800"/>
              </a:spcBef>
            </a:pPr>
            <a:r>
              <a:rPr lang="en-US" sz="1500" dirty="0">
                <a:solidFill>
                  <a:srgbClr val="2D3436"/>
                </a:solidFill>
                <a:latin typeface="Quattrocento Sans" pitchFamily="34" charset="0"/>
                <a:ea typeface="Quattrocento Sans" pitchFamily="34" charset="-122"/>
                <a:cs typeface="Quattrocento Sans" pitchFamily="34" charset="-120"/>
              </a:rPr>
              <a:t> de escenarios</a:t>
            </a:r>
            <a:endParaRPr lang="en-US" sz="1600" dirty="0"/>
          </a:p>
          <a:p>
            <a:pPr>
              <a:lnSpc>
                <a:spcPct val="160000"/>
              </a:lnSpc>
              <a:spcBef>
                <a:spcPts val="800"/>
              </a:spcBef>
            </a:pPr>
            <a:r>
              <a:rPr lang="en-US" sz="1500" dirty="0">
                <a:solidFill>
                  <a:srgbClr val="C9A227"/>
                </a:solidFill>
                <a:latin typeface="Quattrocento Sans" pitchFamily="34" charset="0"/>
                <a:ea typeface="Quattrocento Sans" pitchFamily="34" charset="-122"/>
                <a:cs typeface="Quattrocento Sans" pitchFamily="34" charset="-120"/>
              </a:rPr>
              <a:t>●</a:t>
            </a:r>
            <a:pPr>
              <a:lnSpc>
                <a:spcPct val="160000"/>
              </a:lnSpc>
              <a:spcBef>
                <a:spcPts val="800"/>
              </a:spcBef>
            </a:pPr>
            <a:r>
              <a:rPr lang="en-US" sz="1500" dirty="0">
                <a:solidFill>
                  <a:srgbClr val="2D3436"/>
                </a:solidFill>
                <a:latin typeface="Quattrocento Sans" pitchFamily="34" charset="0"/>
                <a:ea typeface="Quattrocento Sans" pitchFamily="34" charset="-122"/>
                <a:cs typeface="Quattrocento Sans" pitchFamily="34" charset="-120"/>
              </a:rPr>
              <a:t> </a:t>
            </a:r>
            <a:pPr>
              <a:lnSpc>
                <a:spcPct val="160000"/>
              </a:lnSpc>
              <a:spcBef>
                <a:spcPts val="800"/>
              </a:spcBef>
            </a:pPr>
            <a:r>
              <a:rPr lang="en-US" sz="1500" b="1" dirty="0">
                <a:solidFill>
                  <a:srgbClr val="2D3436"/>
                </a:solidFill>
                <a:latin typeface="Quattrocento Sans" pitchFamily="34" charset="0"/>
                <a:ea typeface="Quattrocento Sans" pitchFamily="34" charset="-122"/>
                <a:cs typeface="Quattrocento Sans" pitchFamily="34" charset="-120"/>
              </a:rPr>
              <a:t>Impacto económico proxy</a:t>
            </a:r>
            <a:pPr>
              <a:lnSpc>
                <a:spcPct val="160000"/>
              </a:lnSpc>
              <a:spcBef>
                <a:spcPts val="800"/>
              </a:spcBef>
            </a:pPr>
            <a:r>
              <a:rPr lang="en-US" sz="1500" dirty="0">
                <a:solidFill>
                  <a:srgbClr val="2D3436"/>
                </a:solidFill>
                <a:latin typeface="Quattrocento Sans" pitchFamily="34" charset="0"/>
                <a:ea typeface="Quattrocento Sans" pitchFamily="34" charset="-122"/>
                <a:cs typeface="Quattrocento Sans" pitchFamily="34" charset="-120"/>
              </a:rPr>
              <a:t> explicado</a:t>
            </a:r>
            <a:endParaRPr lang="en-US" sz="1600" dirty="0"/>
          </a:p>
          <a:p>
            <a:pPr>
              <a:lnSpc>
                <a:spcPct val="160000"/>
              </a:lnSpc>
              <a:spcBef>
                <a:spcPts val="800"/>
              </a:spcBef>
            </a:pPr>
            <a:r>
              <a:rPr lang="en-US" sz="1500" dirty="0">
                <a:solidFill>
                  <a:srgbClr val="C9A227"/>
                </a:solidFill>
                <a:latin typeface="Quattrocento Sans" pitchFamily="34" charset="0"/>
                <a:ea typeface="Quattrocento Sans" pitchFamily="34" charset="-122"/>
                <a:cs typeface="Quattrocento Sans" pitchFamily="34" charset="-120"/>
              </a:rPr>
              <a:t>●</a:t>
            </a:r>
            <a:pPr>
              <a:lnSpc>
                <a:spcPct val="160000"/>
              </a:lnSpc>
              <a:spcBef>
                <a:spcPts val="800"/>
              </a:spcBef>
            </a:pPr>
            <a:r>
              <a:rPr lang="en-US" sz="1500" dirty="0">
                <a:solidFill>
                  <a:srgbClr val="2D3436"/>
                </a:solidFill>
                <a:latin typeface="Quattrocento Sans" pitchFamily="34" charset="0"/>
                <a:ea typeface="Quattrocento Sans" pitchFamily="34" charset="-122"/>
                <a:cs typeface="Quattrocento Sans" pitchFamily="34" charset="-120"/>
              </a:rPr>
              <a:t> </a:t>
            </a:r>
            <a:pPr>
              <a:lnSpc>
                <a:spcPct val="160000"/>
              </a:lnSpc>
              <a:spcBef>
                <a:spcPts val="800"/>
              </a:spcBef>
            </a:pPr>
            <a:r>
              <a:rPr lang="en-US" sz="1500" b="1" dirty="0">
                <a:solidFill>
                  <a:srgbClr val="2D3436"/>
                </a:solidFill>
                <a:latin typeface="Quattrocento Sans" pitchFamily="34" charset="0"/>
                <a:ea typeface="Quattrocento Sans" pitchFamily="34" charset="-122"/>
                <a:cs typeface="Quattrocento Sans" pitchFamily="34" charset="-120"/>
              </a:rPr>
              <a:t>Documentación y despliegue</a:t>
            </a:r>
            <a:pPr>
              <a:lnSpc>
                <a:spcPct val="160000"/>
              </a:lnSpc>
              <a:spcBef>
                <a:spcPts val="800"/>
              </a:spcBef>
            </a:pPr>
            <a:r>
              <a:rPr lang="en-US" sz="1500" dirty="0">
                <a:solidFill>
                  <a:srgbClr val="2D3436"/>
                </a:solidFill>
                <a:latin typeface="Quattrocento Sans" pitchFamily="34" charset="0"/>
                <a:ea typeface="Quattrocento Sans" pitchFamily="34" charset="-122"/>
                <a:cs typeface="Quattrocento Sans" pitchFamily="34" charset="-120"/>
              </a:rPr>
              <a:t> reproducible</a:t>
            </a:r>
            <a:endParaRPr lang="en-US" sz="1600" dirty="0"/>
          </a:p>
        </p:txBody>
      </p:sp>
      <p:sp>
        <p:nvSpPr>
          <p:cNvPr id="27" name="Shape 24"/>
          <p:cNvSpPr/>
          <p:nvPr/>
        </p:nvSpPr>
        <p:spPr>
          <a:xfrm>
            <a:off x="5842000" y="3175000"/>
            <a:ext cx="4318000" cy="3937000"/>
          </a:xfrm>
          <a:prstGeom prst="rect">
            <a:avLst/>
          </a:prstGeom>
          <a:solidFill>
            <a:srgbClr val="E8E0D4"/>
          </a:solidFill>
          <a:ln/>
        </p:spPr>
      </p:sp>
      <p:sp>
        <p:nvSpPr>
          <p:cNvPr id="28" name="Shape 25"/>
          <p:cNvSpPr/>
          <p:nvPr/>
        </p:nvSpPr>
        <p:spPr>
          <a:xfrm>
            <a:off x="5842000" y="3175000"/>
            <a:ext cx="4318000" cy="63500"/>
          </a:xfrm>
          <a:prstGeom prst="rect">
            <a:avLst/>
          </a:prstGeom>
          <a:solidFill>
            <a:srgbClr val="6B7280"/>
          </a:solidFill>
          <a:ln/>
        </p:spPr>
      </p:sp>
      <p:sp>
        <p:nvSpPr>
          <p:cNvPr id="29" name="Shape 26"/>
          <p:cNvSpPr/>
          <p:nvPr/>
        </p:nvSpPr>
        <p:spPr>
          <a:xfrm>
            <a:off x="6096000" y="3429000"/>
            <a:ext cx="355600" cy="355600"/>
          </a:xfrm>
          <a:custGeom>
            <a:avLst/>
            <a:gdLst/>
            <a:ahLst/>
            <a:cxnLst/>
            <a:rect l="l" t="t" r="r" b="b"/>
            <a:pathLst>
              <a:path w="355600" h="355600">
                <a:moveTo>
                  <a:pt x="177800" y="0"/>
                </a:moveTo>
                <a:cubicBezTo>
                  <a:pt x="188010" y="0"/>
                  <a:pt x="197386" y="5626"/>
                  <a:pt x="202248" y="14585"/>
                </a:cubicBezTo>
                <a:lnTo>
                  <a:pt x="352266" y="292398"/>
                </a:lnTo>
                <a:cubicBezTo>
                  <a:pt x="356920" y="301010"/>
                  <a:pt x="356711" y="311428"/>
                  <a:pt x="351711" y="319832"/>
                </a:cubicBezTo>
                <a:cubicBezTo>
                  <a:pt x="346710" y="328235"/>
                  <a:pt x="337612" y="333375"/>
                  <a:pt x="327819" y="333375"/>
                </a:cubicBezTo>
                <a:lnTo>
                  <a:pt x="27781" y="333375"/>
                </a:lnTo>
                <a:cubicBezTo>
                  <a:pt x="17988" y="333375"/>
                  <a:pt x="8959" y="328235"/>
                  <a:pt x="3889" y="319832"/>
                </a:cubicBezTo>
                <a:cubicBezTo>
                  <a:pt x="-1181" y="311428"/>
                  <a:pt x="-1320" y="301010"/>
                  <a:pt x="3334" y="292398"/>
                </a:cubicBezTo>
                <a:lnTo>
                  <a:pt x="153353" y="14585"/>
                </a:lnTo>
                <a:cubicBezTo>
                  <a:pt x="158214" y="5626"/>
                  <a:pt x="167590" y="0"/>
                  <a:pt x="177800" y="0"/>
                </a:cubicBezTo>
                <a:close/>
                <a:moveTo>
                  <a:pt x="177800" y="116681"/>
                </a:moveTo>
                <a:cubicBezTo>
                  <a:pt x="168563" y="116681"/>
                  <a:pt x="161131" y="124113"/>
                  <a:pt x="161131" y="133350"/>
                </a:cubicBezTo>
                <a:lnTo>
                  <a:pt x="161131" y="211138"/>
                </a:lnTo>
                <a:cubicBezTo>
                  <a:pt x="161131" y="220375"/>
                  <a:pt x="168563" y="227806"/>
                  <a:pt x="177800" y="227806"/>
                </a:cubicBezTo>
                <a:cubicBezTo>
                  <a:pt x="187037" y="227806"/>
                  <a:pt x="194469" y="220375"/>
                  <a:pt x="194469" y="211138"/>
                </a:cubicBezTo>
                <a:lnTo>
                  <a:pt x="194469" y="133350"/>
                </a:lnTo>
                <a:cubicBezTo>
                  <a:pt x="194469" y="124113"/>
                  <a:pt x="187037" y="116681"/>
                  <a:pt x="177800" y="116681"/>
                </a:cubicBezTo>
                <a:close/>
                <a:moveTo>
                  <a:pt x="196344" y="266700"/>
                </a:moveTo>
                <a:cubicBezTo>
                  <a:pt x="196766" y="259817"/>
                  <a:pt x="193333" y="253268"/>
                  <a:pt x="187432" y="249699"/>
                </a:cubicBezTo>
                <a:cubicBezTo>
                  <a:pt x="181532" y="246129"/>
                  <a:pt x="174138" y="246129"/>
                  <a:pt x="168237" y="249699"/>
                </a:cubicBezTo>
                <a:cubicBezTo>
                  <a:pt x="162336" y="253268"/>
                  <a:pt x="158904" y="259817"/>
                  <a:pt x="159325" y="266700"/>
                </a:cubicBezTo>
                <a:cubicBezTo>
                  <a:pt x="158904" y="273583"/>
                  <a:pt x="162336" y="280132"/>
                  <a:pt x="168237" y="283701"/>
                </a:cubicBezTo>
                <a:cubicBezTo>
                  <a:pt x="174138" y="287271"/>
                  <a:pt x="181532" y="287271"/>
                  <a:pt x="187432" y="283701"/>
                </a:cubicBezTo>
                <a:cubicBezTo>
                  <a:pt x="193333" y="280132"/>
                  <a:pt x="196766" y="273583"/>
                  <a:pt x="196344" y="266700"/>
                </a:cubicBezTo>
                <a:close/>
              </a:path>
            </a:pathLst>
          </a:custGeom>
          <a:solidFill>
            <a:srgbClr val="6B7280"/>
          </a:solidFill>
          <a:ln/>
        </p:spPr>
      </p:sp>
      <p:sp>
        <p:nvSpPr>
          <p:cNvPr id="30" name="Text 27"/>
          <p:cNvSpPr/>
          <p:nvPr/>
        </p:nvSpPr>
        <p:spPr>
          <a:xfrm>
            <a:off x="6553200" y="3403600"/>
            <a:ext cx="3302000" cy="406400"/>
          </a:xfrm>
          <a:prstGeom prst="rect">
            <a:avLst/>
          </a:prstGeom>
          <a:noFill/>
          <a:ln/>
        </p:spPr>
        <p:txBody>
          <a:bodyPr wrap="none" lIns="0" tIns="0" rIns="0" bIns="0" rtlCol="0" anchor="ctr"/>
          <a:lstStyle/>
          <a:p>
            <a:pPr>
              <a:lnSpc>
                <a:spcPct val="100000"/>
              </a:lnSpc>
            </a:pPr>
            <a:r>
              <a:rPr lang="en-US" sz="1800" b="1" dirty="0">
                <a:solidFill>
                  <a:srgbClr val="1B4332"/>
                </a:solidFill>
                <a:latin typeface="Quattrocento Sans" pitchFamily="34" charset="0"/>
                <a:ea typeface="Quattrocento Sans" pitchFamily="34" charset="-122"/>
                <a:cs typeface="Quattrocento Sans" pitchFamily="34" charset="-120"/>
              </a:rPr>
              <a:t>Limitaciones actuales</a:t>
            </a:r>
            <a:endParaRPr lang="en-US" sz="1600" dirty="0"/>
          </a:p>
        </p:txBody>
      </p:sp>
      <p:sp>
        <p:nvSpPr>
          <p:cNvPr id="31" name="Text 28"/>
          <p:cNvSpPr/>
          <p:nvPr/>
        </p:nvSpPr>
        <p:spPr>
          <a:xfrm>
            <a:off x="6096000" y="3937000"/>
            <a:ext cx="3810000" cy="3149600"/>
          </a:xfrm>
          <a:prstGeom prst="rect">
            <a:avLst/>
          </a:prstGeom>
          <a:noFill/>
          <a:ln/>
        </p:spPr>
        <p:txBody>
          <a:bodyPr wrap="square" lIns="0" tIns="0" rIns="0" bIns="0" rtlCol="0" anchor="t"/>
          <a:lstStyle/>
          <a:p>
            <a:pPr>
              <a:lnSpc>
                <a:spcPct val="160000"/>
              </a:lnSpc>
            </a:pPr>
            <a:r>
              <a:rPr lang="en-US" sz="1500" dirty="0">
                <a:solidFill>
                  <a:srgbClr val="6B7280"/>
                </a:solidFill>
                <a:latin typeface="Quattrocento Sans" pitchFamily="34" charset="0"/>
                <a:ea typeface="Quattrocento Sans" pitchFamily="34" charset="-122"/>
                <a:cs typeface="Quattrocento Sans" pitchFamily="34" charset="-120"/>
              </a:rPr>
              <a:t>●</a:t>
            </a:r>
            <a:pPr>
              <a:lnSpc>
                <a:spcPct val="160000"/>
              </a:lnSpc>
            </a:pPr>
            <a:r>
              <a:rPr lang="en-US" sz="1500" dirty="0">
                <a:solidFill>
                  <a:srgbClr val="2D3436"/>
                </a:solidFill>
                <a:latin typeface="Quattrocento Sans" pitchFamily="34" charset="0"/>
                <a:ea typeface="Quattrocento Sans" pitchFamily="34" charset="-122"/>
                <a:cs typeface="Quattrocento Sans" pitchFamily="34" charset="-120"/>
              </a:rPr>
              <a:t> Producción proxy, no pérdida real</a:t>
            </a:r>
            <a:endParaRPr lang="en-US" sz="1600" dirty="0"/>
          </a:p>
          <a:p>
            <a:pPr>
              <a:lnSpc>
                <a:spcPct val="160000"/>
              </a:lnSpc>
              <a:spcBef>
                <a:spcPts val="800"/>
              </a:spcBef>
            </a:pPr>
            <a:r>
              <a:rPr lang="en-US" sz="1500" dirty="0">
                <a:solidFill>
                  <a:srgbClr val="6B7280"/>
                </a:solidFill>
                <a:latin typeface="Quattrocento Sans" pitchFamily="34" charset="0"/>
                <a:ea typeface="Quattrocento Sans" pitchFamily="34" charset="-122"/>
                <a:cs typeface="Quattrocento Sans" pitchFamily="34" charset="-120"/>
              </a:rPr>
              <a:t>●</a:t>
            </a:r>
            <a:pPr>
              <a:lnSpc>
                <a:spcPct val="160000"/>
              </a:lnSpc>
              <a:spcBef>
                <a:spcPts val="800"/>
              </a:spcBef>
            </a:pPr>
            <a:r>
              <a:rPr lang="en-US" sz="1500" dirty="0">
                <a:solidFill>
                  <a:srgbClr val="2D3436"/>
                </a:solidFill>
                <a:latin typeface="Quattrocento Sans" pitchFamily="34" charset="0"/>
                <a:ea typeface="Quattrocento Sans" pitchFamily="34" charset="-122"/>
                <a:cs typeface="Quattrocento Sans" pitchFamily="34" charset="-120"/>
              </a:rPr>
              <a:t> Prima indicativa, no actuarial</a:t>
            </a:r>
            <a:endParaRPr lang="en-US" sz="1600" dirty="0"/>
          </a:p>
          <a:p>
            <a:pPr>
              <a:lnSpc>
                <a:spcPct val="160000"/>
              </a:lnSpc>
              <a:spcBef>
                <a:spcPts val="800"/>
              </a:spcBef>
            </a:pPr>
            <a:r>
              <a:rPr lang="en-US" sz="1500" dirty="0">
                <a:solidFill>
                  <a:srgbClr val="6B7280"/>
                </a:solidFill>
                <a:latin typeface="Quattrocento Sans" pitchFamily="34" charset="0"/>
                <a:ea typeface="Quattrocento Sans" pitchFamily="34" charset="-122"/>
                <a:cs typeface="Quattrocento Sans" pitchFamily="34" charset="-120"/>
              </a:rPr>
              <a:t>●</a:t>
            </a:r>
            <a:pPr>
              <a:lnSpc>
                <a:spcPct val="160000"/>
              </a:lnSpc>
              <a:spcBef>
                <a:spcPts val="800"/>
              </a:spcBef>
            </a:pPr>
            <a:r>
              <a:rPr lang="en-US" sz="1500" dirty="0">
                <a:solidFill>
                  <a:srgbClr val="2D3436"/>
                </a:solidFill>
                <a:latin typeface="Quattrocento Sans" pitchFamily="34" charset="0"/>
                <a:ea typeface="Quattrocento Sans" pitchFamily="34" charset="-122"/>
                <a:cs typeface="Quattrocento Sans" pitchFamily="34" charset="-120"/>
              </a:rPr>
              <a:t> Sin validación comercial real</a:t>
            </a:r>
            <a:endParaRPr lang="en-US" sz="1600" dirty="0"/>
          </a:p>
          <a:p>
            <a:pPr>
              <a:lnSpc>
                <a:spcPct val="160000"/>
              </a:lnSpc>
              <a:spcBef>
                <a:spcPts val="800"/>
              </a:spcBef>
            </a:pPr>
            <a:r>
              <a:rPr lang="en-US" sz="1500" dirty="0">
                <a:solidFill>
                  <a:srgbClr val="6B7280"/>
                </a:solidFill>
                <a:latin typeface="Quattrocento Sans" pitchFamily="34" charset="0"/>
                <a:ea typeface="Quattrocento Sans" pitchFamily="34" charset="-122"/>
                <a:cs typeface="Quattrocento Sans" pitchFamily="34" charset="-120"/>
              </a:rPr>
              <a:t>●</a:t>
            </a:r>
            <a:pPr>
              <a:lnSpc>
                <a:spcPct val="160000"/>
              </a:lnSpc>
              <a:spcBef>
                <a:spcPts val="800"/>
              </a:spcBef>
            </a:pPr>
            <a:r>
              <a:rPr lang="en-US" sz="1500" dirty="0">
                <a:solidFill>
                  <a:srgbClr val="2D3436"/>
                </a:solidFill>
                <a:latin typeface="Quattrocento Sans" pitchFamily="34" charset="0"/>
                <a:ea typeface="Quattrocento Sans" pitchFamily="34" charset="-122"/>
                <a:cs typeface="Quattrocento Sans" pitchFamily="34" charset="-120"/>
              </a:rPr>
              <a:t> Sin cuantificación formal de reducción de riesgo</a:t>
            </a:r>
            <a:endParaRPr lang="en-US" sz="1600" dirty="0"/>
          </a:p>
          <a:p>
            <a:pPr>
              <a:lnSpc>
                <a:spcPct val="160000"/>
              </a:lnSpc>
              <a:spcBef>
                <a:spcPts val="800"/>
              </a:spcBef>
            </a:pPr>
            <a:r>
              <a:rPr lang="en-US" sz="1500" dirty="0">
                <a:solidFill>
                  <a:srgbClr val="6B7280"/>
                </a:solidFill>
                <a:latin typeface="Quattrocento Sans" pitchFamily="34" charset="0"/>
                <a:ea typeface="Quattrocento Sans" pitchFamily="34" charset="-122"/>
                <a:cs typeface="Quattrocento Sans" pitchFamily="34" charset="-120"/>
              </a:rPr>
              <a:t>●</a:t>
            </a:r>
            <a:pPr>
              <a:lnSpc>
                <a:spcPct val="160000"/>
              </a:lnSpc>
              <a:spcBef>
                <a:spcPts val="800"/>
              </a:spcBef>
            </a:pPr>
            <a:r>
              <a:rPr lang="en-US" sz="1500" dirty="0">
                <a:solidFill>
                  <a:srgbClr val="2D3436"/>
                </a:solidFill>
                <a:latin typeface="Quattrocento Sans" pitchFamily="34" charset="0"/>
                <a:ea typeface="Quattrocento Sans" pitchFamily="34" charset="-122"/>
                <a:cs typeface="Quattrocento Sans" pitchFamily="34" charset="-120"/>
              </a:rPr>
              <a:t> Sin exportación PDF/CSV directa</a:t>
            </a:r>
            <a:endParaRPr lang="en-US" sz="1600" dirty="0"/>
          </a:p>
          <a:p>
            <a:pPr>
              <a:lnSpc>
                <a:spcPct val="160000"/>
              </a:lnSpc>
              <a:spcBef>
                <a:spcPts val="800"/>
              </a:spcBef>
            </a:pPr>
            <a:r>
              <a:rPr lang="en-US" sz="1500" dirty="0">
                <a:solidFill>
                  <a:srgbClr val="6B7280"/>
                </a:solidFill>
                <a:latin typeface="Quattrocento Sans" pitchFamily="34" charset="0"/>
                <a:ea typeface="Quattrocento Sans" pitchFamily="34" charset="-122"/>
                <a:cs typeface="Quattrocento Sans" pitchFamily="34" charset="-120"/>
              </a:rPr>
              <a:t>●</a:t>
            </a:r>
            <a:pPr>
              <a:lnSpc>
                <a:spcPct val="160000"/>
              </a:lnSpc>
              <a:spcBef>
                <a:spcPts val="800"/>
              </a:spcBef>
            </a:pPr>
            <a:r>
              <a:rPr lang="en-US" sz="1500" dirty="0">
                <a:solidFill>
                  <a:srgbClr val="2D3436"/>
                </a:solidFill>
                <a:latin typeface="Quattrocento Sans" pitchFamily="34" charset="0"/>
                <a:ea typeface="Quattrocento Sans" pitchFamily="34" charset="-122"/>
                <a:cs typeface="Quattrocento Sans" pitchFamily="34" charset="-120"/>
              </a:rPr>
              <a:t> Municipio/zona para versión futura</a:t>
            </a:r>
            <a:endParaRPr lang="en-US" sz="1600" dirty="0"/>
          </a:p>
        </p:txBody>
      </p:sp>
      <p:sp>
        <p:nvSpPr>
          <p:cNvPr id="32" name="Shape 29"/>
          <p:cNvSpPr/>
          <p:nvPr/>
        </p:nvSpPr>
        <p:spPr>
          <a:xfrm>
            <a:off x="10414000" y="3175000"/>
            <a:ext cx="5080000" cy="3937000"/>
          </a:xfrm>
          <a:prstGeom prst="rect">
            <a:avLst/>
          </a:prstGeom>
          <a:solidFill>
            <a:srgbClr val="E8E0D4"/>
          </a:solidFill>
          <a:ln/>
        </p:spPr>
      </p:sp>
      <p:sp>
        <p:nvSpPr>
          <p:cNvPr id="33" name="Shape 30"/>
          <p:cNvSpPr/>
          <p:nvPr/>
        </p:nvSpPr>
        <p:spPr>
          <a:xfrm>
            <a:off x="10414000" y="3175000"/>
            <a:ext cx="5080000" cy="63500"/>
          </a:xfrm>
          <a:prstGeom prst="rect">
            <a:avLst/>
          </a:prstGeom>
          <a:solidFill>
            <a:srgbClr val="2D6A4F"/>
          </a:solidFill>
          <a:ln/>
        </p:spPr>
      </p:sp>
      <p:sp>
        <p:nvSpPr>
          <p:cNvPr id="34" name="Shape 31"/>
          <p:cNvSpPr/>
          <p:nvPr/>
        </p:nvSpPr>
        <p:spPr>
          <a:xfrm>
            <a:off x="10668000" y="3429000"/>
            <a:ext cx="355600" cy="355600"/>
          </a:xfrm>
          <a:custGeom>
            <a:avLst/>
            <a:gdLst/>
            <a:ahLst/>
            <a:cxnLst/>
            <a:rect l="l" t="t" r="r" b="b"/>
            <a:pathLst>
              <a:path w="355600" h="355600">
                <a:moveTo>
                  <a:pt x="155506" y="22225"/>
                </a:moveTo>
                <a:lnTo>
                  <a:pt x="102582" y="22225"/>
                </a:lnTo>
                <a:cubicBezTo>
                  <a:pt x="82163" y="22225"/>
                  <a:pt x="64314" y="36185"/>
                  <a:pt x="59452" y="55979"/>
                </a:cubicBezTo>
                <a:lnTo>
                  <a:pt x="972" y="292050"/>
                </a:lnTo>
                <a:cubicBezTo>
                  <a:pt x="-4237" y="313025"/>
                  <a:pt x="11668" y="333375"/>
                  <a:pt x="33337" y="333375"/>
                </a:cubicBezTo>
                <a:lnTo>
                  <a:pt x="155506" y="333375"/>
                </a:lnTo>
                <a:lnTo>
                  <a:pt x="155506" y="288925"/>
                </a:lnTo>
                <a:cubicBezTo>
                  <a:pt x="155506" y="276632"/>
                  <a:pt x="165437" y="266700"/>
                  <a:pt x="177731" y="266700"/>
                </a:cubicBezTo>
                <a:cubicBezTo>
                  <a:pt x="190024" y="266700"/>
                  <a:pt x="199956" y="276632"/>
                  <a:pt x="199956" y="288925"/>
                </a:cubicBezTo>
                <a:lnTo>
                  <a:pt x="199956" y="333375"/>
                </a:lnTo>
                <a:lnTo>
                  <a:pt x="322263" y="333375"/>
                </a:lnTo>
                <a:cubicBezTo>
                  <a:pt x="343932" y="333375"/>
                  <a:pt x="359837" y="313025"/>
                  <a:pt x="354628" y="292050"/>
                </a:cubicBezTo>
                <a:lnTo>
                  <a:pt x="296218" y="55979"/>
                </a:lnTo>
                <a:cubicBezTo>
                  <a:pt x="291286" y="36185"/>
                  <a:pt x="273506" y="22225"/>
                  <a:pt x="253018" y="22225"/>
                </a:cubicBezTo>
                <a:lnTo>
                  <a:pt x="199956" y="22225"/>
                </a:lnTo>
                <a:lnTo>
                  <a:pt x="199956" y="66675"/>
                </a:lnTo>
                <a:cubicBezTo>
                  <a:pt x="199956" y="78968"/>
                  <a:pt x="190024" y="88900"/>
                  <a:pt x="177731" y="88900"/>
                </a:cubicBezTo>
                <a:cubicBezTo>
                  <a:pt x="165437" y="88900"/>
                  <a:pt x="155506" y="78968"/>
                  <a:pt x="155506" y="66675"/>
                </a:cubicBezTo>
                <a:lnTo>
                  <a:pt x="155506" y="22225"/>
                </a:lnTo>
                <a:close/>
                <a:moveTo>
                  <a:pt x="199956" y="155575"/>
                </a:moveTo>
                <a:lnTo>
                  <a:pt x="199956" y="200025"/>
                </a:lnTo>
                <a:cubicBezTo>
                  <a:pt x="199956" y="212318"/>
                  <a:pt x="190024" y="222250"/>
                  <a:pt x="177731" y="222250"/>
                </a:cubicBezTo>
                <a:cubicBezTo>
                  <a:pt x="165437" y="222250"/>
                  <a:pt x="155506" y="212318"/>
                  <a:pt x="155506" y="200025"/>
                </a:cubicBezTo>
                <a:lnTo>
                  <a:pt x="155506" y="155575"/>
                </a:lnTo>
                <a:cubicBezTo>
                  <a:pt x="155506" y="143282"/>
                  <a:pt x="165437" y="133350"/>
                  <a:pt x="177731" y="133350"/>
                </a:cubicBezTo>
                <a:cubicBezTo>
                  <a:pt x="190024" y="133350"/>
                  <a:pt x="199956" y="143282"/>
                  <a:pt x="199956" y="155575"/>
                </a:cubicBezTo>
                <a:close/>
              </a:path>
            </a:pathLst>
          </a:custGeom>
          <a:solidFill>
            <a:srgbClr val="2D6A4F"/>
          </a:solidFill>
          <a:ln/>
        </p:spPr>
      </p:sp>
      <p:sp>
        <p:nvSpPr>
          <p:cNvPr id="35" name="Text 32"/>
          <p:cNvSpPr/>
          <p:nvPr/>
        </p:nvSpPr>
        <p:spPr>
          <a:xfrm>
            <a:off x="11125200" y="3403600"/>
            <a:ext cx="4064000" cy="406400"/>
          </a:xfrm>
          <a:prstGeom prst="rect">
            <a:avLst/>
          </a:prstGeom>
          <a:noFill/>
          <a:ln/>
        </p:spPr>
        <p:txBody>
          <a:bodyPr wrap="none" lIns="0" tIns="0" rIns="0" bIns="0" rtlCol="0" anchor="ctr"/>
          <a:lstStyle/>
          <a:p>
            <a:pPr>
              <a:lnSpc>
                <a:spcPct val="100000"/>
              </a:lnSpc>
            </a:pPr>
            <a:r>
              <a:rPr lang="en-US" sz="1800" b="1" dirty="0">
                <a:solidFill>
                  <a:srgbClr val="1B4332"/>
                </a:solidFill>
                <a:latin typeface="Quattrocento Sans" pitchFamily="34" charset="0"/>
                <a:ea typeface="Quattrocento Sans" pitchFamily="34" charset="-122"/>
                <a:cs typeface="Quattrocento Sans" pitchFamily="34" charset="-120"/>
              </a:rPr>
              <a:t>Próximos pasos</a:t>
            </a:r>
            <a:endParaRPr lang="en-US" sz="1600" dirty="0"/>
          </a:p>
        </p:txBody>
      </p:sp>
      <p:sp>
        <p:nvSpPr>
          <p:cNvPr id="36" name="Text 33"/>
          <p:cNvSpPr/>
          <p:nvPr/>
        </p:nvSpPr>
        <p:spPr>
          <a:xfrm>
            <a:off x="10668000" y="3937000"/>
            <a:ext cx="4572000" cy="2984500"/>
          </a:xfrm>
          <a:prstGeom prst="rect">
            <a:avLst/>
          </a:prstGeom>
          <a:noFill/>
          <a:ln/>
        </p:spPr>
        <p:txBody>
          <a:bodyPr wrap="square" lIns="0" tIns="0" rIns="0" bIns="0" rtlCol="0" anchor="t"/>
          <a:lstStyle/>
          <a:p>
            <a:pPr>
              <a:lnSpc>
                <a:spcPct val="160000"/>
              </a:lnSpc>
            </a:pPr>
            <a:r>
              <a:rPr lang="en-US" sz="1500" dirty="0">
                <a:solidFill>
                  <a:srgbClr val="2D6A4F"/>
                </a:solidFill>
                <a:latin typeface="Quattrocento Sans" pitchFamily="34" charset="0"/>
                <a:ea typeface="Quattrocento Sans" pitchFamily="34" charset="-122"/>
                <a:cs typeface="Quattrocento Sans" pitchFamily="34" charset="-120"/>
              </a:rPr>
              <a:t>1.</a:t>
            </a:r>
            <a:pPr>
              <a:lnSpc>
                <a:spcPct val="160000"/>
              </a:lnSpc>
            </a:pPr>
            <a:r>
              <a:rPr lang="en-US" sz="1500" dirty="0">
                <a:solidFill>
                  <a:srgbClr val="2D3436"/>
                </a:solidFill>
                <a:latin typeface="Quattrocento Sans" pitchFamily="34" charset="0"/>
                <a:ea typeface="Quattrocento Sans" pitchFamily="34" charset="-122"/>
                <a:cs typeface="Quattrocento Sans" pitchFamily="34" charset="-120"/>
              </a:rPr>
              <a:t> Validar contra </a:t>
            </a:r>
            <a:pPr>
              <a:lnSpc>
                <a:spcPct val="160000"/>
              </a:lnSpc>
            </a:pPr>
            <a:r>
              <a:rPr lang="en-US" sz="1500" b="1" dirty="0">
                <a:solidFill>
                  <a:srgbClr val="2D3436"/>
                </a:solidFill>
                <a:latin typeface="Quattrocento Sans" pitchFamily="34" charset="0"/>
                <a:ea typeface="Quattrocento Sans" pitchFamily="34" charset="-122"/>
                <a:cs typeface="Quattrocento Sans" pitchFamily="34" charset="-120"/>
              </a:rPr>
              <a:t>pérdidas reales</a:t>
            </a:r>
            <a:pPr>
              <a:lnSpc>
                <a:spcPct val="160000"/>
              </a:lnSpc>
            </a:pPr>
            <a:r>
              <a:rPr lang="en-US" sz="1500" dirty="0">
                <a:solidFill>
                  <a:srgbClr val="2D3436"/>
                </a:solidFill>
                <a:latin typeface="Quattrocento Sans" pitchFamily="34" charset="0"/>
                <a:ea typeface="Quattrocento Sans" pitchFamily="34" charset="-122"/>
                <a:cs typeface="Quattrocento Sans" pitchFamily="34" charset="-120"/>
              </a:rPr>
              <a:t> observadas</a:t>
            </a:r>
            <a:endParaRPr lang="en-US" sz="1600" dirty="0"/>
          </a:p>
          <a:p>
            <a:pPr>
              <a:lnSpc>
                <a:spcPct val="160000"/>
              </a:lnSpc>
              <a:spcBef>
                <a:spcPts val="800"/>
              </a:spcBef>
            </a:pPr>
            <a:r>
              <a:rPr lang="en-US" sz="1500" dirty="0">
                <a:solidFill>
                  <a:srgbClr val="2D6A4F"/>
                </a:solidFill>
                <a:latin typeface="Quattrocento Sans" pitchFamily="34" charset="0"/>
                <a:ea typeface="Quattrocento Sans" pitchFamily="34" charset="-122"/>
                <a:cs typeface="Quattrocento Sans" pitchFamily="34" charset="-120"/>
              </a:rPr>
              <a:t>2.</a:t>
            </a:r>
            <a:pPr>
              <a:lnSpc>
                <a:spcPct val="160000"/>
              </a:lnSpc>
              <a:spcBef>
                <a:spcPts val="800"/>
              </a:spcBef>
            </a:pPr>
            <a:r>
              <a:rPr lang="en-US" sz="1500" dirty="0">
                <a:solidFill>
                  <a:srgbClr val="2D3436"/>
                </a:solidFill>
                <a:latin typeface="Quattrocento Sans" pitchFamily="34" charset="0"/>
                <a:ea typeface="Quattrocento Sans" pitchFamily="34" charset="-122"/>
                <a:cs typeface="Quattrocento Sans" pitchFamily="34" charset="-120"/>
              </a:rPr>
              <a:t> </a:t>
            </a:r>
            <a:pPr>
              <a:lnSpc>
                <a:spcPct val="160000"/>
              </a:lnSpc>
              <a:spcBef>
                <a:spcPts val="800"/>
              </a:spcBef>
            </a:pPr>
            <a:r>
              <a:rPr lang="en-US" sz="1500" b="1" dirty="0">
                <a:solidFill>
                  <a:srgbClr val="2D3436"/>
                </a:solidFill>
                <a:latin typeface="Quattrocento Sans" pitchFamily="34" charset="0"/>
                <a:ea typeface="Quattrocento Sans" pitchFamily="34" charset="-122"/>
                <a:cs typeface="Quattrocento Sans" pitchFamily="34" charset="-120"/>
              </a:rPr>
              <a:t>Backtesting</a:t>
            </a:r>
            <a:pPr>
              <a:lnSpc>
                <a:spcPct val="160000"/>
              </a:lnSpc>
              <a:spcBef>
                <a:spcPts val="800"/>
              </a:spcBef>
            </a:pPr>
            <a:r>
              <a:rPr lang="en-US" sz="1500" dirty="0">
                <a:solidFill>
                  <a:srgbClr val="2D3436"/>
                </a:solidFill>
                <a:latin typeface="Quattrocento Sans" pitchFamily="34" charset="0"/>
                <a:ea typeface="Quattrocento Sans" pitchFamily="34" charset="-122"/>
                <a:cs typeface="Quattrocento Sans" pitchFamily="34" charset="-120"/>
              </a:rPr>
              <a:t> vs. seguros tradicionales</a:t>
            </a:r>
            <a:endParaRPr lang="en-US" sz="1600" dirty="0"/>
          </a:p>
          <a:p>
            <a:pPr>
              <a:lnSpc>
                <a:spcPct val="160000"/>
              </a:lnSpc>
              <a:spcBef>
                <a:spcPts val="800"/>
              </a:spcBef>
            </a:pPr>
            <a:r>
              <a:rPr lang="en-US" sz="1500" dirty="0">
                <a:solidFill>
                  <a:srgbClr val="2D6A4F"/>
                </a:solidFill>
                <a:latin typeface="Quattrocento Sans" pitchFamily="34" charset="0"/>
                <a:ea typeface="Quattrocento Sans" pitchFamily="34" charset="-122"/>
                <a:cs typeface="Quattrocento Sans" pitchFamily="34" charset="-120"/>
              </a:rPr>
              <a:t>3.</a:t>
            </a:r>
            <a:pPr>
              <a:lnSpc>
                <a:spcPct val="160000"/>
              </a:lnSpc>
              <a:spcBef>
                <a:spcPts val="800"/>
              </a:spcBef>
            </a:pPr>
            <a:r>
              <a:rPr lang="en-US" sz="1500" dirty="0">
                <a:solidFill>
                  <a:srgbClr val="2D3436"/>
                </a:solidFill>
                <a:latin typeface="Quattrocento Sans" pitchFamily="34" charset="0"/>
                <a:ea typeface="Quattrocento Sans" pitchFamily="34" charset="-122"/>
                <a:cs typeface="Quattrocento Sans" pitchFamily="34" charset="-120"/>
              </a:rPr>
              <a:t> Validación </a:t>
            </a:r>
            <a:pPr>
              <a:lnSpc>
                <a:spcPct val="160000"/>
              </a:lnSpc>
              <a:spcBef>
                <a:spcPts val="800"/>
              </a:spcBef>
            </a:pPr>
            <a:r>
              <a:rPr lang="en-US" sz="1500" b="1" dirty="0">
                <a:solidFill>
                  <a:srgbClr val="2D3436"/>
                </a:solidFill>
                <a:latin typeface="Quattrocento Sans" pitchFamily="34" charset="0"/>
                <a:ea typeface="Quattrocento Sans" pitchFamily="34" charset="-122"/>
                <a:cs typeface="Quattrocento Sans" pitchFamily="34" charset="-120"/>
              </a:rPr>
              <a:t>actuarial</a:t>
            </a:r>
            <a:pPr>
              <a:lnSpc>
                <a:spcPct val="160000"/>
              </a:lnSpc>
              <a:spcBef>
                <a:spcPts val="800"/>
              </a:spcBef>
            </a:pPr>
            <a:r>
              <a:rPr lang="en-US" sz="1500" dirty="0">
                <a:solidFill>
                  <a:srgbClr val="2D3436"/>
                </a:solidFill>
                <a:latin typeface="Quattrocento Sans" pitchFamily="34" charset="0"/>
                <a:ea typeface="Quattrocento Sans" pitchFamily="34" charset="-122"/>
                <a:cs typeface="Quattrocento Sans" pitchFamily="34" charset="-120"/>
              </a:rPr>
              <a:t> de prima</a:t>
            </a:r>
            <a:endParaRPr lang="en-US" sz="1600" dirty="0"/>
          </a:p>
          <a:p>
            <a:pPr>
              <a:lnSpc>
                <a:spcPct val="160000"/>
              </a:lnSpc>
              <a:spcBef>
                <a:spcPts val="800"/>
              </a:spcBef>
            </a:pPr>
            <a:r>
              <a:rPr lang="en-US" sz="1500" dirty="0">
                <a:solidFill>
                  <a:srgbClr val="2D6A4F"/>
                </a:solidFill>
                <a:latin typeface="Quattrocento Sans" pitchFamily="34" charset="0"/>
                <a:ea typeface="Quattrocento Sans" pitchFamily="34" charset="-122"/>
                <a:cs typeface="Quattrocento Sans" pitchFamily="34" charset="-120"/>
              </a:rPr>
              <a:t>4.</a:t>
            </a:r>
            <a:pPr>
              <a:lnSpc>
                <a:spcPct val="160000"/>
              </a:lnSpc>
              <a:spcBef>
                <a:spcPts val="800"/>
              </a:spcBef>
            </a:pPr>
            <a:r>
              <a:rPr lang="en-US" sz="1500" dirty="0">
                <a:solidFill>
                  <a:srgbClr val="2D3436"/>
                </a:solidFill>
                <a:latin typeface="Quattrocento Sans" pitchFamily="34" charset="0"/>
                <a:ea typeface="Quattrocento Sans" pitchFamily="34" charset="-122"/>
                <a:cs typeface="Quattrocento Sans" pitchFamily="34" charset="-120"/>
              </a:rPr>
              <a:t> Pruebas con </a:t>
            </a:r>
            <a:pPr>
              <a:lnSpc>
                <a:spcPct val="160000"/>
              </a:lnSpc>
              <a:spcBef>
                <a:spcPts val="800"/>
              </a:spcBef>
            </a:pPr>
            <a:r>
              <a:rPr lang="en-US" sz="1500" b="1" dirty="0">
                <a:solidFill>
                  <a:srgbClr val="2D3436"/>
                </a:solidFill>
                <a:latin typeface="Quattrocento Sans" pitchFamily="34" charset="0"/>
                <a:ea typeface="Quattrocento Sans" pitchFamily="34" charset="-122"/>
                <a:cs typeface="Quattrocento Sans" pitchFamily="34" charset="-120"/>
              </a:rPr>
              <a:t>usuarios externos</a:t>
            </a:r>
            <a:endParaRPr lang="en-US" sz="1600" dirty="0"/>
          </a:p>
          <a:p>
            <a:pPr>
              <a:lnSpc>
                <a:spcPct val="160000"/>
              </a:lnSpc>
              <a:spcBef>
                <a:spcPts val="800"/>
              </a:spcBef>
            </a:pPr>
            <a:r>
              <a:rPr lang="en-US" sz="1500" dirty="0">
                <a:solidFill>
                  <a:srgbClr val="2D6A4F"/>
                </a:solidFill>
                <a:latin typeface="Quattrocento Sans" pitchFamily="34" charset="0"/>
                <a:ea typeface="Quattrocento Sans" pitchFamily="34" charset="-122"/>
                <a:cs typeface="Quattrocento Sans" pitchFamily="34" charset="-120"/>
              </a:rPr>
              <a:t>5.</a:t>
            </a:r>
            <a:pPr>
              <a:lnSpc>
                <a:spcPct val="160000"/>
              </a:lnSpc>
              <a:spcBef>
                <a:spcPts val="800"/>
              </a:spcBef>
            </a:pPr>
            <a:r>
              <a:rPr lang="en-US" sz="1500" dirty="0">
                <a:solidFill>
                  <a:srgbClr val="2D3436"/>
                </a:solidFill>
                <a:latin typeface="Quattrocento Sans" pitchFamily="34" charset="0"/>
                <a:ea typeface="Quattrocento Sans" pitchFamily="34" charset="-122"/>
                <a:cs typeface="Quattrocento Sans" pitchFamily="34" charset="-120"/>
              </a:rPr>
              <a:t> Ampliar a </a:t>
            </a:r>
            <a:pPr>
              <a:lnSpc>
                <a:spcPct val="160000"/>
              </a:lnSpc>
              <a:spcBef>
                <a:spcPts val="800"/>
              </a:spcBef>
            </a:pPr>
            <a:r>
              <a:rPr lang="en-US" sz="1500" b="1" dirty="0">
                <a:solidFill>
                  <a:srgbClr val="2D3436"/>
                </a:solidFill>
                <a:latin typeface="Quattrocento Sans" pitchFamily="34" charset="0"/>
                <a:ea typeface="Quattrocento Sans" pitchFamily="34" charset="-122"/>
                <a:cs typeface="Quattrocento Sans" pitchFamily="34" charset="-120"/>
              </a:rPr>
              <a:t>municipio/zona</a:t>
            </a:r>
            <a:endParaRPr lang="en-US" sz="1600" dirty="0"/>
          </a:p>
          <a:p>
            <a:pPr>
              <a:lnSpc>
                <a:spcPct val="160000"/>
              </a:lnSpc>
              <a:spcBef>
                <a:spcPts val="800"/>
              </a:spcBef>
            </a:pPr>
            <a:r>
              <a:rPr lang="en-US" sz="1500" dirty="0">
                <a:solidFill>
                  <a:srgbClr val="2D6A4F"/>
                </a:solidFill>
                <a:latin typeface="Quattrocento Sans" pitchFamily="34" charset="0"/>
                <a:ea typeface="Quattrocento Sans" pitchFamily="34" charset="-122"/>
                <a:cs typeface="Quattrocento Sans" pitchFamily="34" charset="-120"/>
              </a:rPr>
              <a:t>6.</a:t>
            </a:r>
            <a:pPr>
              <a:lnSpc>
                <a:spcPct val="160000"/>
              </a:lnSpc>
              <a:spcBef>
                <a:spcPts val="800"/>
              </a:spcBef>
            </a:pPr>
            <a:r>
              <a:rPr lang="en-US" sz="1500" dirty="0">
                <a:solidFill>
                  <a:srgbClr val="2D3436"/>
                </a:solidFill>
                <a:latin typeface="Quattrocento Sans" pitchFamily="34" charset="0"/>
                <a:ea typeface="Quattrocento Sans" pitchFamily="34" charset="-122"/>
                <a:cs typeface="Quattrocento Sans" pitchFamily="34" charset="-120"/>
              </a:rPr>
              <a:t> Agregar </a:t>
            </a:r>
            <a:pPr>
              <a:lnSpc>
                <a:spcPct val="160000"/>
              </a:lnSpc>
              <a:spcBef>
                <a:spcPts val="800"/>
              </a:spcBef>
            </a:pPr>
            <a:r>
              <a:rPr lang="en-US" sz="1500" b="1" dirty="0">
                <a:solidFill>
                  <a:srgbClr val="2D3436"/>
                </a:solidFill>
                <a:latin typeface="Quattrocento Sans" pitchFamily="34" charset="0"/>
                <a:ea typeface="Quattrocento Sans" pitchFamily="34" charset="-122"/>
                <a:cs typeface="Quattrocento Sans" pitchFamily="34" charset="-120"/>
              </a:rPr>
              <a:t>exportación PDF/CSV</a:t>
            </a:r>
            <a:endParaRPr lang="en-US" sz="1600" dirty="0"/>
          </a:p>
        </p:txBody>
      </p:sp>
      <p:sp>
        <p:nvSpPr>
          <p:cNvPr id="37" name="Shape 34"/>
          <p:cNvSpPr/>
          <p:nvPr/>
        </p:nvSpPr>
        <p:spPr>
          <a:xfrm>
            <a:off x="762000" y="7366000"/>
            <a:ext cx="14732000" cy="762000"/>
          </a:xfrm>
          <a:prstGeom prst="rect">
            <a:avLst/>
          </a:prstGeom>
          <a:solidFill>
            <a:srgbClr val="1B4332"/>
          </a:solidFill>
          <a:ln/>
        </p:spPr>
      </p:sp>
      <p:sp>
        <p:nvSpPr>
          <p:cNvPr id="38" name="Text 35"/>
          <p:cNvSpPr/>
          <p:nvPr/>
        </p:nvSpPr>
        <p:spPr>
          <a:xfrm>
            <a:off x="1016000" y="7366000"/>
            <a:ext cx="14224000" cy="762000"/>
          </a:xfrm>
          <a:prstGeom prst="rect">
            <a:avLst/>
          </a:prstGeom>
          <a:noFill/>
          <a:ln/>
        </p:spPr>
        <p:txBody>
          <a:bodyPr wrap="square" lIns="0" tIns="0" rIns="0" bIns="0" rtlCol="0" anchor="ctr"/>
          <a:lstStyle/>
          <a:p>
            <a:pPr algn="ctr">
              <a:lnSpc>
                <a:spcPct val="140000"/>
              </a:lnSpc>
            </a:pPr>
            <a:r>
              <a:rPr lang="en-US" sz="1600" b="1" dirty="0">
                <a:solidFill>
                  <a:srgbClr val="FFFFFF"/>
                </a:solidFill>
                <a:latin typeface="Quattrocento Sans" pitchFamily="34" charset="0"/>
                <a:ea typeface="Quattrocento Sans" pitchFamily="34" charset="-122"/>
                <a:cs typeface="Quattrocento Sans" pitchFamily="34" charset="-120"/>
              </a:rPr>
              <a:t>Faro Cafetero</a:t>
            </a:r>
            <a:pPr algn="ctr">
              <a:lnSpc>
                <a:spcPct val="140000"/>
              </a:lnSpc>
            </a:pPr>
            <a:r>
              <a:rPr lang="en-US" sz="1600" dirty="0">
                <a:solidFill>
                  <a:srgbClr val="FFFFFF"/>
                </a:solidFill>
                <a:latin typeface="Quattrocento Sans" pitchFamily="34" charset="0"/>
                <a:ea typeface="Quattrocento Sans" pitchFamily="34" charset="-122"/>
                <a:cs typeface="Quattrocento Sans" pitchFamily="34" charset="-120"/>
              </a:rPr>
              <a:t> es un prototipo funcional, desplegado y documentado — base para una </a:t>
            </a:r>
            <a:pPr algn="ctr">
              <a:lnSpc>
                <a:spcPct val="140000"/>
              </a:lnSpc>
            </a:pPr>
            <a:r>
              <a:rPr lang="en-US" sz="1600" b="1" dirty="0">
                <a:solidFill>
                  <a:srgbClr val="C9A227"/>
                </a:solidFill>
                <a:latin typeface="Quattrocento Sans" pitchFamily="34" charset="0"/>
                <a:ea typeface="Quattrocento Sans" pitchFamily="34" charset="-122"/>
                <a:cs typeface="Quattrocento Sans" pitchFamily="34" charset="-120"/>
              </a:rPr>
              <a:t>validación actuarial futura</a:t>
            </a:r>
            <a:endParaRPr lang="en-US" sz="1600" dirty="0"/>
          </a:p>
        </p:txBody>
      </p:sp>
      <p:sp>
        <p:nvSpPr>
          <p:cNvPr id="39" name="Text 36"/>
          <p:cNvSpPr/>
          <p:nvPr/>
        </p:nvSpPr>
        <p:spPr>
          <a:xfrm>
            <a:off x="15240000" y="8763000"/>
            <a:ext cx="508000" cy="254000"/>
          </a:xfrm>
          <a:prstGeom prst="rect">
            <a:avLst/>
          </a:prstGeom>
          <a:noFill/>
          <a:ln/>
        </p:spPr>
        <p:txBody>
          <a:bodyPr wrap="none" lIns="0" tIns="0" rIns="0" bIns="0" rtlCol="0" anchor="ctr"/>
          <a:lstStyle/>
          <a:p>
            <a:pPr algn="r">
              <a:lnSpc>
                <a:spcPct val="140000"/>
              </a:lnSpc>
            </a:pPr>
            <a:r>
              <a:rPr lang="en-US" sz="1400" dirty="0">
                <a:solidFill>
                  <a:srgbClr val="6B7280"/>
                </a:solidFill>
                <a:latin typeface="QuattrocentoSans" pitchFamily="34" charset="0"/>
                <a:ea typeface="QuattrocentoSans" pitchFamily="34" charset="-122"/>
                <a:cs typeface="QuattrocentoSans" pitchFamily="34" charset="-120"/>
              </a:rPr>
              <a:t>06</a:t>
            </a:r>
            <a:endParaRPr lang="en-US" sz="1400" dirty="0"/>
          </a:p>
        </p:txBody>
      </p:sp>
    </p:spTree>
  </p:cSld>
  <p:clrMapOvr>
    <a:masterClrMapping/>
  </p:clrMapOvr>
  <p:transition>
    <p:fade/>
    <p:spd val="med"/>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Faro Cafetero — Prototipo Analítico</dc:title>
  <dc:subject>Faro Cafetero — Prototipo Analítico</dc:subject>
  <dc:creator>Kimi</dc:creator>
  <cp:lastModifiedBy>Kimi</cp:lastModifiedBy>
  <cp:revision>1</cp:revision>
  <dcterms:created xsi:type="dcterms:W3CDTF">2026-05-18T03:39:45Z</dcterms:created>
  <dcterms:modified xsi:type="dcterms:W3CDTF">2026-05-18T03:39:45Z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{"Label":"Faro Cafetero — Prototipo Analítico","ContentProducer":"001191110108MACG2KBH8F10000","ProduceID":"19e39263-d612-8caa-8000-000013b4120d","ReservedCode1":"","ContentPropagator":"001191110108MACG2KBH8F20000","PropagateID":"19e39263-d612-8caa-8000-000013b4120d","ReservedCode2":""}</vt:lpwstr>
  </property>
</Properties>
</file>